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PDLs per officer</c:v>
                </c:pt>
              </c:strCache>
            </c:strRef>
          </c:tx>
          <c:spPr>
            <a:solidFill>
              <a:srgbClr val="D4A017"/>
            </a:solidFill>
            <a:effectLst/>
          </c:spPr>
          <c:invertIfNegative val="0"/>
          <c:dLbls>
            <c:numFmt formatCode="&quot;1:&quot;0" sourceLinked="0"/>
            <c:spPr>
              <a:noFill/>
              <a:ln>
                <a:noFill/>
              </a:ln>
              <a:effectLst/>
            </c:spPr>
            <c:txPr>
              <a:bodyPr/>
              <a:lstStyle/>
              <a:p>
                <a:pPr>
                  <a:defRPr sz="1300" b="1"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40</c:v>
                </c:pt>
                <c:pt idx="1">
                  <c:v>29</c:v>
                </c:pt>
                <c:pt idx="2">
                  <c:v>26</c:v>
                </c:pt>
                <c:pt idx="3">
                  <c:v>24</c:v>
                </c:pt>
                <c:pt idx="4">
                  <c:v>20</c:v>
                </c:pt>
              </c:numCache>
            </c:numRef>
          </c:val>
          <c:extLst>
            <c:ext xmlns:c16="http://schemas.microsoft.com/office/drawing/2014/chart" uri="{C3380CC4-5D6E-409C-BE32-E72D297353CC}">
              <c16:uniqueId val="{00000000-02FA-4ED5-AAF1-E544A9A02D2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B6675"/>
                </a:solidFill>
                <a:latin typeface="Arial"/>
              </a:defRPr>
            </a:pPr>
            <a:endParaRPr lang="en-US"/>
          </a:p>
        </c:txPr>
        <c:crossAx val="2094734552"/>
        <c:crosses val="autoZero"/>
        <c:auto val="1"/>
        <c:lblAlgn val="ctr"/>
        <c:lblOffset val="100"/>
        <c:noMultiLvlLbl val="1"/>
      </c:catAx>
      <c:valAx>
        <c:axId val="2094734552"/>
        <c:scaling>
          <c:orientation val="minMax"/>
          <c:max val="4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44F6282-7B9A-4CF1-921D-C3CC18A70658}" type="datetimeFigureOut">
              <a:t>9/25/2026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6D0CB46-61F1-4B86-B54D-D8E956ADDE35}" type="slidenum">
              <a:t>‹#›</a:t>
            </a:fld>
            <a:endParaRPr lang="en-US"/>
          </a:p>
        </p:txBody>
      </p:sp>
    </p:spTree>
    <p:extLst>
      <p:ext uri="{BB962C8B-B14F-4D97-AF65-F5344CB8AC3E}">
        <p14:creationId xmlns:p14="http://schemas.microsoft.com/office/powerpoint/2010/main" val="400878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hyperlink" Target="https://www.doj.gov.ph/agencies.html"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017"/>
          </a:solidFill>
          <a:ln w="12700">
            <a:solidFill>
              <a:srgbClr val="D4A017"/>
            </a:solidFill>
            <a:prstDash val="solid"/>
          </a:ln>
        </p:spPr>
      </p:sp>
      <p:sp>
        <p:nvSpPr>
          <p:cNvPr id="3" name="Text 1"/>
          <p:cNvSpPr/>
          <p:nvPr/>
        </p:nvSpPr>
        <p:spPr>
          <a:xfrm>
            <a:off x="731520" y="502920"/>
            <a:ext cx="7132320" cy="7315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University of Cebu Lapu-Lapu and Mandaue</a:t>
            </a:r>
            <a:endParaRPr lang="en-US" sz="1800" dirty="0"/>
          </a:p>
          <a:p>
            <a:pPr marL="0" indent="0">
              <a:buNone/>
            </a:pPr>
            <a:r>
              <a:rPr lang="en-US" sz="1800" b="1" dirty="0">
                <a:solidFill>
                  <a:srgbClr val="FFFFFF"/>
                </a:solidFill>
                <a:latin typeface="Calibri" pitchFamily="34" charset="0"/>
                <a:ea typeface="Calibri" pitchFamily="34" charset="-122"/>
                <a:cs typeface="Calibri" pitchFamily="34" charset="-120"/>
              </a:rPr>
              <a:t>Graduate School</a:t>
            </a:r>
            <a:endParaRPr lang="en-US" sz="1800" dirty="0"/>
          </a:p>
        </p:txBody>
      </p:sp>
      <p:sp>
        <p:nvSpPr>
          <p:cNvPr id="4" name="Text 2"/>
          <p:cNvSpPr/>
          <p:nvPr/>
        </p:nvSpPr>
        <p:spPr>
          <a:xfrm>
            <a:off x="731520" y="1280160"/>
            <a:ext cx="7132320" cy="640080"/>
          </a:xfrm>
          <a:prstGeom prst="rect">
            <a:avLst/>
          </a:prstGeom>
          <a:noFill/>
          <a:ln/>
        </p:spPr>
        <p:txBody>
          <a:bodyPr wrap="square" lIns="0" tIns="0" rIns="0" bIns="0" rtlCol="0" anchor="ctr"/>
          <a:lstStyle/>
          <a:p>
            <a:pPr marL="0" indent="0">
              <a:buNone/>
            </a:pPr>
            <a:r>
              <a:rPr lang="en-US" sz="1500" dirty="0">
                <a:solidFill>
                  <a:srgbClr val="C9D4E5"/>
                </a:solidFill>
                <a:latin typeface="Calibri" pitchFamily="34" charset="0"/>
                <a:ea typeface="Calibri" pitchFamily="34" charset="-122"/>
                <a:cs typeface="Calibri" pitchFamily="34" charset="-120"/>
              </a:rPr>
              <a:t>Master of Science in Criminal Justice</a:t>
            </a:r>
            <a:endParaRPr lang="en-US" sz="1500" dirty="0"/>
          </a:p>
          <a:p>
            <a:pPr marL="0" indent="0">
              <a:buNone/>
            </a:pPr>
            <a:r>
              <a:rPr lang="en-US" sz="1500" dirty="0">
                <a:solidFill>
                  <a:srgbClr val="C9D4E5"/>
                </a:solidFill>
                <a:latin typeface="Calibri" pitchFamily="34" charset="0"/>
                <a:ea typeface="Calibri" pitchFamily="34" charset="-122"/>
                <a:cs typeface="Calibri" pitchFamily="34" charset="-120"/>
              </a:rPr>
              <a:t>with Specialization in Criminology</a:t>
            </a:r>
            <a:endParaRPr lang="en-US" sz="1500" dirty="0"/>
          </a:p>
        </p:txBody>
      </p:sp>
      <p:sp>
        <p:nvSpPr>
          <p:cNvPr id="5" name="Text 3"/>
          <p:cNvSpPr/>
          <p:nvPr/>
        </p:nvSpPr>
        <p:spPr>
          <a:xfrm>
            <a:off x="731520" y="2240280"/>
            <a:ext cx="7132320" cy="320040"/>
          </a:xfrm>
          <a:prstGeom prst="rect">
            <a:avLst/>
          </a:prstGeom>
          <a:noFill/>
          <a:ln/>
        </p:spPr>
        <p:txBody>
          <a:bodyPr wrap="square" lIns="0" tIns="0" rIns="0" bIns="0" rtlCol="0" anchor="ctr"/>
          <a:lstStyle/>
          <a:p>
            <a:pPr marL="0" indent="0">
              <a:buNone/>
            </a:pPr>
            <a:r>
              <a:rPr lang="en-US" sz="1400" i="1" dirty="0">
                <a:solidFill>
                  <a:srgbClr val="C9D4E5"/>
                </a:solidFill>
                <a:latin typeface="Calibri" pitchFamily="34" charset="0"/>
                <a:ea typeface="Calibri" pitchFamily="34" charset="-122"/>
                <a:cs typeface="Calibri" pitchFamily="34" charset="-120"/>
              </a:rPr>
              <a:t>A Topic Report:</a:t>
            </a:r>
            <a:endParaRPr lang="en-US" sz="1400" dirty="0"/>
          </a:p>
        </p:txBody>
      </p:sp>
      <p:sp>
        <p:nvSpPr>
          <p:cNvPr id="6" name="Text 4"/>
          <p:cNvSpPr/>
          <p:nvPr/>
        </p:nvSpPr>
        <p:spPr>
          <a:xfrm>
            <a:off x="731520" y="2560320"/>
            <a:ext cx="7132320" cy="1737360"/>
          </a:xfrm>
          <a:prstGeom prst="rect">
            <a:avLst/>
          </a:prstGeom>
          <a:noFill/>
          <a:ln/>
        </p:spPr>
        <p:txBody>
          <a:bodyPr wrap="square" lIns="0" tIns="0" rIns="0" bIns="0" rtlCol="0" anchor="t"/>
          <a:lstStyle/>
          <a:p>
            <a:pPr marL="0" indent="0">
              <a:buNone/>
            </a:pPr>
            <a:r>
              <a:rPr lang="en-US" sz="3200" b="1" dirty="0">
                <a:solidFill>
                  <a:srgbClr val="FFFFFF"/>
                </a:solidFill>
                <a:latin typeface="Georgia" pitchFamily="34" charset="0"/>
                <a:ea typeface="Georgia" pitchFamily="34" charset="-122"/>
                <a:cs typeface="Georgia" pitchFamily="34" charset="-120"/>
              </a:rPr>
              <a:t>THE PHILIPPINE CORRECTIONAL SYSTEM: INSTITUTION-BASED CORRECTIONS</a:t>
            </a:r>
            <a:endParaRPr lang="en-US" sz="3200" dirty="0"/>
          </a:p>
        </p:txBody>
      </p:sp>
      <p:sp>
        <p:nvSpPr>
          <p:cNvPr id="7" name="Text 5"/>
          <p:cNvSpPr/>
          <p:nvPr/>
        </p:nvSpPr>
        <p:spPr>
          <a:xfrm>
            <a:off x="731520" y="4389120"/>
            <a:ext cx="7132320" cy="365760"/>
          </a:xfrm>
          <a:prstGeom prst="rect">
            <a:avLst/>
          </a:prstGeom>
          <a:noFill/>
          <a:ln/>
        </p:spPr>
        <p:txBody>
          <a:bodyPr wrap="square" lIns="0" tIns="0" rIns="0" bIns="0" rtlCol="0" anchor="ctr"/>
          <a:lstStyle/>
          <a:p>
            <a:pPr marL="0" indent="0">
              <a:buNone/>
            </a:pPr>
            <a:r>
              <a:rPr lang="en-US" sz="1800" b="1" dirty="0">
                <a:solidFill>
                  <a:srgbClr val="D4A017"/>
                </a:solidFill>
                <a:latin typeface="Calibri" pitchFamily="34" charset="0"/>
                <a:ea typeface="Calibri" pitchFamily="34" charset="-122"/>
                <a:cs typeface="Calibri" pitchFamily="34" charset="-120"/>
              </a:rPr>
              <a:t>MSCJ 109 - Modern Penology</a:t>
            </a:r>
            <a:endParaRPr lang="en-US" sz="1800" dirty="0"/>
          </a:p>
        </p:txBody>
      </p:sp>
      <p:sp>
        <p:nvSpPr>
          <p:cNvPr id="8" name="Shape 6"/>
          <p:cNvSpPr/>
          <p:nvPr/>
        </p:nvSpPr>
        <p:spPr>
          <a:xfrm>
            <a:off x="731520" y="5074920"/>
            <a:ext cx="6766560" cy="0"/>
          </a:xfrm>
          <a:prstGeom prst="line">
            <a:avLst/>
          </a:prstGeom>
          <a:noFill/>
          <a:ln w="12700">
            <a:solidFill>
              <a:srgbClr val="3A5378"/>
            </a:solidFill>
            <a:prstDash val="solid"/>
          </a:ln>
        </p:spPr>
      </p:sp>
      <p:sp>
        <p:nvSpPr>
          <p:cNvPr id="9" name="Text 7"/>
          <p:cNvSpPr/>
          <p:nvPr/>
        </p:nvSpPr>
        <p:spPr>
          <a:xfrm>
            <a:off x="731520" y="5303520"/>
            <a:ext cx="3291840" cy="731520"/>
          </a:xfrm>
          <a:prstGeom prst="rect">
            <a:avLst/>
          </a:prstGeom>
          <a:noFill/>
          <a:ln/>
        </p:spPr>
        <p:txBody>
          <a:bodyPr wrap="square" lIns="0" tIns="0" rIns="0" bIns="0" rtlCol="0" anchor="ctr"/>
          <a:lstStyle/>
          <a:p>
            <a:pPr marL="0" indent="0">
              <a:buNone/>
            </a:pPr>
            <a:r>
              <a:rPr lang="en-US" sz="1200" b="1" dirty="0">
                <a:solidFill>
                  <a:srgbClr val="D4A017"/>
                </a:solidFill>
                <a:latin typeface="Calibri" pitchFamily="34" charset="0"/>
                <a:ea typeface="Calibri" pitchFamily="34" charset="-122"/>
                <a:cs typeface="Calibri" pitchFamily="34" charset="-120"/>
              </a:rPr>
              <a:t>Presented to:</a:t>
            </a:r>
            <a:endParaRPr lang="en-US" sz="1200" dirty="0"/>
          </a:p>
          <a:p>
            <a:pPr marL="0" indent="0">
              <a:buNone/>
            </a:pPr>
            <a:r>
              <a:rPr lang="en-US" sz="1700" b="1" dirty="0">
                <a:solidFill>
                  <a:srgbClr val="FFFFFF"/>
                </a:solidFill>
                <a:latin typeface="Calibri" pitchFamily="34" charset="0"/>
                <a:ea typeface="Calibri" pitchFamily="34" charset="-122"/>
                <a:cs typeface="Calibri" pitchFamily="34" charset="-120"/>
              </a:rPr>
              <a:t>Paul Pioquinto</a:t>
            </a:r>
            <a:endParaRPr lang="en-US" sz="1200" dirty="0"/>
          </a:p>
        </p:txBody>
      </p:sp>
      <p:sp>
        <p:nvSpPr>
          <p:cNvPr id="10" name="Text 8"/>
          <p:cNvSpPr/>
          <p:nvPr/>
        </p:nvSpPr>
        <p:spPr>
          <a:xfrm>
            <a:off x="4206240" y="5303520"/>
            <a:ext cx="3474720" cy="731520"/>
          </a:xfrm>
          <a:prstGeom prst="rect">
            <a:avLst/>
          </a:prstGeom>
          <a:noFill/>
          <a:ln/>
        </p:spPr>
        <p:txBody>
          <a:bodyPr wrap="square" lIns="0" tIns="0" rIns="0" bIns="0" rtlCol="0" anchor="ctr"/>
          <a:lstStyle/>
          <a:p>
            <a:pPr marL="0" indent="0">
              <a:buNone/>
            </a:pPr>
            <a:r>
              <a:rPr lang="en-US" sz="1200" b="1" dirty="0">
                <a:solidFill>
                  <a:srgbClr val="D4A017"/>
                </a:solidFill>
                <a:latin typeface="Calibri" pitchFamily="34" charset="0"/>
                <a:ea typeface="Calibri" pitchFamily="34" charset="-122"/>
                <a:cs typeface="Calibri" pitchFamily="34" charset="-120"/>
              </a:rPr>
              <a:t>Presented by:</a:t>
            </a:r>
            <a:endParaRPr lang="en-US" sz="1200" dirty="0"/>
          </a:p>
          <a:p>
            <a:pPr marL="0" indent="0">
              <a:buNone/>
            </a:pPr>
            <a:r>
              <a:rPr lang="en-US" sz="1700" b="1" dirty="0">
                <a:solidFill>
                  <a:srgbClr val="FFFFFF"/>
                </a:solidFill>
                <a:latin typeface="Calibri" pitchFamily="34" charset="0"/>
                <a:ea typeface="Calibri" pitchFamily="34" charset="-122"/>
                <a:cs typeface="Calibri" pitchFamily="34" charset="-120"/>
              </a:rPr>
              <a:t>Sacurom, Lovely Mae E.</a:t>
            </a:r>
            <a:endParaRPr lang="en-US" sz="1200" dirty="0"/>
          </a:p>
        </p:txBody>
      </p:sp>
      <p:sp>
        <p:nvSpPr>
          <p:cNvPr id="11" name="Shape 9"/>
          <p:cNvSpPr/>
          <p:nvPr/>
        </p:nvSpPr>
        <p:spPr>
          <a:xfrm>
            <a:off x="8183880" y="1417320"/>
            <a:ext cx="3749040" cy="3749040"/>
          </a:xfrm>
          <a:prstGeom prst="ellipse">
            <a:avLst/>
          </a:prstGeom>
          <a:solidFill>
            <a:srgbClr val="FFFFFF"/>
          </a:solidFill>
          <a:ln w="50800">
            <a:solidFill>
              <a:srgbClr val="D4A017"/>
            </a:solidFill>
            <a:prstDash val="solid"/>
          </a:ln>
        </p:spPr>
      </p:sp>
      <p:pic>
        <p:nvPicPr>
          <p:cNvPr id="12" name="Image 0" descr="assets/logo.png"/>
          <p:cNvPicPr>
            <a:picLocks noChangeAspect="1"/>
          </p:cNvPicPr>
          <p:nvPr/>
        </p:nvPicPr>
        <p:blipFill>
          <a:blip r:embed="rId3"/>
          <a:stretch>
            <a:fillRect/>
          </a:stretch>
        </p:blipFill>
        <p:spPr>
          <a:xfrm>
            <a:off x="8366760" y="1600200"/>
            <a:ext cx="3383280" cy="3383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B1F3A"/>
          </a:solidFill>
          <a:ln w="12700">
            <a:solidFill>
              <a:srgbClr val="0B1F3A"/>
            </a:solidFill>
            <a:prstDash val="solid"/>
          </a:ln>
        </p:spPr>
      </p:sp>
      <p:sp>
        <p:nvSpPr>
          <p:cNvPr id="3" name="Text 1"/>
          <p:cNvSpPr/>
          <p:nvPr/>
        </p:nvSpPr>
        <p:spPr>
          <a:xfrm>
            <a:off x="548640" y="548640"/>
            <a:ext cx="3200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4" name="Text 2"/>
          <p:cNvSpPr/>
          <p:nvPr/>
        </p:nvSpPr>
        <p:spPr>
          <a:xfrm>
            <a:off x="548640" y="2377440"/>
            <a:ext cx="3200400" cy="1828800"/>
          </a:xfrm>
          <a:prstGeom prst="rect">
            <a:avLst/>
          </a:prstGeom>
          <a:noFill/>
          <a:ln/>
        </p:spPr>
        <p:txBody>
          <a:bodyPr wrap="square" lIns="0" tIns="0" rIns="0" bIns="0" rtlCol="0" anchor="t"/>
          <a:lstStyle/>
          <a:p>
            <a:pPr marL="0" indent="0">
              <a:buNone/>
            </a:pPr>
            <a:r>
              <a:rPr lang="en-US" sz="4400" b="1" dirty="0">
                <a:solidFill>
                  <a:srgbClr val="FFFFFF"/>
                </a:solidFill>
                <a:latin typeface="Georgia" pitchFamily="34" charset="0"/>
                <a:ea typeface="Georgia" pitchFamily="34" charset="-122"/>
                <a:cs typeface="Georgia" pitchFamily="34" charset="-120"/>
              </a:rPr>
              <a:t>Today’s Agenda</a:t>
            </a:r>
            <a:endParaRPr lang="en-US" sz="4400" dirty="0"/>
          </a:p>
        </p:txBody>
      </p:sp>
      <p:sp>
        <p:nvSpPr>
          <p:cNvPr id="5" name="Shape 3"/>
          <p:cNvSpPr/>
          <p:nvPr/>
        </p:nvSpPr>
        <p:spPr>
          <a:xfrm>
            <a:off x="4572000" y="731520"/>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6" name="Shape 4"/>
          <p:cNvSpPr/>
          <p:nvPr/>
        </p:nvSpPr>
        <p:spPr>
          <a:xfrm>
            <a:off x="4572000" y="731520"/>
            <a:ext cx="73152" cy="868680"/>
          </a:xfrm>
          <a:prstGeom prst="rect">
            <a:avLst/>
          </a:prstGeom>
          <a:solidFill>
            <a:srgbClr val="D4A017"/>
          </a:solidFill>
          <a:ln w="12700">
            <a:solidFill>
              <a:srgbClr val="D4A017"/>
            </a:solidFill>
            <a:prstDash val="solid"/>
          </a:ln>
        </p:spPr>
      </p:sp>
      <p:sp>
        <p:nvSpPr>
          <p:cNvPr id="7" name="Text 5"/>
          <p:cNvSpPr/>
          <p:nvPr/>
        </p:nvSpPr>
        <p:spPr>
          <a:xfrm>
            <a:off x="4800600" y="731520"/>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01</a:t>
            </a:r>
            <a:endParaRPr lang="en-US" sz="2400" dirty="0"/>
          </a:p>
        </p:txBody>
      </p:sp>
      <p:sp>
        <p:nvSpPr>
          <p:cNvPr id="8" name="Text 6"/>
          <p:cNvSpPr/>
          <p:nvPr/>
        </p:nvSpPr>
        <p:spPr>
          <a:xfrm>
            <a:off x="5486400" y="731520"/>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Learning Objectives</a:t>
            </a:r>
            <a:endParaRPr lang="en-US" sz="1700" dirty="0"/>
          </a:p>
        </p:txBody>
      </p:sp>
      <p:sp>
        <p:nvSpPr>
          <p:cNvPr id="9" name="Shape 7"/>
          <p:cNvSpPr/>
          <p:nvPr/>
        </p:nvSpPr>
        <p:spPr>
          <a:xfrm>
            <a:off x="4572000" y="1801368"/>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0" name="Shape 8"/>
          <p:cNvSpPr/>
          <p:nvPr/>
        </p:nvSpPr>
        <p:spPr>
          <a:xfrm>
            <a:off x="4572000" y="1801368"/>
            <a:ext cx="73152" cy="868680"/>
          </a:xfrm>
          <a:prstGeom prst="rect">
            <a:avLst/>
          </a:prstGeom>
          <a:solidFill>
            <a:srgbClr val="D4A017"/>
          </a:solidFill>
          <a:ln w="12700">
            <a:solidFill>
              <a:srgbClr val="D4A017"/>
            </a:solidFill>
            <a:prstDash val="solid"/>
          </a:ln>
        </p:spPr>
      </p:sp>
      <p:sp>
        <p:nvSpPr>
          <p:cNvPr id="11" name="Text 9"/>
          <p:cNvSpPr/>
          <p:nvPr/>
        </p:nvSpPr>
        <p:spPr>
          <a:xfrm>
            <a:off x="4800600" y="1801368"/>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02</a:t>
            </a:r>
            <a:endParaRPr lang="en-US" sz="2400" dirty="0"/>
          </a:p>
        </p:txBody>
      </p:sp>
      <p:sp>
        <p:nvSpPr>
          <p:cNvPr id="12" name="Text 10"/>
          <p:cNvSpPr/>
          <p:nvPr/>
        </p:nvSpPr>
        <p:spPr>
          <a:xfrm>
            <a:off x="5486400" y="1801368"/>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Introduction</a:t>
            </a:r>
            <a:endParaRPr lang="en-US" sz="1700" dirty="0"/>
          </a:p>
        </p:txBody>
      </p:sp>
      <p:sp>
        <p:nvSpPr>
          <p:cNvPr id="13" name="Shape 11"/>
          <p:cNvSpPr/>
          <p:nvPr/>
        </p:nvSpPr>
        <p:spPr>
          <a:xfrm>
            <a:off x="4572000" y="2871216"/>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4" name="Shape 12"/>
          <p:cNvSpPr/>
          <p:nvPr/>
        </p:nvSpPr>
        <p:spPr>
          <a:xfrm>
            <a:off x="4572000" y="2871216"/>
            <a:ext cx="73152" cy="868680"/>
          </a:xfrm>
          <a:prstGeom prst="rect">
            <a:avLst/>
          </a:prstGeom>
          <a:solidFill>
            <a:srgbClr val="D4A017"/>
          </a:solidFill>
          <a:ln w="12700">
            <a:solidFill>
              <a:srgbClr val="D4A017"/>
            </a:solidFill>
            <a:prstDash val="solid"/>
          </a:ln>
        </p:spPr>
      </p:sp>
      <p:sp>
        <p:nvSpPr>
          <p:cNvPr id="15" name="Text 13"/>
          <p:cNvSpPr/>
          <p:nvPr/>
        </p:nvSpPr>
        <p:spPr>
          <a:xfrm>
            <a:off x="4800600" y="2871216"/>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03</a:t>
            </a:r>
            <a:endParaRPr lang="en-US" sz="2400" dirty="0"/>
          </a:p>
        </p:txBody>
      </p:sp>
      <p:sp>
        <p:nvSpPr>
          <p:cNvPr id="16" name="Text 14"/>
          <p:cNvSpPr/>
          <p:nvPr/>
        </p:nvSpPr>
        <p:spPr>
          <a:xfrm>
            <a:off x="5486400" y="2871216"/>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Reflection Presentation</a:t>
            </a:r>
            <a:endParaRPr lang="en-US" sz="1700" dirty="0"/>
          </a:p>
        </p:txBody>
      </p:sp>
      <p:sp>
        <p:nvSpPr>
          <p:cNvPr id="17" name="Shape 15"/>
          <p:cNvSpPr/>
          <p:nvPr/>
        </p:nvSpPr>
        <p:spPr>
          <a:xfrm>
            <a:off x="4572000" y="3941064"/>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8" name="Shape 16"/>
          <p:cNvSpPr/>
          <p:nvPr/>
        </p:nvSpPr>
        <p:spPr>
          <a:xfrm>
            <a:off x="4572000" y="3941064"/>
            <a:ext cx="73152" cy="868680"/>
          </a:xfrm>
          <a:prstGeom prst="rect">
            <a:avLst/>
          </a:prstGeom>
          <a:solidFill>
            <a:srgbClr val="D4A017"/>
          </a:solidFill>
          <a:ln w="12700">
            <a:solidFill>
              <a:srgbClr val="D4A017"/>
            </a:solidFill>
            <a:prstDash val="solid"/>
          </a:ln>
        </p:spPr>
      </p:sp>
      <p:sp>
        <p:nvSpPr>
          <p:cNvPr id="19" name="Text 17"/>
          <p:cNvSpPr/>
          <p:nvPr/>
        </p:nvSpPr>
        <p:spPr>
          <a:xfrm>
            <a:off x="4800600" y="3941064"/>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04</a:t>
            </a:r>
            <a:endParaRPr lang="en-US" sz="2400" dirty="0"/>
          </a:p>
        </p:txBody>
      </p:sp>
      <p:sp>
        <p:nvSpPr>
          <p:cNvPr id="20" name="Text 18"/>
          <p:cNvSpPr/>
          <p:nvPr/>
        </p:nvSpPr>
        <p:spPr>
          <a:xfrm>
            <a:off x="5486400" y="3941064"/>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Strength</a:t>
            </a:r>
            <a:endParaRPr lang="en-US" sz="1700" dirty="0"/>
          </a:p>
        </p:txBody>
      </p:sp>
      <p:sp>
        <p:nvSpPr>
          <p:cNvPr id="21" name="Shape 19"/>
          <p:cNvSpPr/>
          <p:nvPr/>
        </p:nvSpPr>
        <p:spPr>
          <a:xfrm>
            <a:off x="4572000" y="5010912"/>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22" name="Shape 20"/>
          <p:cNvSpPr/>
          <p:nvPr/>
        </p:nvSpPr>
        <p:spPr>
          <a:xfrm>
            <a:off x="4572000" y="5010912"/>
            <a:ext cx="73152" cy="868680"/>
          </a:xfrm>
          <a:prstGeom prst="rect">
            <a:avLst/>
          </a:prstGeom>
          <a:solidFill>
            <a:srgbClr val="D4A017"/>
          </a:solidFill>
          <a:ln w="12700">
            <a:solidFill>
              <a:srgbClr val="D4A017"/>
            </a:solidFill>
            <a:prstDash val="solid"/>
          </a:ln>
        </p:spPr>
      </p:sp>
      <p:sp>
        <p:nvSpPr>
          <p:cNvPr id="23" name="Text 21"/>
          <p:cNvSpPr/>
          <p:nvPr/>
        </p:nvSpPr>
        <p:spPr>
          <a:xfrm>
            <a:off x="4800600" y="5010912"/>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05</a:t>
            </a:r>
            <a:endParaRPr lang="en-US" sz="2400" dirty="0"/>
          </a:p>
        </p:txBody>
      </p:sp>
      <p:sp>
        <p:nvSpPr>
          <p:cNvPr id="24" name="Text 22"/>
          <p:cNvSpPr/>
          <p:nvPr/>
        </p:nvSpPr>
        <p:spPr>
          <a:xfrm>
            <a:off x="5486400" y="5010912"/>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Weaknesses</a:t>
            </a:r>
            <a:endParaRPr lang="en-US" sz="1700" dirty="0"/>
          </a:p>
        </p:txBody>
      </p:sp>
      <p:sp>
        <p:nvSpPr>
          <p:cNvPr id="25" name="Shape 23"/>
          <p:cNvSpPr/>
          <p:nvPr/>
        </p:nvSpPr>
        <p:spPr>
          <a:xfrm>
            <a:off x="8321040" y="731520"/>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26" name="Shape 24"/>
          <p:cNvSpPr/>
          <p:nvPr/>
        </p:nvSpPr>
        <p:spPr>
          <a:xfrm>
            <a:off x="8321040" y="731520"/>
            <a:ext cx="73152" cy="868680"/>
          </a:xfrm>
          <a:prstGeom prst="rect">
            <a:avLst/>
          </a:prstGeom>
          <a:solidFill>
            <a:srgbClr val="D4A017"/>
          </a:solidFill>
          <a:ln w="12700">
            <a:solidFill>
              <a:srgbClr val="D4A017"/>
            </a:solidFill>
            <a:prstDash val="solid"/>
          </a:ln>
        </p:spPr>
      </p:sp>
      <p:sp>
        <p:nvSpPr>
          <p:cNvPr id="27" name="Text 25"/>
          <p:cNvSpPr/>
          <p:nvPr/>
        </p:nvSpPr>
        <p:spPr>
          <a:xfrm>
            <a:off x="8549640" y="731520"/>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06</a:t>
            </a:r>
            <a:endParaRPr lang="en-US" sz="2400" dirty="0"/>
          </a:p>
        </p:txBody>
      </p:sp>
      <p:sp>
        <p:nvSpPr>
          <p:cNvPr id="28" name="Text 26"/>
          <p:cNvSpPr/>
          <p:nvPr/>
        </p:nvSpPr>
        <p:spPr>
          <a:xfrm>
            <a:off x="9235440" y="731520"/>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Opportunities</a:t>
            </a:r>
            <a:endParaRPr lang="en-US" sz="1700" dirty="0"/>
          </a:p>
        </p:txBody>
      </p:sp>
      <p:sp>
        <p:nvSpPr>
          <p:cNvPr id="29" name="Shape 27"/>
          <p:cNvSpPr/>
          <p:nvPr/>
        </p:nvSpPr>
        <p:spPr>
          <a:xfrm>
            <a:off x="8321040" y="1801368"/>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30" name="Shape 28"/>
          <p:cNvSpPr/>
          <p:nvPr/>
        </p:nvSpPr>
        <p:spPr>
          <a:xfrm>
            <a:off x="8321040" y="1801368"/>
            <a:ext cx="73152" cy="868680"/>
          </a:xfrm>
          <a:prstGeom prst="rect">
            <a:avLst/>
          </a:prstGeom>
          <a:solidFill>
            <a:srgbClr val="D4A017"/>
          </a:solidFill>
          <a:ln w="12700">
            <a:solidFill>
              <a:srgbClr val="D4A017"/>
            </a:solidFill>
            <a:prstDash val="solid"/>
          </a:ln>
        </p:spPr>
      </p:sp>
      <p:sp>
        <p:nvSpPr>
          <p:cNvPr id="31" name="Text 29"/>
          <p:cNvSpPr/>
          <p:nvPr/>
        </p:nvSpPr>
        <p:spPr>
          <a:xfrm>
            <a:off x="8549640" y="1801368"/>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07</a:t>
            </a:r>
            <a:endParaRPr lang="en-US" sz="2400" dirty="0"/>
          </a:p>
        </p:txBody>
      </p:sp>
      <p:sp>
        <p:nvSpPr>
          <p:cNvPr id="32" name="Text 30"/>
          <p:cNvSpPr/>
          <p:nvPr/>
        </p:nvSpPr>
        <p:spPr>
          <a:xfrm>
            <a:off x="9235440" y="1801368"/>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Threats</a:t>
            </a:r>
            <a:endParaRPr lang="en-US" sz="1700" dirty="0"/>
          </a:p>
        </p:txBody>
      </p:sp>
      <p:sp>
        <p:nvSpPr>
          <p:cNvPr id="33" name="Shape 31"/>
          <p:cNvSpPr/>
          <p:nvPr/>
        </p:nvSpPr>
        <p:spPr>
          <a:xfrm>
            <a:off x="8321040" y="2871216"/>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34" name="Shape 32"/>
          <p:cNvSpPr/>
          <p:nvPr/>
        </p:nvSpPr>
        <p:spPr>
          <a:xfrm>
            <a:off x="8321040" y="2871216"/>
            <a:ext cx="73152" cy="868680"/>
          </a:xfrm>
          <a:prstGeom prst="rect">
            <a:avLst/>
          </a:prstGeom>
          <a:solidFill>
            <a:srgbClr val="D4A017"/>
          </a:solidFill>
          <a:ln w="12700">
            <a:solidFill>
              <a:srgbClr val="D4A017"/>
            </a:solidFill>
            <a:prstDash val="solid"/>
          </a:ln>
        </p:spPr>
      </p:sp>
      <p:sp>
        <p:nvSpPr>
          <p:cNvPr id="35" name="Text 33"/>
          <p:cNvSpPr/>
          <p:nvPr/>
        </p:nvSpPr>
        <p:spPr>
          <a:xfrm>
            <a:off x="8549640" y="2871216"/>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08</a:t>
            </a:r>
            <a:endParaRPr lang="en-US" sz="2400" dirty="0"/>
          </a:p>
        </p:txBody>
      </p:sp>
      <p:sp>
        <p:nvSpPr>
          <p:cNvPr id="36" name="Text 34"/>
          <p:cNvSpPr/>
          <p:nvPr/>
        </p:nvSpPr>
        <p:spPr>
          <a:xfrm>
            <a:off x="9235440" y="2871216"/>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Conclusion</a:t>
            </a:r>
            <a:endParaRPr lang="en-US" sz="1700" dirty="0"/>
          </a:p>
        </p:txBody>
      </p:sp>
      <p:sp>
        <p:nvSpPr>
          <p:cNvPr id="37" name="Shape 35"/>
          <p:cNvSpPr/>
          <p:nvPr/>
        </p:nvSpPr>
        <p:spPr>
          <a:xfrm>
            <a:off x="8321040" y="3941064"/>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38" name="Shape 36"/>
          <p:cNvSpPr/>
          <p:nvPr/>
        </p:nvSpPr>
        <p:spPr>
          <a:xfrm>
            <a:off x="8321040" y="3941064"/>
            <a:ext cx="73152" cy="868680"/>
          </a:xfrm>
          <a:prstGeom prst="rect">
            <a:avLst/>
          </a:prstGeom>
          <a:solidFill>
            <a:srgbClr val="D4A017"/>
          </a:solidFill>
          <a:ln w="12700">
            <a:solidFill>
              <a:srgbClr val="D4A017"/>
            </a:solidFill>
            <a:prstDash val="solid"/>
          </a:ln>
        </p:spPr>
      </p:sp>
      <p:sp>
        <p:nvSpPr>
          <p:cNvPr id="39" name="Text 37"/>
          <p:cNvSpPr/>
          <p:nvPr/>
        </p:nvSpPr>
        <p:spPr>
          <a:xfrm>
            <a:off x="8549640" y="3941064"/>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09</a:t>
            </a:r>
            <a:endParaRPr lang="en-US" sz="2400" dirty="0"/>
          </a:p>
        </p:txBody>
      </p:sp>
      <p:sp>
        <p:nvSpPr>
          <p:cNvPr id="40" name="Text 38"/>
          <p:cNvSpPr/>
          <p:nvPr/>
        </p:nvSpPr>
        <p:spPr>
          <a:xfrm>
            <a:off x="9235440" y="3941064"/>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Recommendations</a:t>
            </a:r>
            <a:endParaRPr lang="en-US" sz="1700" dirty="0"/>
          </a:p>
        </p:txBody>
      </p:sp>
      <p:sp>
        <p:nvSpPr>
          <p:cNvPr id="41" name="Shape 39"/>
          <p:cNvSpPr/>
          <p:nvPr/>
        </p:nvSpPr>
        <p:spPr>
          <a:xfrm>
            <a:off x="8321040" y="5010912"/>
            <a:ext cx="3474720" cy="868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42" name="Shape 40"/>
          <p:cNvSpPr/>
          <p:nvPr/>
        </p:nvSpPr>
        <p:spPr>
          <a:xfrm>
            <a:off x="8321040" y="5010912"/>
            <a:ext cx="73152" cy="868680"/>
          </a:xfrm>
          <a:prstGeom prst="rect">
            <a:avLst/>
          </a:prstGeom>
          <a:solidFill>
            <a:srgbClr val="D4A017"/>
          </a:solidFill>
          <a:ln w="12700">
            <a:solidFill>
              <a:srgbClr val="D4A017"/>
            </a:solidFill>
            <a:prstDash val="solid"/>
          </a:ln>
        </p:spPr>
      </p:sp>
      <p:sp>
        <p:nvSpPr>
          <p:cNvPr id="43" name="Text 41"/>
          <p:cNvSpPr/>
          <p:nvPr/>
        </p:nvSpPr>
        <p:spPr>
          <a:xfrm>
            <a:off x="8549640" y="5010912"/>
            <a:ext cx="685800" cy="868680"/>
          </a:xfrm>
          <a:prstGeom prst="rect">
            <a:avLst/>
          </a:prstGeom>
          <a:noFill/>
          <a:ln/>
        </p:spPr>
        <p:txBody>
          <a:bodyPr wrap="square" lIns="0" tIns="0" rIns="0" bIns="0" rtlCol="0" anchor="ctr"/>
          <a:lstStyle/>
          <a:p>
            <a:pPr marL="0" indent="0">
              <a:buNone/>
            </a:pPr>
            <a:r>
              <a:rPr lang="en-US" sz="2400" b="1" dirty="0">
                <a:solidFill>
                  <a:srgbClr val="D4A017"/>
                </a:solidFill>
                <a:latin typeface="Georgia" pitchFamily="34" charset="0"/>
                <a:ea typeface="Georgia" pitchFamily="34" charset="-122"/>
                <a:cs typeface="Georgia" pitchFamily="34" charset="-120"/>
              </a:rPr>
              <a:t>10</a:t>
            </a:r>
            <a:endParaRPr lang="en-US" sz="2400" dirty="0"/>
          </a:p>
        </p:txBody>
      </p:sp>
      <p:sp>
        <p:nvSpPr>
          <p:cNvPr id="44" name="Text 42"/>
          <p:cNvSpPr/>
          <p:nvPr/>
        </p:nvSpPr>
        <p:spPr>
          <a:xfrm>
            <a:off x="9235440" y="5010912"/>
            <a:ext cx="2468880" cy="8686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References</a:t>
            </a:r>
            <a:endParaRPr lang="en-US" sz="1700" dirty="0"/>
          </a:p>
        </p:txBody>
      </p:sp>
      <p:sp>
        <p:nvSpPr>
          <p:cNvPr id="45" name="Text 43"/>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46" name="Text 44"/>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Learning Objectives</a:t>
            </a:r>
            <a:endParaRPr lang="en-US" sz="3600" dirty="0"/>
          </a:p>
        </p:txBody>
      </p:sp>
      <p:sp>
        <p:nvSpPr>
          <p:cNvPr id="4" name="Shape 2"/>
          <p:cNvSpPr/>
          <p:nvPr/>
        </p:nvSpPr>
        <p:spPr>
          <a:xfrm>
            <a:off x="548640" y="1828800"/>
            <a:ext cx="3474720" cy="4297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5" name="Shape 3"/>
          <p:cNvSpPr/>
          <p:nvPr/>
        </p:nvSpPr>
        <p:spPr>
          <a:xfrm>
            <a:off x="548640" y="1828800"/>
            <a:ext cx="3474720" cy="73152"/>
          </a:xfrm>
          <a:prstGeom prst="rect">
            <a:avLst/>
          </a:prstGeom>
          <a:solidFill>
            <a:srgbClr val="D4A017"/>
          </a:solidFill>
          <a:ln w="12700">
            <a:solidFill>
              <a:srgbClr val="D4A017"/>
            </a:solidFill>
            <a:prstDash val="solid"/>
          </a:ln>
        </p:spPr>
      </p:sp>
      <p:sp>
        <p:nvSpPr>
          <p:cNvPr id="6" name="Shape 4"/>
          <p:cNvSpPr/>
          <p:nvPr/>
        </p:nvSpPr>
        <p:spPr>
          <a:xfrm>
            <a:off x="822960" y="2148840"/>
            <a:ext cx="685800" cy="685800"/>
          </a:xfrm>
          <a:prstGeom prst="ellipse">
            <a:avLst/>
          </a:prstGeom>
          <a:solidFill>
            <a:srgbClr val="D4A017"/>
          </a:solidFill>
          <a:ln w="12700">
            <a:solidFill>
              <a:srgbClr val="D4A017"/>
            </a:solidFill>
            <a:prstDash val="solid"/>
          </a:ln>
        </p:spPr>
      </p:sp>
      <p:pic>
        <p:nvPicPr>
          <p:cNvPr id="7" name="Image 0" descr="preencoded.png"/>
          <p:cNvPicPr>
            <a:picLocks noChangeAspect="1"/>
          </p:cNvPicPr>
          <p:nvPr/>
        </p:nvPicPr>
        <p:blipFill>
          <a:blip r:embed="rId3"/>
          <a:stretch>
            <a:fillRect/>
          </a:stretch>
        </p:blipFill>
        <p:spPr>
          <a:xfrm>
            <a:off x="994410" y="2320290"/>
            <a:ext cx="342900" cy="342900"/>
          </a:xfrm>
          <a:prstGeom prst="rect">
            <a:avLst/>
          </a:prstGeom>
        </p:spPr>
      </p:pic>
      <p:sp>
        <p:nvSpPr>
          <p:cNvPr id="8" name="Text 5"/>
          <p:cNvSpPr/>
          <p:nvPr/>
        </p:nvSpPr>
        <p:spPr>
          <a:xfrm>
            <a:off x="1645920" y="2148840"/>
            <a:ext cx="2286000" cy="685800"/>
          </a:xfrm>
          <a:prstGeom prst="rect">
            <a:avLst/>
          </a:prstGeom>
          <a:noFill/>
          <a:ln/>
        </p:spPr>
        <p:txBody>
          <a:bodyPr wrap="square" lIns="0" tIns="0" rIns="0" bIns="0" rtlCol="0" anchor="ctr"/>
          <a:lstStyle/>
          <a:p>
            <a:pPr marL="0" indent="0">
              <a:buNone/>
            </a:pPr>
            <a:r>
              <a:rPr lang="en-US" sz="1700" b="1" kern="0" spc="200" dirty="0">
                <a:solidFill>
                  <a:srgbClr val="0B1F3A"/>
                </a:solidFill>
                <a:latin typeface="Calibri" pitchFamily="34" charset="0"/>
                <a:ea typeface="Calibri" pitchFamily="34" charset="-122"/>
                <a:cs typeface="Calibri" pitchFamily="34" charset="-120"/>
              </a:rPr>
              <a:t>COGNITIVE</a:t>
            </a:r>
            <a:endParaRPr lang="en-US" sz="1700" dirty="0"/>
          </a:p>
        </p:txBody>
      </p:sp>
      <p:sp>
        <p:nvSpPr>
          <p:cNvPr id="9" name="Text 6"/>
          <p:cNvSpPr/>
          <p:nvPr/>
        </p:nvSpPr>
        <p:spPr>
          <a:xfrm>
            <a:off x="822960" y="3063240"/>
            <a:ext cx="297180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Focuses on changing criminal thinking.</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Promotes positive behavior and values.</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Improves decision-making skills.</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Encourages personal responsibility.</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Supports rehabilitation and reintegration.</a:t>
            </a:r>
            <a:endParaRPr lang="en-US" sz="1400" dirty="0"/>
          </a:p>
        </p:txBody>
      </p:sp>
      <p:sp>
        <p:nvSpPr>
          <p:cNvPr id="10" name="Shape 7"/>
          <p:cNvSpPr/>
          <p:nvPr/>
        </p:nvSpPr>
        <p:spPr>
          <a:xfrm>
            <a:off x="4297680" y="1828800"/>
            <a:ext cx="3474720" cy="4297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1" name="Shape 8"/>
          <p:cNvSpPr/>
          <p:nvPr/>
        </p:nvSpPr>
        <p:spPr>
          <a:xfrm>
            <a:off x="4297680" y="1828800"/>
            <a:ext cx="3474720" cy="73152"/>
          </a:xfrm>
          <a:prstGeom prst="rect">
            <a:avLst/>
          </a:prstGeom>
          <a:solidFill>
            <a:srgbClr val="D4A017"/>
          </a:solidFill>
          <a:ln w="12700">
            <a:solidFill>
              <a:srgbClr val="D4A017"/>
            </a:solidFill>
            <a:prstDash val="solid"/>
          </a:ln>
        </p:spPr>
      </p:sp>
      <p:sp>
        <p:nvSpPr>
          <p:cNvPr id="12" name="Shape 9"/>
          <p:cNvSpPr/>
          <p:nvPr/>
        </p:nvSpPr>
        <p:spPr>
          <a:xfrm>
            <a:off x="4572000" y="2148840"/>
            <a:ext cx="685800" cy="685800"/>
          </a:xfrm>
          <a:prstGeom prst="ellipse">
            <a:avLst/>
          </a:prstGeom>
          <a:solidFill>
            <a:srgbClr val="D4A017"/>
          </a:solidFill>
          <a:ln w="12700">
            <a:solidFill>
              <a:srgbClr val="D4A017"/>
            </a:solidFill>
            <a:prstDash val="solid"/>
          </a:ln>
        </p:spPr>
      </p:sp>
      <p:pic>
        <p:nvPicPr>
          <p:cNvPr id="13" name="Image 1" descr="preencoded.png"/>
          <p:cNvPicPr>
            <a:picLocks noChangeAspect="1"/>
          </p:cNvPicPr>
          <p:nvPr/>
        </p:nvPicPr>
        <p:blipFill>
          <a:blip r:embed="rId4"/>
          <a:stretch>
            <a:fillRect/>
          </a:stretch>
        </p:blipFill>
        <p:spPr>
          <a:xfrm>
            <a:off x="4743450" y="2320290"/>
            <a:ext cx="342900" cy="342900"/>
          </a:xfrm>
          <a:prstGeom prst="rect">
            <a:avLst/>
          </a:prstGeom>
        </p:spPr>
      </p:pic>
      <p:sp>
        <p:nvSpPr>
          <p:cNvPr id="14" name="Text 10"/>
          <p:cNvSpPr/>
          <p:nvPr/>
        </p:nvSpPr>
        <p:spPr>
          <a:xfrm>
            <a:off x="5394960" y="2148840"/>
            <a:ext cx="2286000" cy="685800"/>
          </a:xfrm>
          <a:prstGeom prst="rect">
            <a:avLst/>
          </a:prstGeom>
          <a:noFill/>
          <a:ln/>
        </p:spPr>
        <p:txBody>
          <a:bodyPr wrap="square" lIns="0" tIns="0" rIns="0" bIns="0" rtlCol="0" anchor="ctr"/>
          <a:lstStyle/>
          <a:p>
            <a:pPr marL="0" indent="0">
              <a:buNone/>
            </a:pPr>
            <a:r>
              <a:rPr lang="en-US" sz="1700" b="1" kern="0" spc="200" dirty="0">
                <a:solidFill>
                  <a:srgbClr val="0B1F3A"/>
                </a:solidFill>
                <a:latin typeface="Calibri" pitchFamily="34" charset="0"/>
                <a:ea typeface="Calibri" pitchFamily="34" charset="-122"/>
                <a:cs typeface="Calibri" pitchFamily="34" charset="-120"/>
              </a:rPr>
              <a:t>AFFECTIVE</a:t>
            </a:r>
            <a:endParaRPr lang="en-US" sz="1700" dirty="0"/>
          </a:p>
        </p:txBody>
      </p:sp>
      <p:sp>
        <p:nvSpPr>
          <p:cNvPr id="15" name="Text 11"/>
          <p:cNvSpPr/>
          <p:nvPr/>
        </p:nvSpPr>
        <p:spPr>
          <a:xfrm>
            <a:off x="4572000" y="3063240"/>
            <a:ext cx="297180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Develops positive values and attitudes</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Promotes respect for laws and society</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Builds self-discipline and responsibility</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Encourages empathy and accountability</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Supports personal and moral growth</a:t>
            </a:r>
            <a:endParaRPr lang="en-US" sz="1400" dirty="0"/>
          </a:p>
        </p:txBody>
      </p:sp>
      <p:sp>
        <p:nvSpPr>
          <p:cNvPr id="16" name="Shape 12"/>
          <p:cNvSpPr/>
          <p:nvPr/>
        </p:nvSpPr>
        <p:spPr>
          <a:xfrm>
            <a:off x="8046720" y="1828800"/>
            <a:ext cx="3474720" cy="42976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3"/>
          <p:cNvSpPr/>
          <p:nvPr/>
        </p:nvSpPr>
        <p:spPr>
          <a:xfrm>
            <a:off x="8046720" y="1828800"/>
            <a:ext cx="3474720" cy="73152"/>
          </a:xfrm>
          <a:prstGeom prst="rect">
            <a:avLst/>
          </a:prstGeom>
          <a:solidFill>
            <a:srgbClr val="D4A017"/>
          </a:solidFill>
          <a:ln w="12700">
            <a:solidFill>
              <a:srgbClr val="D4A017"/>
            </a:solidFill>
            <a:prstDash val="solid"/>
          </a:ln>
        </p:spPr>
      </p:sp>
      <p:sp>
        <p:nvSpPr>
          <p:cNvPr id="18" name="Shape 14"/>
          <p:cNvSpPr/>
          <p:nvPr/>
        </p:nvSpPr>
        <p:spPr>
          <a:xfrm>
            <a:off x="8321040" y="2148840"/>
            <a:ext cx="685800" cy="685800"/>
          </a:xfrm>
          <a:prstGeom prst="ellipse">
            <a:avLst/>
          </a:prstGeom>
          <a:solidFill>
            <a:srgbClr val="D4A017"/>
          </a:solidFill>
          <a:ln w="12700">
            <a:solidFill>
              <a:srgbClr val="D4A017"/>
            </a:solidFill>
            <a:prstDash val="solid"/>
          </a:ln>
        </p:spPr>
      </p:sp>
      <p:pic>
        <p:nvPicPr>
          <p:cNvPr id="19" name="Image 2" descr="preencoded.png"/>
          <p:cNvPicPr>
            <a:picLocks noChangeAspect="1"/>
          </p:cNvPicPr>
          <p:nvPr/>
        </p:nvPicPr>
        <p:blipFill>
          <a:blip r:embed="rId5"/>
          <a:stretch>
            <a:fillRect/>
          </a:stretch>
        </p:blipFill>
        <p:spPr>
          <a:xfrm>
            <a:off x="8492490" y="2320290"/>
            <a:ext cx="342900" cy="342900"/>
          </a:xfrm>
          <a:prstGeom prst="rect">
            <a:avLst/>
          </a:prstGeom>
        </p:spPr>
      </p:pic>
      <p:sp>
        <p:nvSpPr>
          <p:cNvPr id="20" name="Text 15"/>
          <p:cNvSpPr/>
          <p:nvPr/>
        </p:nvSpPr>
        <p:spPr>
          <a:xfrm>
            <a:off x="9144000" y="2148840"/>
            <a:ext cx="2286000" cy="685800"/>
          </a:xfrm>
          <a:prstGeom prst="rect">
            <a:avLst/>
          </a:prstGeom>
          <a:noFill/>
          <a:ln/>
        </p:spPr>
        <p:txBody>
          <a:bodyPr wrap="square" lIns="0" tIns="0" rIns="0" bIns="0" rtlCol="0" anchor="ctr"/>
          <a:lstStyle/>
          <a:p>
            <a:pPr marL="0" indent="0">
              <a:buNone/>
            </a:pPr>
            <a:r>
              <a:rPr lang="en-US" sz="1700" b="1" kern="0" spc="200" dirty="0">
                <a:solidFill>
                  <a:srgbClr val="0B1F3A"/>
                </a:solidFill>
                <a:latin typeface="Calibri" pitchFamily="34" charset="0"/>
                <a:ea typeface="Calibri" pitchFamily="34" charset="-122"/>
                <a:cs typeface="Calibri" pitchFamily="34" charset="-120"/>
              </a:rPr>
              <a:t>PSYCHOMOTOR</a:t>
            </a:r>
            <a:endParaRPr lang="en-US" sz="1700" dirty="0"/>
          </a:p>
        </p:txBody>
      </p:sp>
      <p:sp>
        <p:nvSpPr>
          <p:cNvPr id="21" name="Text 16"/>
          <p:cNvSpPr/>
          <p:nvPr/>
        </p:nvSpPr>
        <p:spPr>
          <a:xfrm>
            <a:off x="8321040" y="3063240"/>
            <a:ext cx="297180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Develops vocational and technical skills</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Enhances work habits and discipline</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Provides livelihood training</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Promotes productive use of time</a:t>
            </a:r>
            <a:endParaRPr lang="en-US" sz="1400" dirty="0"/>
          </a:p>
          <a:p>
            <a:pPr marL="228600" indent="-228600">
              <a:spcAft>
                <a:spcPts val="800"/>
              </a:spcAft>
              <a:buSzPct val="100000"/>
              <a:buChar char="•"/>
            </a:pPr>
            <a:r>
              <a:rPr lang="en-US" sz="1400" dirty="0">
                <a:solidFill>
                  <a:srgbClr val="1C2529"/>
                </a:solidFill>
                <a:latin typeface="Calibri" pitchFamily="34" charset="0"/>
                <a:ea typeface="Calibri" pitchFamily="34" charset="-122"/>
                <a:cs typeface="Calibri" pitchFamily="34" charset="-120"/>
              </a:rPr>
              <a:t>Prepares PDLs for employment after release</a:t>
            </a:r>
            <a:endParaRPr lang="en-US" sz="1400" dirty="0"/>
          </a:p>
        </p:txBody>
      </p:sp>
      <p:sp>
        <p:nvSpPr>
          <p:cNvPr id="22"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3"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pic>
        <p:nvPicPr>
          <p:cNvPr id="2" name="Image 0" descr="assets/bldg1.jpg"/>
          <p:cNvPicPr>
            <a:picLocks noChangeAspect="1"/>
          </p:cNvPicPr>
          <p:nvPr/>
        </p:nvPicPr>
        <p:blipFill>
          <a:blip r:embed="rId3"/>
          <a:srcRect/>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0B1F3A">
              <a:alpha val="65000"/>
            </a:srgbClr>
          </a:solidFill>
          <a:ln w="12700">
            <a:solidFill>
              <a:srgbClr val="0B1F3A">
                <a:alpha val="0"/>
              </a:srgbClr>
            </a:solidFill>
            <a:prstDash val="solid"/>
          </a:ln>
        </p:spPr>
      </p:sp>
      <p:sp>
        <p:nvSpPr>
          <p:cNvPr id="4" name="Text 1"/>
          <p:cNvSpPr/>
          <p:nvPr/>
        </p:nvSpPr>
        <p:spPr>
          <a:xfrm>
            <a:off x="457200" y="4937760"/>
            <a:ext cx="3474720" cy="91440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Introduction</a:t>
            </a:r>
            <a:endParaRPr lang="en-US" sz="3800" dirty="0"/>
          </a:p>
        </p:txBody>
      </p:sp>
      <p:sp>
        <p:nvSpPr>
          <p:cNvPr id="5" name="Shape 2"/>
          <p:cNvSpPr/>
          <p:nvPr/>
        </p:nvSpPr>
        <p:spPr>
          <a:xfrm>
            <a:off x="457200" y="4754880"/>
            <a:ext cx="914400" cy="73152"/>
          </a:xfrm>
          <a:prstGeom prst="rect">
            <a:avLst/>
          </a:prstGeom>
          <a:solidFill>
            <a:srgbClr val="D4A017"/>
          </a:solidFill>
          <a:ln w="12700">
            <a:solidFill>
              <a:srgbClr val="D4A017"/>
            </a:solidFill>
            <a:prstDash val="solid"/>
          </a:ln>
        </p:spPr>
      </p:sp>
      <p:sp>
        <p:nvSpPr>
          <p:cNvPr id="6" name="Shape 3"/>
          <p:cNvSpPr/>
          <p:nvPr/>
        </p:nvSpPr>
        <p:spPr>
          <a:xfrm>
            <a:off x="4754880" y="795528"/>
            <a:ext cx="548640" cy="548640"/>
          </a:xfrm>
          <a:prstGeom prst="ellipse">
            <a:avLst/>
          </a:prstGeom>
          <a:solidFill>
            <a:srgbClr val="0B1F3A"/>
          </a:solidFill>
          <a:ln w="12700">
            <a:solidFill>
              <a:srgbClr val="0B1F3A"/>
            </a:solidFill>
            <a:prstDash val="solid"/>
          </a:ln>
        </p:spPr>
      </p:sp>
      <p:sp>
        <p:nvSpPr>
          <p:cNvPr id="7" name="Text 4"/>
          <p:cNvSpPr/>
          <p:nvPr/>
        </p:nvSpPr>
        <p:spPr>
          <a:xfrm>
            <a:off x="4754880" y="795528"/>
            <a:ext cx="548640" cy="548640"/>
          </a:xfrm>
          <a:prstGeom prst="rect">
            <a:avLst/>
          </a:prstGeom>
          <a:noFill/>
          <a:ln/>
        </p:spPr>
        <p:txBody>
          <a:bodyPr wrap="square" lIns="0" tIns="0" rIns="0" bIns="0" rtlCol="0" anchor="ctr"/>
          <a:lstStyle/>
          <a:p>
            <a:pPr marL="0" indent="0" algn="ctr">
              <a:buNone/>
            </a:pPr>
            <a:r>
              <a:rPr lang="en-US" sz="1600" b="1" dirty="0">
                <a:solidFill>
                  <a:srgbClr val="D4A017"/>
                </a:solidFill>
                <a:latin typeface="Georgia" pitchFamily="34" charset="0"/>
                <a:ea typeface="Georgia" pitchFamily="34" charset="-122"/>
                <a:cs typeface="Georgia" pitchFamily="34" charset="-120"/>
              </a:rPr>
              <a:t>1</a:t>
            </a:r>
            <a:endParaRPr lang="en-US" sz="1600" dirty="0"/>
          </a:p>
        </p:txBody>
      </p:sp>
      <p:sp>
        <p:nvSpPr>
          <p:cNvPr id="8" name="Text 5"/>
          <p:cNvSpPr/>
          <p:nvPr/>
        </p:nvSpPr>
        <p:spPr>
          <a:xfrm>
            <a:off x="5577840" y="685800"/>
            <a:ext cx="6035040" cy="777240"/>
          </a:xfrm>
          <a:prstGeom prst="rect">
            <a:avLst/>
          </a:prstGeom>
          <a:noFill/>
          <a:ln/>
        </p:spPr>
        <p:txBody>
          <a:bodyPr wrap="square" lIns="0" tIns="0" rIns="0" bIns="0" rtlCol="0" anchor="ctr"/>
          <a:lstStyle/>
          <a:p>
            <a:pPr marL="0" indent="0">
              <a:buNone/>
            </a:pPr>
            <a:r>
              <a:rPr lang="en-US" sz="1800" dirty="0">
                <a:solidFill>
                  <a:srgbClr val="1C2529"/>
                </a:solidFill>
                <a:latin typeface="Calibri" pitchFamily="34" charset="0"/>
                <a:ea typeface="Calibri" pitchFamily="34" charset="-122"/>
                <a:cs typeface="Calibri" pitchFamily="34" charset="-120"/>
              </a:rPr>
              <a:t>Institution-Based Corrections is a component of the Philippine Correctional System.</a:t>
            </a:r>
            <a:endParaRPr lang="en-US" sz="1800" dirty="0"/>
          </a:p>
        </p:txBody>
      </p:sp>
      <p:sp>
        <p:nvSpPr>
          <p:cNvPr id="9" name="Shape 6"/>
          <p:cNvSpPr/>
          <p:nvPr/>
        </p:nvSpPr>
        <p:spPr>
          <a:xfrm>
            <a:off x="4754880" y="1874520"/>
            <a:ext cx="548640" cy="548640"/>
          </a:xfrm>
          <a:prstGeom prst="ellipse">
            <a:avLst/>
          </a:prstGeom>
          <a:solidFill>
            <a:srgbClr val="0B1F3A"/>
          </a:solidFill>
          <a:ln w="12700">
            <a:solidFill>
              <a:srgbClr val="0B1F3A"/>
            </a:solidFill>
            <a:prstDash val="solid"/>
          </a:ln>
        </p:spPr>
      </p:sp>
      <p:sp>
        <p:nvSpPr>
          <p:cNvPr id="10" name="Text 7"/>
          <p:cNvSpPr/>
          <p:nvPr/>
        </p:nvSpPr>
        <p:spPr>
          <a:xfrm>
            <a:off x="4754880" y="1874520"/>
            <a:ext cx="548640" cy="548640"/>
          </a:xfrm>
          <a:prstGeom prst="rect">
            <a:avLst/>
          </a:prstGeom>
          <a:noFill/>
          <a:ln/>
        </p:spPr>
        <p:txBody>
          <a:bodyPr wrap="square" lIns="0" tIns="0" rIns="0" bIns="0" rtlCol="0" anchor="ctr"/>
          <a:lstStyle/>
          <a:p>
            <a:pPr marL="0" indent="0" algn="ctr">
              <a:buNone/>
            </a:pPr>
            <a:r>
              <a:rPr lang="en-US" sz="1600" b="1" dirty="0">
                <a:solidFill>
                  <a:srgbClr val="D4A017"/>
                </a:solidFill>
                <a:latin typeface="Georgia" pitchFamily="34" charset="0"/>
                <a:ea typeface="Georgia" pitchFamily="34" charset="-122"/>
                <a:cs typeface="Georgia" pitchFamily="34" charset="-120"/>
              </a:rPr>
              <a:t>2</a:t>
            </a:r>
            <a:endParaRPr lang="en-US" sz="1600" dirty="0"/>
          </a:p>
        </p:txBody>
      </p:sp>
      <p:sp>
        <p:nvSpPr>
          <p:cNvPr id="11" name="Text 8"/>
          <p:cNvSpPr/>
          <p:nvPr/>
        </p:nvSpPr>
        <p:spPr>
          <a:xfrm>
            <a:off x="5577840" y="1764792"/>
            <a:ext cx="6035040" cy="777240"/>
          </a:xfrm>
          <a:prstGeom prst="rect">
            <a:avLst/>
          </a:prstGeom>
          <a:noFill/>
          <a:ln/>
        </p:spPr>
        <p:txBody>
          <a:bodyPr wrap="square" lIns="0" tIns="0" rIns="0" bIns="0" rtlCol="0" anchor="ctr"/>
          <a:lstStyle/>
          <a:p>
            <a:pPr marL="0" indent="0">
              <a:buNone/>
            </a:pPr>
            <a:r>
              <a:rPr lang="en-US" sz="1800" dirty="0">
                <a:solidFill>
                  <a:srgbClr val="1C2529"/>
                </a:solidFill>
                <a:latin typeface="Calibri" pitchFamily="34" charset="0"/>
                <a:ea typeface="Calibri" pitchFamily="34" charset="-122"/>
                <a:cs typeface="Calibri" pitchFamily="34" charset="-120"/>
              </a:rPr>
              <a:t>It involves the custody, supervision, and rehabilitation of PDLs in correctional facilities.</a:t>
            </a:r>
            <a:endParaRPr lang="en-US" sz="1800" dirty="0"/>
          </a:p>
        </p:txBody>
      </p:sp>
      <p:sp>
        <p:nvSpPr>
          <p:cNvPr id="12" name="Shape 9"/>
          <p:cNvSpPr/>
          <p:nvPr/>
        </p:nvSpPr>
        <p:spPr>
          <a:xfrm>
            <a:off x="4754880" y="2953512"/>
            <a:ext cx="548640" cy="548640"/>
          </a:xfrm>
          <a:prstGeom prst="ellipse">
            <a:avLst/>
          </a:prstGeom>
          <a:solidFill>
            <a:srgbClr val="0B1F3A"/>
          </a:solidFill>
          <a:ln w="12700">
            <a:solidFill>
              <a:srgbClr val="0B1F3A"/>
            </a:solidFill>
            <a:prstDash val="solid"/>
          </a:ln>
        </p:spPr>
      </p:sp>
      <p:sp>
        <p:nvSpPr>
          <p:cNvPr id="13" name="Text 10"/>
          <p:cNvSpPr/>
          <p:nvPr/>
        </p:nvSpPr>
        <p:spPr>
          <a:xfrm>
            <a:off x="4754880" y="2953512"/>
            <a:ext cx="548640" cy="548640"/>
          </a:xfrm>
          <a:prstGeom prst="rect">
            <a:avLst/>
          </a:prstGeom>
          <a:noFill/>
          <a:ln/>
        </p:spPr>
        <p:txBody>
          <a:bodyPr wrap="square" lIns="0" tIns="0" rIns="0" bIns="0" rtlCol="0" anchor="ctr"/>
          <a:lstStyle/>
          <a:p>
            <a:pPr marL="0" indent="0" algn="ctr">
              <a:buNone/>
            </a:pPr>
            <a:r>
              <a:rPr lang="en-US" sz="1600" b="1" dirty="0">
                <a:solidFill>
                  <a:srgbClr val="D4A017"/>
                </a:solidFill>
                <a:latin typeface="Georgia" pitchFamily="34" charset="0"/>
                <a:ea typeface="Georgia" pitchFamily="34" charset="-122"/>
                <a:cs typeface="Georgia" pitchFamily="34" charset="-120"/>
              </a:rPr>
              <a:t>3</a:t>
            </a:r>
            <a:endParaRPr lang="en-US" sz="1600" dirty="0"/>
          </a:p>
        </p:txBody>
      </p:sp>
      <p:sp>
        <p:nvSpPr>
          <p:cNvPr id="14" name="Text 11"/>
          <p:cNvSpPr/>
          <p:nvPr/>
        </p:nvSpPr>
        <p:spPr>
          <a:xfrm>
            <a:off x="5577840" y="2843784"/>
            <a:ext cx="6035040" cy="777240"/>
          </a:xfrm>
          <a:prstGeom prst="rect">
            <a:avLst/>
          </a:prstGeom>
          <a:noFill/>
          <a:ln/>
        </p:spPr>
        <p:txBody>
          <a:bodyPr wrap="square" lIns="0" tIns="0" rIns="0" bIns="0" rtlCol="0" anchor="ctr"/>
          <a:lstStyle/>
          <a:p>
            <a:pPr marL="0" indent="0">
              <a:buNone/>
            </a:pPr>
            <a:r>
              <a:rPr lang="en-US" sz="1800" dirty="0">
                <a:solidFill>
                  <a:srgbClr val="1C2529"/>
                </a:solidFill>
                <a:latin typeface="Calibri" pitchFamily="34" charset="0"/>
                <a:ea typeface="Calibri" pitchFamily="34" charset="-122"/>
                <a:cs typeface="Calibri" pitchFamily="34" charset="-120"/>
              </a:rPr>
              <a:t>Managed primarily by the Bureau of Corrections (BuCor).</a:t>
            </a:r>
            <a:endParaRPr lang="en-US" sz="1800" dirty="0"/>
          </a:p>
        </p:txBody>
      </p:sp>
      <p:sp>
        <p:nvSpPr>
          <p:cNvPr id="15" name="Shape 12"/>
          <p:cNvSpPr/>
          <p:nvPr/>
        </p:nvSpPr>
        <p:spPr>
          <a:xfrm>
            <a:off x="4754880" y="4032504"/>
            <a:ext cx="548640" cy="548640"/>
          </a:xfrm>
          <a:prstGeom prst="ellipse">
            <a:avLst/>
          </a:prstGeom>
          <a:solidFill>
            <a:srgbClr val="0B1F3A"/>
          </a:solidFill>
          <a:ln w="12700">
            <a:solidFill>
              <a:srgbClr val="0B1F3A"/>
            </a:solidFill>
            <a:prstDash val="solid"/>
          </a:ln>
        </p:spPr>
      </p:sp>
      <p:sp>
        <p:nvSpPr>
          <p:cNvPr id="16" name="Text 13"/>
          <p:cNvSpPr/>
          <p:nvPr/>
        </p:nvSpPr>
        <p:spPr>
          <a:xfrm>
            <a:off x="4754880" y="4032504"/>
            <a:ext cx="548640" cy="548640"/>
          </a:xfrm>
          <a:prstGeom prst="rect">
            <a:avLst/>
          </a:prstGeom>
          <a:noFill/>
          <a:ln/>
        </p:spPr>
        <p:txBody>
          <a:bodyPr wrap="square" lIns="0" tIns="0" rIns="0" bIns="0" rtlCol="0" anchor="ctr"/>
          <a:lstStyle/>
          <a:p>
            <a:pPr marL="0" indent="0" algn="ctr">
              <a:buNone/>
            </a:pPr>
            <a:r>
              <a:rPr lang="en-US" sz="1600" b="1" dirty="0">
                <a:solidFill>
                  <a:srgbClr val="D4A017"/>
                </a:solidFill>
                <a:latin typeface="Georgia" pitchFamily="34" charset="0"/>
                <a:ea typeface="Georgia" pitchFamily="34" charset="-122"/>
                <a:cs typeface="Georgia" pitchFamily="34" charset="-120"/>
              </a:rPr>
              <a:t>4</a:t>
            </a:r>
            <a:endParaRPr lang="en-US" sz="1600" dirty="0"/>
          </a:p>
        </p:txBody>
      </p:sp>
      <p:sp>
        <p:nvSpPr>
          <p:cNvPr id="17" name="Text 14"/>
          <p:cNvSpPr/>
          <p:nvPr/>
        </p:nvSpPr>
        <p:spPr>
          <a:xfrm>
            <a:off x="5577840" y="3922776"/>
            <a:ext cx="6035040" cy="777240"/>
          </a:xfrm>
          <a:prstGeom prst="rect">
            <a:avLst/>
          </a:prstGeom>
          <a:noFill/>
          <a:ln/>
        </p:spPr>
        <p:txBody>
          <a:bodyPr wrap="square" lIns="0" tIns="0" rIns="0" bIns="0" rtlCol="0" anchor="ctr"/>
          <a:lstStyle/>
          <a:p>
            <a:pPr marL="0" indent="0">
              <a:buNone/>
            </a:pPr>
            <a:r>
              <a:rPr lang="en-US" sz="1800" dirty="0">
                <a:solidFill>
                  <a:srgbClr val="1C2529"/>
                </a:solidFill>
                <a:latin typeface="Calibri" pitchFamily="34" charset="0"/>
                <a:ea typeface="Calibri" pitchFamily="34" charset="-122"/>
                <a:cs typeface="Calibri" pitchFamily="34" charset="-120"/>
              </a:rPr>
              <a:t>Focuses on rehabilitation, reintegration, and public safety.</a:t>
            </a:r>
            <a:endParaRPr lang="en-US" sz="1800" dirty="0"/>
          </a:p>
        </p:txBody>
      </p:sp>
      <p:sp>
        <p:nvSpPr>
          <p:cNvPr id="18" name="Shape 15"/>
          <p:cNvSpPr/>
          <p:nvPr/>
        </p:nvSpPr>
        <p:spPr>
          <a:xfrm>
            <a:off x="4754880" y="5111496"/>
            <a:ext cx="548640" cy="548640"/>
          </a:xfrm>
          <a:prstGeom prst="ellipse">
            <a:avLst/>
          </a:prstGeom>
          <a:solidFill>
            <a:srgbClr val="0B1F3A"/>
          </a:solidFill>
          <a:ln w="12700">
            <a:solidFill>
              <a:srgbClr val="0B1F3A"/>
            </a:solidFill>
            <a:prstDash val="solid"/>
          </a:ln>
        </p:spPr>
      </p:sp>
      <p:sp>
        <p:nvSpPr>
          <p:cNvPr id="19" name="Text 16"/>
          <p:cNvSpPr/>
          <p:nvPr/>
        </p:nvSpPr>
        <p:spPr>
          <a:xfrm>
            <a:off x="4754880" y="5111496"/>
            <a:ext cx="548640" cy="548640"/>
          </a:xfrm>
          <a:prstGeom prst="rect">
            <a:avLst/>
          </a:prstGeom>
          <a:noFill/>
          <a:ln/>
        </p:spPr>
        <p:txBody>
          <a:bodyPr wrap="square" lIns="0" tIns="0" rIns="0" bIns="0" rtlCol="0" anchor="ctr"/>
          <a:lstStyle/>
          <a:p>
            <a:pPr marL="0" indent="0" algn="ctr">
              <a:buNone/>
            </a:pPr>
            <a:r>
              <a:rPr lang="en-US" sz="1600" b="1" dirty="0">
                <a:solidFill>
                  <a:srgbClr val="D4A017"/>
                </a:solidFill>
                <a:latin typeface="Georgia" pitchFamily="34" charset="0"/>
                <a:ea typeface="Georgia" pitchFamily="34" charset="-122"/>
                <a:cs typeface="Georgia" pitchFamily="34" charset="-120"/>
              </a:rPr>
              <a:t>5</a:t>
            </a:r>
            <a:endParaRPr lang="en-US" sz="1600" dirty="0"/>
          </a:p>
        </p:txBody>
      </p:sp>
      <p:sp>
        <p:nvSpPr>
          <p:cNvPr id="20" name="Text 17"/>
          <p:cNvSpPr/>
          <p:nvPr/>
        </p:nvSpPr>
        <p:spPr>
          <a:xfrm>
            <a:off x="5577840" y="5001768"/>
            <a:ext cx="6035040" cy="777240"/>
          </a:xfrm>
          <a:prstGeom prst="rect">
            <a:avLst/>
          </a:prstGeom>
          <a:noFill/>
          <a:ln/>
        </p:spPr>
        <p:txBody>
          <a:bodyPr wrap="square" lIns="0" tIns="0" rIns="0" bIns="0" rtlCol="0" anchor="ctr"/>
          <a:lstStyle/>
          <a:p>
            <a:pPr marL="0" indent="0">
              <a:buNone/>
            </a:pPr>
            <a:r>
              <a:rPr lang="en-US" sz="1800" dirty="0">
                <a:solidFill>
                  <a:srgbClr val="1C2529"/>
                </a:solidFill>
                <a:latin typeface="Calibri" pitchFamily="34" charset="0"/>
                <a:ea typeface="Calibri" pitchFamily="34" charset="-122"/>
                <a:cs typeface="Calibri" pitchFamily="34" charset="-120"/>
              </a:rPr>
              <a:t>Aims to transform offenders into productive members of society.</a:t>
            </a:r>
            <a:endParaRPr lang="en-US" sz="1800" dirty="0"/>
          </a:p>
        </p:txBody>
      </p:sp>
      <p:sp>
        <p:nvSpPr>
          <p:cNvPr id="21" name="Text 18"/>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2" name="Text 19"/>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Reflection Presentation</a:t>
            </a:r>
            <a:endParaRPr lang="en-US" sz="3600" dirty="0"/>
          </a:p>
        </p:txBody>
      </p:sp>
      <p:sp>
        <p:nvSpPr>
          <p:cNvPr id="4" name="Shape 2"/>
          <p:cNvSpPr/>
          <p:nvPr/>
        </p:nvSpPr>
        <p:spPr>
          <a:xfrm>
            <a:off x="548640" y="1828800"/>
            <a:ext cx="5440680" cy="1965960"/>
          </a:xfrm>
          <a:prstGeom prst="rect">
            <a:avLst/>
          </a:prstGeom>
          <a:solidFill>
            <a:srgbClr val="132C52"/>
          </a:solidFill>
          <a:ln w="9525">
            <a:solidFill>
              <a:srgbClr val="2A4670"/>
            </a:solidFill>
            <a:prstDash val="solid"/>
          </a:ln>
        </p:spPr>
      </p:sp>
      <p:sp>
        <p:nvSpPr>
          <p:cNvPr id="5" name="Shape 3"/>
          <p:cNvSpPr/>
          <p:nvPr/>
        </p:nvSpPr>
        <p:spPr>
          <a:xfrm>
            <a:off x="548640" y="1828800"/>
            <a:ext cx="1463040" cy="1965960"/>
          </a:xfrm>
          <a:prstGeom prst="rect">
            <a:avLst/>
          </a:prstGeom>
          <a:solidFill>
            <a:srgbClr val="D4A017"/>
          </a:solidFill>
          <a:ln w="12700">
            <a:solidFill>
              <a:srgbClr val="D4A017"/>
            </a:solidFill>
            <a:prstDash val="solid"/>
          </a:ln>
        </p:spPr>
      </p:sp>
      <p:sp>
        <p:nvSpPr>
          <p:cNvPr id="6" name="Text 4"/>
          <p:cNvSpPr/>
          <p:nvPr/>
        </p:nvSpPr>
        <p:spPr>
          <a:xfrm>
            <a:off x="548640" y="1828800"/>
            <a:ext cx="1463040" cy="1965960"/>
          </a:xfrm>
          <a:prstGeom prst="rect">
            <a:avLst/>
          </a:prstGeom>
          <a:noFill/>
          <a:ln/>
        </p:spPr>
        <p:txBody>
          <a:bodyPr wrap="square" lIns="0" tIns="0" rIns="0" bIns="0" rtlCol="0" anchor="ctr"/>
          <a:lstStyle/>
          <a:p>
            <a:pPr marL="0" indent="0" algn="ctr">
              <a:buNone/>
            </a:pPr>
            <a:r>
              <a:rPr lang="en-US" sz="6000" b="1" dirty="0">
                <a:solidFill>
                  <a:srgbClr val="0B1F3A"/>
                </a:solidFill>
                <a:latin typeface="Georgia" pitchFamily="34" charset="0"/>
                <a:ea typeface="Georgia" pitchFamily="34" charset="-122"/>
                <a:cs typeface="Georgia" pitchFamily="34" charset="-120"/>
              </a:rPr>
              <a:t>S</a:t>
            </a:r>
            <a:endParaRPr lang="en-US" sz="6000" dirty="0"/>
          </a:p>
        </p:txBody>
      </p:sp>
      <p:sp>
        <p:nvSpPr>
          <p:cNvPr id="7" name="Text 5"/>
          <p:cNvSpPr/>
          <p:nvPr/>
        </p:nvSpPr>
        <p:spPr>
          <a:xfrm>
            <a:off x="2286000" y="2103120"/>
            <a:ext cx="3474720" cy="32004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STRENGTH</a:t>
            </a:r>
            <a:endParaRPr lang="en-US" sz="1200" dirty="0"/>
          </a:p>
        </p:txBody>
      </p:sp>
      <p:sp>
        <p:nvSpPr>
          <p:cNvPr id="8" name="Text 6"/>
          <p:cNvSpPr/>
          <p:nvPr/>
        </p:nvSpPr>
        <p:spPr>
          <a:xfrm>
            <a:off x="2286000" y="2468880"/>
            <a:ext cx="3474720" cy="114300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Effective offender custody and rehabilitation programs</a:t>
            </a:r>
            <a:endParaRPr lang="en-US" sz="1800" dirty="0"/>
          </a:p>
        </p:txBody>
      </p:sp>
      <p:sp>
        <p:nvSpPr>
          <p:cNvPr id="9" name="Shape 7"/>
          <p:cNvSpPr/>
          <p:nvPr/>
        </p:nvSpPr>
        <p:spPr>
          <a:xfrm>
            <a:off x="6172200" y="1828800"/>
            <a:ext cx="5440680" cy="1965960"/>
          </a:xfrm>
          <a:prstGeom prst="rect">
            <a:avLst/>
          </a:prstGeom>
          <a:solidFill>
            <a:srgbClr val="132C52"/>
          </a:solidFill>
          <a:ln w="9525">
            <a:solidFill>
              <a:srgbClr val="2A4670"/>
            </a:solidFill>
            <a:prstDash val="solid"/>
          </a:ln>
        </p:spPr>
      </p:sp>
      <p:sp>
        <p:nvSpPr>
          <p:cNvPr id="10" name="Shape 8"/>
          <p:cNvSpPr/>
          <p:nvPr/>
        </p:nvSpPr>
        <p:spPr>
          <a:xfrm>
            <a:off x="6172200" y="1828800"/>
            <a:ext cx="1463040" cy="1965960"/>
          </a:xfrm>
          <a:prstGeom prst="rect">
            <a:avLst/>
          </a:prstGeom>
          <a:solidFill>
            <a:srgbClr val="D4A017"/>
          </a:solidFill>
          <a:ln w="12700">
            <a:solidFill>
              <a:srgbClr val="D4A017"/>
            </a:solidFill>
            <a:prstDash val="solid"/>
          </a:ln>
        </p:spPr>
      </p:sp>
      <p:sp>
        <p:nvSpPr>
          <p:cNvPr id="11" name="Text 9"/>
          <p:cNvSpPr/>
          <p:nvPr/>
        </p:nvSpPr>
        <p:spPr>
          <a:xfrm>
            <a:off x="6172200" y="1828800"/>
            <a:ext cx="1463040" cy="1965960"/>
          </a:xfrm>
          <a:prstGeom prst="rect">
            <a:avLst/>
          </a:prstGeom>
          <a:noFill/>
          <a:ln/>
        </p:spPr>
        <p:txBody>
          <a:bodyPr wrap="square" lIns="0" tIns="0" rIns="0" bIns="0" rtlCol="0" anchor="ctr"/>
          <a:lstStyle/>
          <a:p>
            <a:pPr marL="0" indent="0" algn="ctr">
              <a:buNone/>
            </a:pPr>
            <a:r>
              <a:rPr lang="en-US" sz="6000" b="1" dirty="0">
                <a:solidFill>
                  <a:srgbClr val="0B1F3A"/>
                </a:solidFill>
                <a:latin typeface="Georgia" pitchFamily="34" charset="0"/>
                <a:ea typeface="Georgia" pitchFamily="34" charset="-122"/>
                <a:cs typeface="Georgia" pitchFamily="34" charset="-120"/>
              </a:rPr>
              <a:t>W</a:t>
            </a:r>
            <a:endParaRPr lang="en-US" sz="6000" dirty="0"/>
          </a:p>
        </p:txBody>
      </p:sp>
      <p:sp>
        <p:nvSpPr>
          <p:cNvPr id="12" name="Text 10"/>
          <p:cNvSpPr/>
          <p:nvPr/>
        </p:nvSpPr>
        <p:spPr>
          <a:xfrm>
            <a:off x="7909560" y="2103120"/>
            <a:ext cx="3474720" cy="32004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WEAKNESSES</a:t>
            </a:r>
            <a:endParaRPr lang="en-US" sz="1200" dirty="0"/>
          </a:p>
        </p:txBody>
      </p:sp>
      <p:sp>
        <p:nvSpPr>
          <p:cNvPr id="13" name="Text 11"/>
          <p:cNvSpPr/>
          <p:nvPr/>
        </p:nvSpPr>
        <p:spPr>
          <a:xfrm>
            <a:off x="7909560" y="2468880"/>
            <a:ext cx="3474720" cy="114300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Overcrowding and limited resources</a:t>
            </a:r>
            <a:endParaRPr lang="en-US" sz="1800" dirty="0"/>
          </a:p>
        </p:txBody>
      </p:sp>
      <p:sp>
        <p:nvSpPr>
          <p:cNvPr id="14" name="Shape 12"/>
          <p:cNvSpPr/>
          <p:nvPr/>
        </p:nvSpPr>
        <p:spPr>
          <a:xfrm>
            <a:off x="548640" y="4023360"/>
            <a:ext cx="5440680" cy="1965960"/>
          </a:xfrm>
          <a:prstGeom prst="rect">
            <a:avLst/>
          </a:prstGeom>
          <a:solidFill>
            <a:srgbClr val="132C52"/>
          </a:solidFill>
          <a:ln w="9525">
            <a:solidFill>
              <a:srgbClr val="2A4670"/>
            </a:solidFill>
            <a:prstDash val="solid"/>
          </a:ln>
        </p:spPr>
      </p:sp>
      <p:sp>
        <p:nvSpPr>
          <p:cNvPr id="15" name="Shape 13"/>
          <p:cNvSpPr/>
          <p:nvPr/>
        </p:nvSpPr>
        <p:spPr>
          <a:xfrm>
            <a:off x="548640" y="4023360"/>
            <a:ext cx="1463040" cy="1965960"/>
          </a:xfrm>
          <a:prstGeom prst="rect">
            <a:avLst/>
          </a:prstGeom>
          <a:solidFill>
            <a:srgbClr val="D4A017"/>
          </a:solidFill>
          <a:ln w="12700">
            <a:solidFill>
              <a:srgbClr val="D4A017"/>
            </a:solidFill>
            <a:prstDash val="solid"/>
          </a:ln>
        </p:spPr>
      </p:sp>
      <p:sp>
        <p:nvSpPr>
          <p:cNvPr id="16" name="Text 14"/>
          <p:cNvSpPr/>
          <p:nvPr/>
        </p:nvSpPr>
        <p:spPr>
          <a:xfrm>
            <a:off x="548640" y="4023360"/>
            <a:ext cx="1463040" cy="1965960"/>
          </a:xfrm>
          <a:prstGeom prst="rect">
            <a:avLst/>
          </a:prstGeom>
          <a:noFill/>
          <a:ln/>
        </p:spPr>
        <p:txBody>
          <a:bodyPr wrap="square" lIns="0" tIns="0" rIns="0" bIns="0" rtlCol="0" anchor="ctr"/>
          <a:lstStyle/>
          <a:p>
            <a:pPr marL="0" indent="0" algn="ctr">
              <a:buNone/>
            </a:pPr>
            <a:r>
              <a:rPr lang="en-US" sz="6000" b="1" dirty="0">
                <a:solidFill>
                  <a:srgbClr val="0B1F3A"/>
                </a:solidFill>
                <a:latin typeface="Georgia" pitchFamily="34" charset="0"/>
                <a:ea typeface="Georgia" pitchFamily="34" charset="-122"/>
                <a:cs typeface="Georgia" pitchFamily="34" charset="-120"/>
              </a:rPr>
              <a:t>O</a:t>
            </a:r>
            <a:endParaRPr lang="en-US" sz="6000" dirty="0"/>
          </a:p>
        </p:txBody>
      </p:sp>
      <p:sp>
        <p:nvSpPr>
          <p:cNvPr id="17" name="Text 15"/>
          <p:cNvSpPr/>
          <p:nvPr/>
        </p:nvSpPr>
        <p:spPr>
          <a:xfrm>
            <a:off x="2286000" y="4297680"/>
            <a:ext cx="3474720" cy="32004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OPPORTUNITIES</a:t>
            </a:r>
            <a:endParaRPr lang="en-US" sz="1200" dirty="0"/>
          </a:p>
        </p:txBody>
      </p:sp>
      <p:sp>
        <p:nvSpPr>
          <p:cNvPr id="18" name="Text 16"/>
          <p:cNvSpPr/>
          <p:nvPr/>
        </p:nvSpPr>
        <p:spPr>
          <a:xfrm>
            <a:off x="2286000" y="4663440"/>
            <a:ext cx="3474720" cy="114300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Modernization, partnerships, and expanded rehabilitation services.</a:t>
            </a:r>
            <a:endParaRPr lang="en-US" sz="1800" dirty="0"/>
          </a:p>
        </p:txBody>
      </p:sp>
      <p:sp>
        <p:nvSpPr>
          <p:cNvPr id="19" name="Shape 17"/>
          <p:cNvSpPr/>
          <p:nvPr/>
        </p:nvSpPr>
        <p:spPr>
          <a:xfrm>
            <a:off x="6172200" y="4023360"/>
            <a:ext cx="5440680" cy="1965960"/>
          </a:xfrm>
          <a:prstGeom prst="rect">
            <a:avLst/>
          </a:prstGeom>
          <a:solidFill>
            <a:srgbClr val="132C52"/>
          </a:solidFill>
          <a:ln w="9525">
            <a:solidFill>
              <a:srgbClr val="2A4670"/>
            </a:solidFill>
            <a:prstDash val="solid"/>
          </a:ln>
        </p:spPr>
      </p:sp>
      <p:sp>
        <p:nvSpPr>
          <p:cNvPr id="20" name="Shape 18"/>
          <p:cNvSpPr/>
          <p:nvPr/>
        </p:nvSpPr>
        <p:spPr>
          <a:xfrm>
            <a:off x="6172200" y="4023360"/>
            <a:ext cx="1463040" cy="1965960"/>
          </a:xfrm>
          <a:prstGeom prst="rect">
            <a:avLst/>
          </a:prstGeom>
          <a:solidFill>
            <a:srgbClr val="D4A017"/>
          </a:solidFill>
          <a:ln w="12700">
            <a:solidFill>
              <a:srgbClr val="D4A017"/>
            </a:solidFill>
            <a:prstDash val="solid"/>
          </a:ln>
        </p:spPr>
      </p:sp>
      <p:sp>
        <p:nvSpPr>
          <p:cNvPr id="21" name="Text 19"/>
          <p:cNvSpPr/>
          <p:nvPr/>
        </p:nvSpPr>
        <p:spPr>
          <a:xfrm>
            <a:off x="6172200" y="4023360"/>
            <a:ext cx="1463040" cy="1965960"/>
          </a:xfrm>
          <a:prstGeom prst="rect">
            <a:avLst/>
          </a:prstGeom>
          <a:noFill/>
          <a:ln/>
        </p:spPr>
        <p:txBody>
          <a:bodyPr wrap="square" lIns="0" tIns="0" rIns="0" bIns="0" rtlCol="0" anchor="ctr"/>
          <a:lstStyle/>
          <a:p>
            <a:pPr marL="0" indent="0" algn="ctr">
              <a:buNone/>
            </a:pPr>
            <a:r>
              <a:rPr lang="en-US" sz="6000" b="1" dirty="0">
                <a:solidFill>
                  <a:srgbClr val="0B1F3A"/>
                </a:solidFill>
                <a:latin typeface="Georgia" pitchFamily="34" charset="0"/>
                <a:ea typeface="Georgia" pitchFamily="34" charset="-122"/>
                <a:cs typeface="Georgia" pitchFamily="34" charset="-120"/>
              </a:rPr>
              <a:t>T</a:t>
            </a:r>
            <a:endParaRPr lang="en-US" sz="6000" dirty="0"/>
          </a:p>
        </p:txBody>
      </p:sp>
      <p:sp>
        <p:nvSpPr>
          <p:cNvPr id="22" name="Text 20"/>
          <p:cNvSpPr/>
          <p:nvPr/>
        </p:nvSpPr>
        <p:spPr>
          <a:xfrm>
            <a:off x="7909560" y="4297680"/>
            <a:ext cx="3474720" cy="32004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THREATS</a:t>
            </a:r>
            <a:endParaRPr lang="en-US" sz="1200" dirty="0"/>
          </a:p>
        </p:txBody>
      </p:sp>
      <p:sp>
        <p:nvSpPr>
          <p:cNvPr id="23" name="Text 21"/>
          <p:cNvSpPr/>
          <p:nvPr/>
        </p:nvSpPr>
        <p:spPr>
          <a:xfrm>
            <a:off x="7909560" y="4663440"/>
            <a:ext cx="3474720" cy="114300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Rising inmate population, security concerns, and social stigma.</a:t>
            </a:r>
            <a:endParaRPr lang="en-US" sz="1800" dirty="0"/>
          </a:p>
        </p:txBody>
      </p:sp>
      <p:sp>
        <p:nvSpPr>
          <p:cNvPr id="24" name="Text 22"/>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25" name="Text 23"/>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Strength</a:t>
            </a:r>
            <a:endParaRPr lang="en-US" sz="3600" dirty="0"/>
          </a:p>
        </p:txBody>
      </p:sp>
      <p:sp>
        <p:nvSpPr>
          <p:cNvPr id="4" name="Shape 2"/>
          <p:cNvSpPr/>
          <p:nvPr/>
        </p:nvSpPr>
        <p:spPr>
          <a:xfrm>
            <a:off x="548640" y="2194560"/>
            <a:ext cx="352044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5" name="Shape 3"/>
          <p:cNvSpPr/>
          <p:nvPr/>
        </p:nvSpPr>
        <p:spPr>
          <a:xfrm>
            <a:off x="548640" y="5413248"/>
            <a:ext cx="3520440" cy="73152"/>
          </a:xfrm>
          <a:prstGeom prst="rect">
            <a:avLst/>
          </a:prstGeom>
          <a:solidFill>
            <a:srgbClr val="D4A017"/>
          </a:solidFill>
          <a:ln w="12700">
            <a:solidFill>
              <a:srgbClr val="D4A017"/>
            </a:solidFill>
            <a:prstDash val="solid"/>
          </a:ln>
        </p:spPr>
      </p:sp>
      <p:sp>
        <p:nvSpPr>
          <p:cNvPr id="6" name="Shape 4"/>
          <p:cNvSpPr/>
          <p:nvPr/>
        </p:nvSpPr>
        <p:spPr>
          <a:xfrm>
            <a:off x="868680" y="2606040"/>
            <a:ext cx="868680" cy="868680"/>
          </a:xfrm>
          <a:prstGeom prst="ellipse">
            <a:avLst/>
          </a:prstGeom>
          <a:solidFill>
            <a:srgbClr val="D4A017"/>
          </a:solidFill>
          <a:ln w="12700">
            <a:solidFill>
              <a:srgbClr val="D4A017"/>
            </a:solidFill>
            <a:prstDash val="solid"/>
          </a:ln>
        </p:spPr>
      </p:sp>
      <p:pic>
        <p:nvPicPr>
          <p:cNvPr id="7" name="Image 0" descr="preencoded.png"/>
          <p:cNvPicPr>
            <a:picLocks noChangeAspect="1"/>
          </p:cNvPicPr>
          <p:nvPr/>
        </p:nvPicPr>
        <p:blipFill>
          <a:blip r:embed="rId3"/>
          <a:stretch>
            <a:fillRect/>
          </a:stretch>
        </p:blipFill>
        <p:spPr>
          <a:xfrm>
            <a:off x="1085850" y="2823210"/>
            <a:ext cx="434340" cy="434340"/>
          </a:xfrm>
          <a:prstGeom prst="rect">
            <a:avLst/>
          </a:prstGeom>
        </p:spPr>
      </p:pic>
      <p:sp>
        <p:nvSpPr>
          <p:cNvPr id="8" name="Text 5"/>
          <p:cNvSpPr/>
          <p:nvPr/>
        </p:nvSpPr>
        <p:spPr>
          <a:xfrm>
            <a:off x="310896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01</a:t>
            </a:r>
            <a:endParaRPr lang="en-US" sz="2000" dirty="0"/>
          </a:p>
        </p:txBody>
      </p:sp>
      <p:sp>
        <p:nvSpPr>
          <p:cNvPr id="9" name="Text 6"/>
          <p:cNvSpPr/>
          <p:nvPr/>
        </p:nvSpPr>
        <p:spPr>
          <a:xfrm>
            <a:off x="868680" y="3794760"/>
            <a:ext cx="2971800" cy="1371600"/>
          </a:xfrm>
          <a:prstGeom prst="rect">
            <a:avLst/>
          </a:prstGeom>
          <a:noFill/>
          <a:ln/>
        </p:spPr>
        <p:txBody>
          <a:bodyPr wrap="square" lIns="0" tIns="0" rIns="0" bIns="0" rtlCol="0" anchor="t"/>
          <a:lstStyle/>
          <a:p>
            <a:pPr marL="0" indent="0">
              <a:buNone/>
            </a:pPr>
            <a:r>
              <a:rPr lang="en-US" sz="2100" b="1" dirty="0">
                <a:solidFill>
                  <a:srgbClr val="0B1F3A"/>
                </a:solidFill>
                <a:latin typeface="Georgia" pitchFamily="34" charset="0"/>
                <a:ea typeface="Georgia" pitchFamily="34" charset="-122"/>
                <a:cs typeface="Georgia" pitchFamily="34" charset="-120"/>
              </a:rPr>
              <a:t>Security and Public Protection</a:t>
            </a:r>
            <a:endParaRPr lang="en-US" sz="2100" dirty="0"/>
          </a:p>
        </p:txBody>
      </p:sp>
      <p:sp>
        <p:nvSpPr>
          <p:cNvPr id="10" name="Shape 7"/>
          <p:cNvSpPr/>
          <p:nvPr/>
        </p:nvSpPr>
        <p:spPr>
          <a:xfrm>
            <a:off x="4343400" y="2194560"/>
            <a:ext cx="352044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1" name="Shape 8"/>
          <p:cNvSpPr/>
          <p:nvPr/>
        </p:nvSpPr>
        <p:spPr>
          <a:xfrm>
            <a:off x="4343400" y="5413248"/>
            <a:ext cx="3520440" cy="73152"/>
          </a:xfrm>
          <a:prstGeom prst="rect">
            <a:avLst/>
          </a:prstGeom>
          <a:solidFill>
            <a:srgbClr val="D4A017"/>
          </a:solidFill>
          <a:ln w="12700">
            <a:solidFill>
              <a:srgbClr val="D4A017"/>
            </a:solidFill>
            <a:prstDash val="solid"/>
          </a:ln>
        </p:spPr>
      </p:sp>
      <p:sp>
        <p:nvSpPr>
          <p:cNvPr id="12" name="Shape 9"/>
          <p:cNvSpPr/>
          <p:nvPr/>
        </p:nvSpPr>
        <p:spPr>
          <a:xfrm>
            <a:off x="4663440" y="2606040"/>
            <a:ext cx="868680" cy="868680"/>
          </a:xfrm>
          <a:prstGeom prst="ellipse">
            <a:avLst/>
          </a:prstGeom>
          <a:solidFill>
            <a:srgbClr val="D4A017"/>
          </a:solidFill>
          <a:ln w="12700">
            <a:solidFill>
              <a:srgbClr val="D4A017"/>
            </a:solidFill>
            <a:prstDash val="solid"/>
          </a:ln>
        </p:spPr>
      </p:sp>
      <p:pic>
        <p:nvPicPr>
          <p:cNvPr id="13" name="Image 1" descr="preencoded.png"/>
          <p:cNvPicPr>
            <a:picLocks noChangeAspect="1"/>
          </p:cNvPicPr>
          <p:nvPr/>
        </p:nvPicPr>
        <p:blipFill>
          <a:blip r:embed="rId4"/>
          <a:stretch>
            <a:fillRect/>
          </a:stretch>
        </p:blipFill>
        <p:spPr>
          <a:xfrm>
            <a:off x="4880610" y="2823210"/>
            <a:ext cx="434340" cy="434340"/>
          </a:xfrm>
          <a:prstGeom prst="rect">
            <a:avLst/>
          </a:prstGeom>
        </p:spPr>
      </p:pic>
      <p:sp>
        <p:nvSpPr>
          <p:cNvPr id="14" name="Text 10"/>
          <p:cNvSpPr/>
          <p:nvPr/>
        </p:nvSpPr>
        <p:spPr>
          <a:xfrm>
            <a:off x="690372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02</a:t>
            </a:r>
            <a:endParaRPr lang="en-US" sz="2000" dirty="0"/>
          </a:p>
        </p:txBody>
      </p:sp>
      <p:sp>
        <p:nvSpPr>
          <p:cNvPr id="15" name="Text 11"/>
          <p:cNvSpPr/>
          <p:nvPr/>
        </p:nvSpPr>
        <p:spPr>
          <a:xfrm>
            <a:off x="4663440" y="3794760"/>
            <a:ext cx="2971800" cy="1371600"/>
          </a:xfrm>
          <a:prstGeom prst="rect">
            <a:avLst/>
          </a:prstGeom>
          <a:noFill/>
          <a:ln/>
        </p:spPr>
        <p:txBody>
          <a:bodyPr wrap="square" lIns="0" tIns="0" rIns="0" bIns="0" rtlCol="0" anchor="t"/>
          <a:lstStyle/>
          <a:p>
            <a:pPr marL="0" indent="0">
              <a:buNone/>
            </a:pPr>
            <a:r>
              <a:rPr lang="en-US" sz="2100" b="1" dirty="0">
                <a:solidFill>
                  <a:srgbClr val="0B1F3A"/>
                </a:solidFill>
                <a:latin typeface="Georgia" pitchFamily="34" charset="0"/>
                <a:ea typeface="Georgia" pitchFamily="34" charset="-122"/>
                <a:cs typeface="Georgia" pitchFamily="34" charset="-120"/>
              </a:rPr>
              <a:t>Rehabilitation and Behavior Change</a:t>
            </a:r>
            <a:endParaRPr lang="en-US" sz="2100" dirty="0"/>
          </a:p>
        </p:txBody>
      </p:sp>
      <p:sp>
        <p:nvSpPr>
          <p:cNvPr id="16" name="Shape 12"/>
          <p:cNvSpPr/>
          <p:nvPr/>
        </p:nvSpPr>
        <p:spPr>
          <a:xfrm>
            <a:off x="8138160" y="2194560"/>
            <a:ext cx="352044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3"/>
          <p:cNvSpPr/>
          <p:nvPr/>
        </p:nvSpPr>
        <p:spPr>
          <a:xfrm>
            <a:off x="8138160" y="5413248"/>
            <a:ext cx="3520440" cy="73152"/>
          </a:xfrm>
          <a:prstGeom prst="rect">
            <a:avLst/>
          </a:prstGeom>
          <a:solidFill>
            <a:srgbClr val="D4A017"/>
          </a:solidFill>
          <a:ln w="12700">
            <a:solidFill>
              <a:srgbClr val="D4A017"/>
            </a:solidFill>
            <a:prstDash val="solid"/>
          </a:ln>
        </p:spPr>
      </p:sp>
      <p:sp>
        <p:nvSpPr>
          <p:cNvPr id="18" name="Shape 14"/>
          <p:cNvSpPr/>
          <p:nvPr/>
        </p:nvSpPr>
        <p:spPr>
          <a:xfrm>
            <a:off x="8458200" y="2606040"/>
            <a:ext cx="868680" cy="868680"/>
          </a:xfrm>
          <a:prstGeom prst="ellipse">
            <a:avLst/>
          </a:prstGeom>
          <a:solidFill>
            <a:srgbClr val="D4A017"/>
          </a:solidFill>
          <a:ln w="12700">
            <a:solidFill>
              <a:srgbClr val="D4A017"/>
            </a:solidFill>
            <a:prstDash val="solid"/>
          </a:ln>
        </p:spPr>
      </p:sp>
      <p:pic>
        <p:nvPicPr>
          <p:cNvPr id="19" name="Image 2" descr="preencoded.png"/>
          <p:cNvPicPr>
            <a:picLocks noChangeAspect="1"/>
          </p:cNvPicPr>
          <p:nvPr/>
        </p:nvPicPr>
        <p:blipFill>
          <a:blip r:embed="rId5"/>
          <a:stretch>
            <a:fillRect/>
          </a:stretch>
        </p:blipFill>
        <p:spPr>
          <a:xfrm>
            <a:off x="8675370" y="2823210"/>
            <a:ext cx="434340" cy="434340"/>
          </a:xfrm>
          <a:prstGeom prst="rect">
            <a:avLst/>
          </a:prstGeom>
        </p:spPr>
      </p:pic>
      <p:sp>
        <p:nvSpPr>
          <p:cNvPr id="20" name="Text 15"/>
          <p:cNvSpPr/>
          <p:nvPr/>
        </p:nvSpPr>
        <p:spPr>
          <a:xfrm>
            <a:off x="1069848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03</a:t>
            </a:r>
            <a:endParaRPr lang="en-US" sz="2000" dirty="0"/>
          </a:p>
        </p:txBody>
      </p:sp>
      <p:sp>
        <p:nvSpPr>
          <p:cNvPr id="21" name="Text 16"/>
          <p:cNvSpPr/>
          <p:nvPr/>
        </p:nvSpPr>
        <p:spPr>
          <a:xfrm>
            <a:off x="8458200" y="3794760"/>
            <a:ext cx="2971800" cy="1371600"/>
          </a:xfrm>
          <a:prstGeom prst="rect">
            <a:avLst/>
          </a:prstGeom>
          <a:noFill/>
          <a:ln/>
        </p:spPr>
        <p:txBody>
          <a:bodyPr wrap="square" lIns="0" tIns="0" rIns="0" bIns="0" rtlCol="0" anchor="t"/>
          <a:lstStyle/>
          <a:p>
            <a:pPr marL="0" indent="0">
              <a:buNone/>
            </a:pPr>
            <a:r>
              <a:rPr lang="en-US" sz="2100" b="1" dirty="0">
                <a:solidFill>
                  <a:srgbClr val="0B1F3A"/>
                </a:solidFill>
                <a:latin typeface="Georgia" pitchFamily="34" charset="0"/>
                <a:ea typeface="Georgia" pitchFamily="34" charset="-122"/>
                <a:cs typeface="Georgia" pitchFamily="34" charset="-120"/>
              </a:rPr>
              <a:t>Reintegration and Personal Development</a:t>
            </a:r>
            <a:endParaRPr lang="en-US" sz="2100" dirty="0"/>
          </a:p>
        </p:txBody>
      </p:sp>
      <p:sp>
        <p:nvSpPr>
          <p:cNvPr id="22"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3"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3A"/>
          </a:solidFill>
          <a:ln w="12700">
            <a:solidFill>
              <a:srgbClr val="0B1F3A"/>
            </a:solidFill>
            <a:prstDash val="solid"/>
          </a:ln>
        </p:spPr>
      </p:sp>
      <p:sp>
        <p:nvSpPr>
          <p:cNvPr id="3" name="Text 1"/>
          <p:cNvSpPr/>
          <p:nvPr/>
        </p:nvSpPr>
        <p:spPr>
          <a:xfrm>
            <a:off x="548640" y="548640"/>
            <a:ext cx="338328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STRENGTH</a:t>
            </a:r>
            <a:endParaRPr lang="en-US" sz="1200" dirty="0"/>
          </a:p>
        </p:txBody>
      </p:sp>
      <p:sp>
        <p:nvSpPr>
          <p:cNvPr id="4" name="Shape 2"/>
          <p:cNvSpPr/>
          <p:nvPr/>
        </p:nvSpPr>
        <p:spPr>
          <a:xfrm>
            <a:off x="548640" y="1371600"/>
            <a:ext cx="1005840" cy="1005840"/>
          </a:xfrm>
          <a:prstGeom prst="ellipse">
            <a:avLst/>
          </a:prstGeom>
          <a:solidFill>
            <a:srgbClr val="D4A017"/>
          </a:solidFill>
          <a:ln w="12700">
            <a:solidFill>
              <a:srgbClr val="D4A017"/>
            </a:solidFill>
            <a:prstDash val="solid"/>
          </a:ln>
        </p:spPr>
      </p:sp>
      <p:pic>
        <p:nvPicPr>
          <p:cNvPr id="5" name="Image 0" descr="preencoded.png"/>
          <p:cNvPicPr>
            <a:picLocks noChangeAspect="1"/>
          </p:cNvPicPr>
          <p:nvPr/>
        </p:nvPicPr>
        <p:blipFill>
          <a:blip r:embed="rId3"/>
          <a:stretch>
            <a:fillRect/>
          </a:stretch>
        </p:blipFill>
        <p:spPr>
          <a:xfrm>
            <a:off x="800100" y="1623060"/>
            <a:ext cx="502920" cy="502920"/>
          </a:xfrm>
          <a:prstGeom prst="rect">
            <a:avLst/>
          </a:prstGeom>
        </p:spPr>
      </p:pic>
      <p:sp>
        <p:nvSpPr>
          <p:cNvPr id="6" name="Text 3"/>
          <p:cNvSpPr/>
          <p:nvPr/>
        </p:nvSpPr>
        <p:spPr>
          <a:xfrm>
            <a:off x="2377440" y="1188720"/>
            <a:ext cx="1463040" cy="1280160"/>
          </a:xfrm>
          <a:prstGeom prst="rect">
            <a:avLst/>
          </a:prstGeom>
          <a:noFill/>
          <a:ln/>
        </p:spPr>
        <p:txBody>
          <a:bodyPr wrap="square" lIns="0" tIns="0" rIns="0" bIns="0" rtlCol="0" anchor="ctr"/>
          <a:lstStyle/>
          <a:p>
            <a:pPr marL="0" indent="0" algn="r">
              <a:buNone/>
            </a:pPr>
            <a:r>
              <a:rPr lang="en-US" sz="6400" b="1" dirty="0">
                <a:solidFill>
                  <a:srgbClr val="2A4670"/>
                </a:solidFill>
                <a:latin typeface="Georgia" pitchFamily="34" charset="0"/>
                <a:ea typeface="Georgia" pitchFamily="34" charset="-122"/>
                <a:cs typeface="Georgia" pitchFamily="34" charset="-120"/>
              </a:rPr>
              <a:t>01</a:t>
            </a:r>
            <a:endParaRPr lang="en-US" sz="6400" dirty="0"/>
          </a:p>
        </p:txBody>
      </p:sp>
      <p:sp>
        <p:nvSpPr>
          <p:cNvPr id="7" name="Text 4"/>
          <p:cNvSpPr/>
          <p:nvPr/>
        </p:nvSpPr>
        <p:spPr>
          <a:xfrm>
            <a:off x="548640" y="2743200"/>
            <a:ext cx="3383280" cy="237744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Security and Public Protection</a:t>
            </a:r>
            <a:endParaRPr lang="en-US" sz="2800" dirty="0"/>
          </a:p>
        </p:txBody>
      </p:sp>
      <p:sp>
        <p:nvSpPr>
          <p:cNvPr id="8" name="Shape 5"/>
          <p:cNvSpPr/>
          <p:nvPr/>
        </p:nvSpPr>
        <p:spPr>
          <a:xfrm>
            <a:off x="4754880" y="914400"/>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9" name="Shape 6"/>
          <p:cNvSpPr/>
          <p:nvPr/>
        </p:nvSpPr>
        <p:spPr>
          <a:xfrm>
            <a:off x="4754880" y="914400"/>
            <a:ext cx="73152" cy="1600200"/>
          </a:xfrm>
          <a:prstGeom prst="rect">
            <a:avLst/>
          </a:prstGeom>
          <a:solidFill>
            <a:srgbClr val="D4A017"/>
          </a:solidFill>
          <a:ln w="12700">
            <a:solidFill>
              <a:srgbClr val="D4A017"/>
            </a:solidFill>
            <a:prstDash val="solid"/>
          </a:ln>
        </p:spPr>
      </p:sp>
      <p:sp>
        <p:nvSpPr>
          <p:cNvPr id="10" name="Text 7"/>
          <p:cNvSpPr/>
          <p:nvPr/>
        </p:nvSpPr>
        <p:spPr>
          <a:xfrm>
            <a:off x="5029200" y="914400"/>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01</a:t>
            </a:r>
            <a:endParaRPr lang="en-US" sz="2200" dirty="0"/>
          </a:p>
        </p:txBody>
      </p:sp>
      <p:sp>
        <p:nvSpPr>
          <p:cNvPr id="11" name="Text 8"/>
          <p:cNvSpPr/>
          <p:nvPr/>
        </p:nvSpPr>
        <p:spPr>
          <a:xfrm>
            <a:off x="5806440" y="914400"/>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Institution-based corrections keep convicted offenders in secure facilities, preventing them from committing further crimes in the community.</a:t>
            </a:r>
            <a:endParaRPr lang="en-US" sz="1700" dirty="0"/>
          </a:p>
        </p:txBody>
      </p:sp>
      <p:sp>
        <p:nvSpPr>
          <p:cNvPr id="12" name="Shape 9"/>
          <p:cNvSpPr/>
          <p:nvPr/>
        </p:nvSpPr>
        <p:spPr>
          <a:xfrm>
            <a:off x="4754880" y="2624328"/>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Shape 10"/>
          <p:cNvSpPr/>
          <p:nvPr/>
        </p:nvSpPr>
        <p:spPr>
          <a:xfrm>
            <a:off x="4754880" y="2624328"/>
            <a:ext cx="73152" cy="1600200"/>
          </a:xfrm>
          <a:prstGeom prst="rect">
            <a:avLst/>
          </a:prstGeom>
          <a:solidFill>
            <a:srgbClr val="D4A017"/>
          </a:solidFill>
          <a:ln w="12700">
            <a:solidFill>
              <a:srgbClr val="D4A017"/>
            </a:solidFill>
            <a:prstDash val="solid"/>
          </a:ln>
        </p:spPr>
      </p:sp>
      <p:sp>
        <p:nvSpPr>
          <p:cNvPr id="14" name="Text 11"/>
          <p:cNvSpPr/>
          <p:nvPr/>
        </p:nvSpPr>
        <p:spPr>
          <a:xfrm>
            <a:off x="5029200" y="2624328"/>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5806440" y="2624328"/>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Correctional institutions maintain order and security through established rules, supervision, and monitoring.</a:t>
            </a:r>
            <a:endParaRPr lang="en-US" sz="1700" dirty="0"/>
          </a:p>
        </p:txBody>
      </p:sp>
      <p:sp>
        <p:nvSpPr>
          <p:cNvPr id="16" name="Shape 13"/>
          <p:cNvSpPr/>
          <p:nvPr/>
        </p:nvSpPr>
        <p:spPr>
          <a:xfrm>
            <a:off x="4754880" y="4334256"/>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4"/>
          <p:cNvSpPr/>
          <p:nvPr/>
        </p:nvSpPr>
        <p:spPr>
          <a:xfrm>
            <a:off x="4754880" y="4334256"/>
            <a:ext cx="73152" cy="1600200"/>
          </a:xfrm>
          <a:prstGeom prst="rect">
            <a:avLst/>
          </a:prstGeom>
          <a:solidFill>
            <a:srgbClr val="D4A017"/>
          </a:solidFill>
          <a:ln w="12700">
            <a:solidFill>
              <a:srgbClr val="D4A017"/>
            </a:solidFill>
            <a:prstDash val="solid"/>
          </a:ln>
        </p:spPr>
      </p:sp>
      <p:sp>
        <p:nvSpPr>
          <p:cNvPr id="18" name="Text 15"/>
          <p:cNvSpPr/>
          <p:nvPr/>
        </p:nvSpPr>
        <p:spPr>
          <a:xfrm>
            <a:off x="5029200" y="4334256"/>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5806440" y="4334256"/>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It helps protect citizens while offenders serve their sentence.</a:t>
            </a:r>
            <a:endParaRPr lang="en-US" sz="1700" dirty="0"/>
          </a:p>
        </p:txBody>
      </p:sp>
      <p:sp>
        <p:nvSpPr>
          <p:cNvPr id="20"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1"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3A"/>
          </a:solidFill>
          <a:ln w="12700">
            <a:solidFill>
              <a:srgbClr val="0B1F3A"/>
            </a:solidFill>
            <a:prstDash val="solid"/>
          </a:ln>
        </p:spPr>
      </p:sp>
      <p:sp>
        <p:nvSpPr>
          <p:cNvPr id="3" name="Text 1"/>
          <p:cNvSpPr/>
          <p:nvPr/>
        </p:nvSpPr>
        <p:spPr>
          <a:xfrm>
            <a:off x="548640" y="548640"/>
            <a:ext cx="338328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STRENGTH</a:t>
            </a:r>
            <a:endParaRPr lang="en-US" sz="1200" dirty="0"/>
          </a:p>
        </p:txBody>
      </p:sp>
      <p:sp>
        <p:nvSpPr>
          <p:cNvPr id="4" name="Shape 2"/>
          <p:cNvSpPr/>
          <p:nvPr/>
        </p:nvSpPr>
        <p:spPr>
          <a:xfrm>
            <a:off x="548640" y="1371600"/>
            <a:ext cx="1005840" cy="1005840"/>
          </a:xfrm>
          <a:prstGeom prst="ellipse">
            <a:avLst/>
          </a:prstGeom>
          <a:solidFill>
            <a:srgbClr val="D4A017"/>
          </a:solidFill>
          <a:ln w="12700">
            <a:solidFill>
              <a:srgbClr val="D4A017"/>
            </a:solidFill>
            <a:prstDash val="solid"/>
          </a:ln>
        </p:spPr>
      </p:sp>
      <p:pic>
        <p:nvPicPr>
          <p:cNvPr id="5" name="Image 0" descr="preencoded.png"/>
          <p:cNvPicPr>
            <a:picLocks noChangeAspect="1"/>
          </p:cNvPicPr>
          <p:nvPr/>
        </p:nvPicPr>
        <p:blipFill>
          <a:blip r:embed="rId3"/>
          <a:stretch>
            <a:fillRect/>
          </a:stretch>
        </p:blipFill>
        <p:spPr>
          <a:xfrm>
            <a:off x="800100" y="1623060"/>
            <a:ext cx="502920" cy="502920"/>
          </a:xfrm>
          <a:prstGeom prst="rect">
            <a:avLst/>
          </a:prstGeom>
        </p:spPr>
      </p:pic>
      <p:sp>
        <p:nvSpPr>
          <p:cNvPr id="6" name="Text 3"/>
          <p:cNvSpPr/>
          <p:nvPr/>
        </p:nvSpPr>
        <p:spPr>
          <a:xfrm>
            <a:off x="2377440" y="1188720"/>
            <a:ext cx="1463040" cy="1280160"/>
          </a:xfrm>
          <a:prstGeom prst="rect">
            <a:avLst/>
          </a:prstGeom>
          <a:noFill/>
          <a:ln/>
        </p:spPr>
        <p:txBody>
          <a:bodyPr wrap="square" lIns="0" tIns="0" rIns="0" bIns="0" rtlCol="0" anchor="ctr"/>
          <a:lstStyle/>
          <a:p>
            <a:pPr marL="0" indent="0" algn="r">
              <a:buNone/>
            </a:pPr>
            <a:r>
              <a:rPr lang="en-US" sz="6400" b="1" dirty="0">
                <a:solidFill>
                  <a:srgbClr val="2A4670"/>
                </a:solidFill>
                <a:latin typeface="Georgia" pitchFamily="34" charset="0"/>
                <a:ea typeface="Georgia" pitchFamily="34" charset="-122"/>
                <a:cs typeface="Georgia" pitchFamily="34" charset="-120"/>
              </a:rPr>
              <a:t>02</a:t>
            </a:r>
            <a:endParaRPr lang="en-US" sz="6400" dirty="0"/>
          </a:p>
        </p:txBody>
      </p:sp>
      <p:sp>
        <p:nvSpPr>
          <p:cNvPr id="7" name="Text 4"/>
          <p:cNvSpPr/>
          <p:nvPr/>
        </p:nvSpPr>
        <p:spPr>
          <a:xfrm>
            <a:off x="548640" y="2743200"/>
            <a:ext cx="3383280" cy="237744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Rehabilitation and Behavior Change</a:t>
            </a:r>
            <a:endParaRPr lang="en-US" sz="2800" dirty="0"/>
          </a:p>
        </p:txBody>
      </p:sp>
      <p:sp>
        <p:nvSpPr>
          <p:cNvPr id="8" name="Shape 5"/>
          <p:cNvSpPr/>
          <p:nvPr/>
        </p:nvSpPr>
        <p:spPr>
          <a:xfrm>
            <a:off x="4754880" y="914400"/>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9" name="Shape 6"/>
          <p:cNvSpPr/>
          <p:nvPr/>
        </p:nvSpPr>
        <p:spPr>
          <a:xfrm>
            <a:off x="4754880" y="914400"/>
            <a:ext cx="73152" cy="1600200"/>
          </a:xfrm>
          <a:prstGeom prst="rect">
            <a:avLst/>
          </a:prstGeom>
          <a:solidFill>
            <a:srgbClr val="D4A017"/>
          </a:solidFill>
          <a:ln w="12700">
            <a:solidFill>
              <a:srgbClr val="D4A017"/>
            </a:solidFill>
            <a:prstDash val="solid"/>
          </a:ln>
        </p:spPr>
      </p:sp>
      <p:sp>
        <p:nvSpPr>
          <p:cNvPr id="10" name="Text 7"/>
          <p:cNvSpPr/>
          <p:nvPr/>
        </p:nvSpPr>
        <p:spPr>
          <a:xfrm>
            <a:off x="5029200" y="914400"/>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01</a:t>
            </a:r>
            <a:endParaRPr lang="en-US" sz="2200" dirty="0"/>
          </a:p>
        </p:txBody>
      </p:sp>
      <p:sp>
        <p:nvSpPr>
          <p:cNvPr id="11" name="Text 8"/>
          <p:cNvSpPr/>
          <p:nvPr/>
        </p:nvSpPr>
        <p:spPr>
          <a:xfrm>
            <a:off x="5806440" y="914400"/>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Inmates are given access to educational programs, literacy classes, vocational training, and spiritual activities</a:t>
            </a:r>
            <a:endParaRPr lang="en-US" sz="1700" dirty="0"/>
          </a:p>
        </p:txBody>
      </p:sp>
      <p:sp>
        <p:nvSpPr>
          <p:cNvPr id="12" name="Shape 9"/>
          <p:cNvSpPr/>
          <p:nvPr/>
        </p:nvSpPr>
        <p:spPr>
          <a:xfrm>
            <a:off x="4754880" y="2624328"/>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Shape 10"/>
          <p:cNvSpPr/>
          <p:nvPr/>
        </p:nvSpPr>
        <p:spPr>
          <a:xfrm>
            <a:off x="4754880" y="2624328"/>
            <a:ext cx="73152" cy="1600200"/>
          </a:xfrm>
          <a:prstGeom prst="rect">
            <a:avLst/>
          </a:prstGeom>
          <a:solidFill>
            <a:srgbClr val="D4A017"/>
          </a:solidFill>
          <a:ln w="12700">
            <a:solidFill>
              <a:srgbClr val="D4A017"/>
            </a:solidFill>
            <a:prstDash val="solid"/>
          </a:ln>
        </p:spPr>
      </p:sp>
      <p:sp>
        <p:nvSpPr>
          <p:cNvPr id="14" name="Text 11"/>
          <p:cNvSpPr/>
          <p:nvPr/>
        </p:nvSpPr>
        <p:spPr>
          <a:xfrm>
            <a:off x="5029200" y="2624328"/>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5806440" y="2624328"/>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These programs help develop positive values, discipline, and work skills.</a:t>
            </a:r>
            <a:endParaRPr lang="en-US" sz="1700" dirty="0"/>
          </a:p>
        </p:txBody>
      </p:sp>
      <p:sp>
        <p:nvSpPr>
          <p:cNvPr id="16" name="Shape 13"/>
          <p:cNvSpPr/>
          <p:nvPr/>
        </p:nvSpPr>
        <p:spPr>
          <a:xfrm>
            <a:off x="4754880" y="4334256"/>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4"/>
          <p:cNvSpPr/>
          <p:nvPr/>
        </p:nvSpPr>
        <p:spPr>
          <a:xfrm>
            <a:off x="4754880" y="4334256"/>
            <a:ext cx="73152" cy="1600200"/>
          </a:xfrm>
          <a:prstGeom prst="rect">
            <a:avLst/>
          </a:prstGeom>
          <a:solidFill>
            <a:srgbClr val="D4A017"/>
          </a:solidFill>
          <a:ln w="12700">
            <a:solidFill>
              <a:srgbClr val="D4A017"/>
            </a:solidFill>
            <a:prstDash val="solid"/>
          </a:ln>
        </p:spPr>
      </p:sp>
      <p:sp>
        <p:nvSpPr>
          <p:cNvPr id="18" name="Text 15"/>
          <p:cNvSpPr/>
          <p:nvPr/>
        </p:nvSpPr>
        <p:spPr>
          <a:xfrm>
            <a:off x="5029200" y="4334256"/>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5806440" y="4334256"/>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Rehabilitation reduces the likelihood of offenders returning to criminal activities after release.</a:t>
            </a:r>
            <a:endParaRPr lang="en-US" sz="1700" dirty="0"/>
          </a:p>
        </p:txBody>
      </p:sp>
      <p:sp>
        <p:nvSpPr>
          <p:cNvPr id="20"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1"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3A"/>
          </a:solidFill>
          <a:ln w="12700">
            <a:solidFill>
              <a:srgbClr val="0B1F3A"/>
            </a:solidFill>
            <a:prstDash val="solid"/>
          </a:ln>
        </p:spPr>
      </p:sp>
      <p:sp>
        <p:nvSpPr>
          <p:cNvPr id="3" name="Text 1"/>
          <p:cNvSpPr/>
          <p:nvPr/>
        </p:nvSpPr>
        <p:spPr>
          <a:xfrm>
            <a:off x="548640" y="548640"/>
            <a:ext cx="338328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STRENGTH</a:t>
            </a:r>
            <a:endParaRPr lang="en-US" sz="1200" dirty="0"/>
          </a:p>
        </p:txBody>
      </p:sp>
      <p:sp>
        <p:nvSpPr>
          <p:cNvPr id="4" name="Shape 2"/>
          <p:cNvSpPr/>
          <p:nvPr/>
        </p:nvSpPr>
        <p:spPr>
          <a:xfrm>
            <a:off x="548640" y="1371600"/>
            <a:ext cx="1005840" cy="1005840"/>
          </a:xfrm>
          <a:prstGeom prst="ellipse">
            <a:avLst/>
          </a:prstGeom>
          <a:solidFill>
            <a:srgbClr val="D4A017"/>
          </a:solidFill>
          <a:ln w="12700">
            <a:solidFill>
              <a:srgbClr val="D4A017"/>
            </a:solidFill>
            <a:prstDash val="solid"/>
          </a:ln>
        </p:spPr>
      </p:sp>
      <p:pic>
        <p:nvPicPr>
          <p:cNvPr id="5" name="Image 0" descr="preencoded.png"/>
          <p:cNvPicPr>
            <a:picLocks noChangeAspect="1"/>
          </p:cNvPicPr>
          <p:nvPr/>
        </p:nvPicPr>
        <p:blipFill>
          <a:blip r:embed="rId3"/>
          <a:stretch>
            <a:fillRect/>
          </a:stretch>
        </p:blipFill>
        <p:spPr>
          <a:xfrm>
            <a:off x="800100" y="1623060"/>
            <a:ext cx="502920" cy="502920"/>
          </a:xfrm>
          <a:prstGeom prst="rect">
            <a:avLst/>
          </a:prstGeom>
        </p:spPr>
      </p:pic>
      <p:sp>
        <p:nvSpPr>
          <p:cNvPr id="6" name="Text 3"/>
          <p:cNvSpPr/>
          <p:nvPr/>
        </p:nvSpPr>
        <p:spPr>
          <a:xfrm>
            <a:off x="2377440" y="1188720"/>
            <a:ext cx="1463040" cy="1280160"/>
          </a:xfrm>
          <a:prstGeom prst="rect">
            <a:avLst/>
          </a:prstGeom>
          <a:noFill/>
          <a:ln/>
        </p:spPr>
        <p:txBody>
          <a:bodyPr wrap="square" lIns="0" tIns="0" rIns="0" bIns="0" rtlCol="0" anchor="ctr"/>
          <a:lstStyle/>
          <a:p>
            <a:pPr marL="0" indent="0" algn="r">
              <a:buNone/>
            </a:pPr>
            <a:r>
              <a:rPr lang="en-US" sz="6400" b="1" dirty="0">
                <a:solidFill>
                  <a:srgbClr val="2A4670"/>
                </a:solidFill>
                <a:latin typeface="Georgia" pitchFamily="34" charset="0"/>
                <a:ea typeface="Georgia" pitchFamily="34" charset="-122"/>
                <a:cs typeface="Georgia" pitchFamily="34" charset="-120"/>
              </a:rPr>
              <a:t>03</a:t>
            </a:r>
            <a:endParaRPr lang="en-US" sz="6400" dirty="0"/>
          </a:p>
        </p:txBody>
      </p:sp>
      <p:sp>
        <p:nvSpPr>
          <p:cNvPr id="7" name="Text 4"/>
          <p:cNvSpPr/>
          <p:nvPr/>
        </p:nvSpPr>
        <p:spPr>
          <a:xfrm>
            <a:off x="548640" y="2743200"/>
            <a:ext cx="3383280" cy="237744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Reintegration and Personal Development</a:t>
            </a:r>
            <a:endParaRPr lang="en-US" sz="2800" dirty="0"/>
          </a:p>
        </p:txBody>
      </p:sp>
      <p:sp>
        <p:nvSpPr>
          <p:cNvPr id="8" name="Shape 5"/>
          <p:cNvSpPr/>
          <p:nvPr/>
        </p:nvSpPr>
        <p:spPr>
          <a:xfrm>
            <a:off x="4754880" y="914400"/>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9" name="Shape 6"/>
          <p:cNvSpPr/>
          <p:nvPr/>
        </p:nvSpPr>
        <p:spPr>
          <a:xfrm>
            <a:off x="4754880" y="914400"/>
            <a:ext cx="73152" cy="1600200"/>
          </a:xfrm>
          <a:prstGeom prst="rect">
            <a:avLst/>
          </a:prstGeom>
          <a:solidFill>
            <a:srgbClr val="D4A017"/>
          </a:solidFill>
          <a:ln w="12700">
            <a:solidFill>
              <a:srgbClr val="D4A017"/>
            </a:solidFill>
            <a:prstDash val="solid"/>
          </a:ln>
        </p:spPr>
      </p:sp>
      <p:sp>
        <p:nvSpPr>
          <p:cNvPr id="10" name="Text 7"/>
          <p:cNvSpPr/>
          <p:nvPr/>
        </p:nvSpPr>
        <p:spPr>
          <a:xfrm>
            <a:off x="5029200" y="914400"/>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01</a:t>
            </a:r>
            <a:endParaRPr lang="en-US" sz="2200" dirty="0"/>
          </a:p>
        </p:txBody>
      </p:sp>
      <p:sp>
        <p:nvSpPr>
          <p:cNvPr id="11" name="Text 8"/>
          <p:cNvSpPr/>
          <p:nvPr/>
        </p:nvSpPr>
        <p:spPr>
          <a:xfrm>
            <a:off x="5806440" y="914400"/>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Correctional facilities provide livelihood and skills training that can help inmates find employment after release.</a:t>
            </a:r>
            <a:endParaRPr lang="en-US" sz="1700" dirty="0"/>
          </a:p>
        </p:txBody>
      </p:sp>
      <p:sp>
        <p:nvSpPr>
          <p:cNvPr id="12" name="Shape 9"/>
          <p:cNvSpPr/>
          <p:nvPr/>
        </p:nvSpPr>
        <p:spPr>
          <a:xfrm>
            <a:off x="4754880" y="2624328"/>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Shape 10"/>
          <p:cNvSpPr/>
          <p:nvPr/>
        </p:nvSpPr>
        <p:spPr>
          <a:xfrm>
            <a:off x="4754880" y="2624328"/>
            <a:ext cx="73152" cy="1600200"/>
          </a:xfrm>
          <a:prstGeom prst="rect">
            <a:avLst/>
          </a:prstGeom>
          <a:solidFill>
            <a:srgbClr val="D4A017"/>
          </a:solidFill>
          <a:ln w="12700">
            <a:solidFill>
              <a:srgbClr val="D4A017"/>
            </a:solidFill>
            <a:prstDash val="solid"/>
          </a:ln>
        </p:spPr>
      </p:sp>
      <p:sp>
        <p:nvSpPr>
          <p:cNvPr id="14" name="Text 11"/>
          <p:cNvSpPr/>
          <p:nvPr/>
        </p:nvSpPr>
        <p:spPr>
          <a:xfrm>
            <a:off x="5029200" y="2624328"/>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5806440" y="2624328"/>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Programs encourage personal growth, responsibility, and social adjustment.</a:t>
            </a:r>
            <a:endParaRPr lang="en-US" sz="1700" dirty="0"/>
          </a:p>
        </p:txBody>
      </p:sp>
      <p:sp>
        <p:nvSpPr>
          <p:cNvPr id="16" name="Shape 13"/>
          <p:cNvSpPr/>
          <p:nvPr/>
        </p:nvSpPr>
        <p:spPr>
          <a:xfrm>
            <a:off x="4754880" y="4334256"/>
            <a:ext cx="6858000" cy="160020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4"/>
          <p:cNvSpPr/>
          <p:nvPr/>
        </p:nvSpPr>
        <p:spPr>
          <a:xfrm>
            <a:off x="4754880" y="4334256"/>
            <a:ext cx="73152" cy="1600200"/>
          </a:xfrm>
          <a:prstGeom prst="rect">
            <a:avLst/>
          </a:prstGeom>
          <a:solidFill>
            <a:srgbClr val="D4A017"/>
          </a:solidFill>
          <a:ln w="12700">
            <a:solidFill>
              <a:srgbClr val="D4A017"/>
            </a:solidFill>
            <a:prstDash val="solid"/>
          </a:ln>
        </p:spPr>
      </p:sp>
      <p:sp>
        <p:nvSpPr>
          <p:cNvPr id="18" name="Text 15"/>
          <p:cNvSpPr/>
          <p:nvPr/>
        </p:nvSpPr>
        <p:spPr>
          <a:xfrm>
            <a:off x="5029200" y="4334256"/>
            <a:ext cx="731520" cy="160020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5806440" y="4334256"/>
            <a:ext cx="5577840" cy="160020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Reintegration efforts contribute to reducing recidivism and promoting community stability.</a:t>
            </a:r>
            <a:endParaRPr lang="en-US" sz="1700" dirty="0"/>
          </a:p>
        </p:txBody>
      </p:sp>
      <p:sp>
        <p:nvSpPr>
          <p:cNvPr id="20"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1"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6949440" cy="82296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Weaknesses</a:t>
            </a:r>
            <a:endParaRPr lang="en-US" sz="3600" dirty="0"/>
          </a:p>
        </p:txBody>
      </p:sp>
      <p:pic>
        <p:nvPicPr>
          <p:cNvPr id="4" name="Image 0" descr="assets/bldg2.jpg"/>
          <p:cNvPicPr>
            <a:picLocks noChangeAspect="1"/>
          </p:cNvPicPr>
          <p:nvPr/>
        </p:nvPicPr>
        <p:blipFill>
          <a:blip r:embed="rId3"/>
          <a:srcRect/>
          <a:stretch/>
        </p:blipFill>
        <p:spPr>
          <a:xfrm>
            <a:off x="8138160" y="0"/>
            <a:ext cx="4053535" cy="6858000"/>
          </a:xfrm>
          <a:prstGeom prst="rect">
            <a:avLst/>
          </a:prstGeom>
        </p:spPr>
      </p:pic>
      <p:sp>
        <p:nvSpPr>
          <p:cNvPr id="5" name="Shape 2"/>
          <p:cNvSpPr/>
          <p:nvPr/>
        </p:nvSpPr>
        <p:spPr>
          <a:xfrm>
            <a:off x="548640" y="2194560"/>
            <a:ext cx="224028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6" name="Shape 3"/>
          <p:cNvSpPr/>
          <p:nvPr/>
        </p:nvSpPr>
        <p:spPr>
          <a:xfrm>
            <a:off x="548640" y="5413248"/>
            <a:ext cx="2240280" cy="73152"/>
          </a:xfrm>
          <a:prstGeom prst="rect">
            <a:avLst/>
          </a:prstGeom>
          <a:solidFill>
            <a:srgbClr val="D4A017"/>
          </a:solidFill>
          <a:ln w="12700">
            <a:solidFill>
              <a:srgbClr val="D4A017"/>
            </a:solidFill>
            <a:prstDash val="solid"/>
          </a:ln>
        </p:spPr>
      </p:sp>
      <p:sp>
        <p:nvSpPr>
          <p:cNvPr id="7" name="Shape 4"/>
          <p:cNvSpPr/>
          <p:nvPr/>
        </p:nvSpPr>
        <p:spPr>
          <a:xfrm>
            <a:off x="868680" y="2606040"/>
            <a:ext cx="868680" cy="868680"/>
          </a:xfrm>
          <a:prstGeom prst="ellipse">
            <a:avLst/>
          </a:prstGeom>
          <a:solidFill>
            <a:srgbClr val="D4A017"/>
          </a:solidFill>
          <a:ln w="12700">
            <a:solidFill>
              <a:srgbClr val="D4A017"/>
            </a:solidFill>
            <a:prstDash val="solid"/>
          </a:ln>
        </p:spPr>
      </p:sp>
      <p:pic>
        <p:nvPicPr>
          <p:cNvPr id="8" name="Image 1" descr="preencoded.png"/>
          <p:cNvPicPr>
            <a:picLocks noChangeAspect="1"/>
          </p:cNvPicPr>
          <p:nvPr/>
        </p:nvPicPr>
        <p:blipFill>
          <a:blip r:embed="rId4"/>
          <a:stretch>
            <a:fillRect/>
          </a:stretch>
        </p:blipFill>
        <p:spPr>
          <a:xfrm>
            <a:off x="1085850" y="2823210"/>
            <a:ext cx="434340" cy="434340"/>
          </a:xfrm>
          <a:prstGeom prst="rect">
            <a:avLst/>
          </a:prstGeom>
        </p:spPr>
      </p:pic>
      <p:sp>
        <p:nvSpPr>
          <p:cNvPr id="9" name="Text 5"/>
          <p:cNvSpPr/>
          <p:nvPr/>
        </p:nvSpPr>
        <p:spPr>
          <a:xfrm>
            <a:off x="182880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01</a:t>
            </a:r>
            <a:endParaRPr lang="en-US" sz="2000" dirty="0"/>
          </a:p>
        </p:txBody>
      </p:sp>
      <p:sp>
        <p:nvSpPr>
          <p:cNvPr id="10" name="Text 6"/>
          <p:cNvSpPr/>
          <p:nvPr/>
        </p:nvSpPr>
        <p:spPr>
          <a:xfrm>
            <a:off x="868680" y="3794760"/>
            <a:ext cx="1691640" cy="1371600"/>
          </a:xfrm>
          <a:prstGeom prst="rect">
            <a:avLst/>
          </a:prstGeom>
          <a:noFill/>
          <a:ln/>
        </p:spPr>
        <p:txBody>
          <a:bodyPr wrap="square" lIns="0" tIns="0" rIns="0" bIns="0" rtlCol="0" anchor="t"/>
          <a:lstStyle/>
          <a:p>
            <a:pPr marL="0" indent="0">
              <a:buNone/>
            </a:pPr>
            <a:r>
              <a:rPr lang="en-US" sz="1700" b="1" dirty="0">
                <a:solidFill>
                  <a:srgbClr val="0B1F3A"/>
                </a:solidFill>
                <a:latin typeface="Georgia" pitchFamily="34" charset="0"/>
                <a:ea typeface="Georgia" pitchFamily="34" charset="-122"/>
                <a:cs typeface="Georgia" pitchFamily="34" charset="-120"/>
              </a:rPr>
              <a:t>Overcrowding in Correctional Facilities</a:t>
            </a:r>
            <a:endParaRPr lang="en-US" sz="1700" dirty="0"/>
          </a:p>
        </p:txBody>
      </p:sp>
      <p:sp>
        <p:nvSpPr>
          <p:cNvPr id="11" name="Shape 7"/>
          <p:cNvSpPr/>
          <p:nvPr/>
        </p:nvSpPr>
        <p:spPr>
          <a:xfrm>
            <a:off x="2971800" y="2194560"/>
            <a:ext cx="224028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2" name="Shape 8"/>
          <p:cNvSpPr/>
          <p:nvPr/>
        </p:nvSpPr>
        <p:spPr>
          <a:xfrm>
            <a:off x="2971800" y="5413248"/>
            <a:ext cx="2240280" cy="73152"/>
          </a:xfrm>
          <a:prstGeom prst="rect">
            <a:avLst/>
          </a:prstGeom>
          <a:solidFill>
            <a:srgbClr val="D4A017"/>
          </a:solidFill>
          <a:ln w="12700">
            <a:solidFill>
              <a:srgbClr val="D4A017"/>
            </a:solidFill>
            <a:prstDash val="solid"/>
          </a:ln>
        </p:spPr>
      </p:sp>
      <p:sp>
        <p:nvSpPr>
          <p:cNvPr id="13" name="Shape 9"/>
          <p:cNvSpPr/>
          <p:nvPr/>
        </p:nvSpPr>
        <p:spPr>
          <a:xfrm>
            <a:off x="3291840" y="2606040"/>
            <a:ext cx="868680" cy="868680"/>
          </a:xfrm>
          <a:prstGeom prst="ellipse">
            <a:avLst/>
          </a:prstGeom>
          <a:solidFill>
            <a:srgbClr val="D4A017"/>
          </a:solidFill>
          <a:ln w="12700">
            <a:solidFill>
              <a:srgbClr val="D4A017"/>
            </a:solidFill>
            <a:prstDash val="solid"/>
          </a:ln>
        </p:spPr>
      </p:sp>
      <p:pic>
        <p:nvPicPr>
          <p:cNvPr id="14" name="Image 2" descr="preencoded.png"/>
          <p:cNvPicPr>
            <a:picLocks noChangeAspect="1"/>
          </p:cNvPicPr>
          <p:nvPr/>
        </p:nvPicPr>
        <p:blipFill>
          <a:blip r:embed="rId5"/>
          <a:stretch>
            <a:fillRect/>
          </a:stretch>
        </p:blipFill>
        <p:spPr>
          <a:xfrm>
            <a:off x="3509010" y="2823210"/>
            <a:ext cx="434340" cy="434340"/>
          </a:xfrm>
          <a:prstGeom prst="rect">
            <a:avLst/>
          </a:prstGeom>
        </p:spPr>
      </p:pic>
      <p:sp>
        <p:nvSpPr>
          <p:cNvPr id="15" name="Text 10"/>
          <p:cNvSpPr/>
          <p:nvPr/>
        </p:nvSpPr>
        <p:spPr>
          <a:xfrm>
            <a:off x="425196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02</a:t>
            </a:r>
            <a:endParaRPr lang="en-US" sz="2000" dirty="0"/>
          </a:p>
        </p:txBody>
      </p:sp>
      <p:sp>
        <p:nvSpPr>
          <p:cNvPr id="16" name="Text 11"/>
          <p:cNvSpPr/>
          <p:nvPr/>
        </p:nvSpPr>
        <p:spPr>
          <a:xfrm>
            <a:off x="3291840" y="3794760"/>
            <a:ext cx="1691640" cy="1371600"/>
          </a:xfrm>
          <a:prstGeom prst="rect">
            <a:avLst/>
          </a:prstGeom>
          <a:noFill/>
          <a:ln/>
        </p:spPr>
        <p:txBody>
          <a:bodyPr wrap="square" lIns="0" tIns="0" rIns="0" bIns="0" rtlCol="0" anchor="t"/>
          <a:lstStyle/>
          <a:p>
            <a:pPr marL="0" indent="0">
              <a:buNone/>
            </a:pPr>
            <a:r>
              <a:rPr lang="en-US" sz="1700" b="1" dirty="0">
                <a:solidFill>
                  <a:srgbClr val="0B1F3A"/>
                </a:solidFill>
                <a:latin typeface="Georgia" pitchFamily="34" charset="0"/>
                <a:ea typeface="Georgia" pitchFamily="34" charset="-122"/>
                <a:cs typeface="Georgia" pitchFamily="34" charset="-120"/>
              </a:rPr>
              <a:t>Limited Resources and Facilities</a:t>
            </a:r>
            <a:endParaRPr lang="en-US" sz="1700" dirty="0"/>
          </a:p>
        </p:txBody>
      </p:sp>
      <p:sp>
        <p:nvSpPr>
          <p:cNvPr id="17" name="Shape 12"/>
          <p:cNvSpPr/>
          <p:nvPr/>
        </p:nvSpPr>
        <p:spPr>
          <a:xfrm>
            <a:off x="5394960" y="2194560"/>
            <a:ext cx="224028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8" name="Shape 13"/>
          <p:cNvSpPr/>
          <p:nvPr/>
        </p:nvSpPr>
        <p:spPr>
          <a:xfrm>
            <a:off x="5394960" y="5413248"/>
            <a:ext cx="2240280" cy="73152"/>
          </a:xfrm>
          <a:prstGeom prst="rect">
            <a:avLst/>
          </a:prstGeom>
          <a:solidFill>
            <a:srgbClr val="D4A017"/>
          </a:solidFill>
          <a:ln w="12700">
            <a:solidFill>
              <a:srgbClr val="D4A017"/>
            </a:solidFill>
            <a:prstDash val="solid"/>
          </a:ln>
        </p:spPr>
      </p:sp>
      <p:sp>
        <p:nvSpPr>
          <p:cNvPr id="19" name="Shape 14"/>
          <p:cNvSpPr/>
          <p:nvPr/>
        </p:nvSpPr>
        <p:spPr>
          <a:xfrm>
            <a:off x="5715000" y="2606040"/>
            <a:ext cx="868680" cy="868680"/>
          </a:xfrm>
          <a:prstGeom prst="ellipse">
            <a:avLst/>
          </a:prstGeom>
          <a:solidFill>
            <a:srgbClr val="D4A017"/>
          </a:solidFill>
          <a:ln w="12700">
            <a:solidFill>
              <a:srgbClr val="D4A017"/>
            </a:solidFill>
            <a:prstDash val="solid"/>
          </a:ln>
        </p:spPr>
      </p:sp>
      <p:pic>
        <p:nvPicPr>
          <p:cNvPr id="20" name="Image 3" descr="preencoded.png"/>
          <p:cNvPicPr>
            <a:picLocks noChangeAspect="1"/>
          </p:cNvPicPr>
          <p:nvPr/>
        </p:nvPicPr>
        <p:blipFill>
          <a:blip r:embed="rId6"/>
          <a:stretch>
            <a:fillRect/>
          </a:stretch>
        </p:blipFill>
        <p:spPr>
          <a:xfrm>
            <a:off x="5932170" y="2823210"/>
            <a:ext cx="434340" cy="434340"/>
          </a:xfrm>
          <a:prstGeom prst="rect">
            <a:avLst/>
          </a:prstGeom>
        </p:spPr>
      </p:pic>
      <p:sp>
        <p:nvSpPr>
          <p:cNvPr id="21" name="Text 15"/>
          <p:cNvSpPr/>
          <p:nvPr/>
        </p:nvSpPr>
        <p:spPr>
          <a:xfrm>
            <a:off x="667512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03</a:t>
            </a:r>
            <a:endParaRPr lang="en-US" sz="2000" dirty="0"/>
          </a:p>
        </p:txBody>
      </p:sp>
      <p:sp>
        <p:nvSpPr>
          <p:cNvPr id="22" name="Text 16"/>
          <p:cNvSpPr/>
          <p:nvPr/>
        </p:nvSpPr>
        <p:spPr>
          <a:xfrm>
            <a:off x="5715000" y="3794760"/>
            <a:ext cx="1691640" cy="1371600"/>
          </a:xfrm>
          <a:prstGeom prst="rect">
            <a:avLst/>
          </a:prstGeom>
          <a:noFill/>
          <a:ln/>
        </p:spPr>
        <p:txBody>
          <a:bodyPr wrap="square" lIns="0" tIns="0" rIns="0" bIns="0" rtlCol="0" anchor="t"/>
          <a:lstStyle/>
          <a:p>
            <a:pPr marL="0" indent="0">
              <a:buNone/>
            </a:pPr>
            <a:r>
              <a:rPr lang="en-US" sz="1700" b="1" dirty="0">
                <a:solidFill>
                  <a:srgbClr val="0B1F3A"/>
                </a:solidFill>
                <a:latin typeface="Georgia" pitchFamily="34" charset="0"/>
                <a:ea typeface="Georgia" pitchFamily="34" charset="-122"/>
                <a:cs typeface="Georgia" pitchFamily="34" charset="-120"/>
              </a:rPr>
              <a:t>Challenges in Rehabilitation Programs</a:t>
            </a:r>
            <a:endParaRPr lang="en-US" sz="1700" dirty="0"/>
          </a:p>
        </p:txBody>
      </p:sp>
      <p:sp>
        <p:nvSpPr>
          <p:cNvPr id="23"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4"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WEAKNESSES · 1</a:t>
            </a:r>
            <a:endParaRPr lang="en-US" sz="1200" dirty="0"/>
          </a:p>
        </p:txBody>
      </p:sp>
      <p:sp>
        <p:nvSpPr>
          <p:cNvPr id="3" name="Shape 1"/>
          <p:cNvSpPr/>
          <p:nvPr/>
        </p:nvSpPr>
        <p:spPr>
          <a:xfrm>
            <a:off x="548640" y="914400"/>
            <a:ext cx="731520" cy="731520"/>
          </a:xfrm>
          <a:prstGeom prst="ellipse">
            <a:avLst/>
          </a:prstGeom>
          <a:solidFill>
            <a:srgbClr val="D4A017"/>
          </a:solidFill>
          <a:ln w="12700">
            <a:solidFill>
              <a:srgbClr val="D4A017"/>
            </a:solidFill>
            <a:prstDash val="solid"/>
          </a:ln>
        </p:spPr>
      </p:sp>
      <p:pic>
        <p:nvPicPr>
          <p:cNvPr id="4" name="Image 0" descr="preencoded.png"/>
          <p:cNvPicPr>
            <a:picLocks noChangeAspect="1"/>
          </p:cNvPicPr>
          <p:nvPr/>
        </p:nvPicPr>
        <p:blipFill>
          <a:blip r:embed="rId3"/>
          <a:stretch>
            <a:fillRect/>
          </a:stretch>
        </p:blipFill>
        <p:spPr>
          <a:xfrm>
            <a:off x="731520" y="1097280"/>
            <a:ext cx="365760" cy="365760"/>
          </a:xfrm>
          <a:prstGeom prst="rect">
            <a:avLst/>
          </a:prstGeom>
        </p:spPr>
      </p:pic>
      <p:sp>
        <p:nvSpPr>
          <p:cNvPr id="5" name="Text 2"/>
          <p:cNvSpPr/>
          <p:nvPr/>
        </p:nvSpPr>
        <p:spPr>
          <a:xfrm>
            <a:off x="1463040" y="868680"/>
            <a:ext cx="10058400" cy="82296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Overcrowding in Correctional Facilities</a:t>
            </a:r>
            <a:endParaRPr lang="en-US" sz="3000" dirty="0"/>
          </a:p>
        </p:txBody>
      </p:sp>
      <p:sp>
        <p:nvSpPr>
          <p:cNvPr id="6" name="Shape 3"/>
          <p:cNvSpPr/>
          <p:nvPr/>
        </p:nvSpPr>
        <p:spPr>
          <a:xfrm>
            <a:off x="548640" y="210312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7" name="Text 4"/>
          <p:cNvSpPr/>
          <p:nvPr/>
        </p:nvSpPr>
        <p:spPr>
          <a:xfrm>
            <a:off x="82296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01</a:t>
            </a:r>
            <a:endParaRPr lang="en-US" sz="2000" dirty="0"/>
          </a:p>
        </p:txBody>
      </p:sp>
      <p:sp>
        <p:nvSpPr>
          <p:cNvPr id="8" name="Text 5"/>
          <p:cNvSpPr/>
          <p:nvPr/>
        </p:nvSpPr>
        <p:spPr>
          <a:xfrm>
            <a:off x="822960" y="278892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Many correctional facilities house more inmates than their intended capacity.</a:t>
            </a:r>
            <a:endParaRPr lang="en-US" sz="1700" dirty="0"/>
          </a:p>
        </p:txBody>
      </p:sp>
      <p:sp>
        <p:nvSpPr>
          <p:cNvPr id="9" name="Shape 6"/>
          <p:cNvSpPr/>
          <p:nvPr/>
        </p:nvSpPr>
        <p:spPr>
          <a:xfrm>
            <a:off x="6172200" y="210312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0" name="Text 7"/>
          <p:cNvSpPr/>
          <p:nvPr/>
        </p:nvSpPr>
        <p:spPr>
          <a:xfrm>
            <a:off x="644652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02</a:t>
            </a:r>
            <a:endParaRPr lang="en-US" sz="2000" dirty="0"/>
          </a:p>
        </p:txBody>
      </p:sp>
      <p:sp>
        <p:nvSpPr>
          <p:cNvPr id="11" name="Text 8"/>
          <p:cNvSpPr/>
          <p:nvPr/>
        </p:nvSpPr>
        <p:spPr>
          <a:xfrm>
            <a:off x="6446520" y="278892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Overcrowding results in limited space, poor living conditions, and strained resources.</a:t>
            </a:r>
            <a:endParaRPr lang="en-US" sz="1700" dirty="0"/>
          </a:p>
        </p:txBody>
      </p:sp>
      <p:sp>
        <p:nvSpPr>
          <p:cNvPr id="12" name="Shape 9"/>
          <p:cNvSpPr/>
          <p:nvPr/>
        </p:nvSpPr>
        <p:spPr>
          <a:xfrm>
            <a:off x="548640" y="411480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Text 10"/>
          <p:cNvSpPr/>
          <p:nvPr/>
        </p:nvSpPr>
        <p:spPr>
          <a:xfrm>
            <a:off x="82296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03</a:t>
            </a:r>
            <a:endParaRPr lang="en-US" sz="2000" dirty="0"/>
          </a:p>
        </p:txBody>
      </p:sp>
      <p:sp>
        <p:nvSpPr>
          <p:cNvPr id="14" name="Text 11"/>
          <p:cNvSpPr/>
          <p:nvPr/>
        </p:nvSpPr>
        <p:spPr>
          <a:xfrm>
            <a:off x="822960" y="480060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It becomes difficult to effectively supervise and manage inmates.</a:t>
            </a:r>
            <a:endParaRPr lang="en-US" sz="1700" dirty="0"/>
          </a:p>
        </p:txBody>
      </p:sp>
      <p:sp>
        <p:nvSpPr>
          <p:cNvPr id="15" name="Shape 12"/>
          <p:cNvSpPr/>
          <p:nvPr/>
        </p:nvSpPr>
        <p:spPr>
          <a:xfrm>
            <a:off x="6172200" y="411480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6" name="Text 13"/>
          <p:cNvSpPr/>
          <p:nvPr/>
        </p:nvSpPr>
        <p:spPr>
          <a:xfrm>
            <a:off x="644652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04</a:t>
            </a:r>
            <a:endParaRPr lang="en-US" sz="2000" dirty="0"/>
          </a:p>
        </p:txBody>
      </p:sp>
      <p:sp>
        <p:nvSpPr>
          <p:cNvPr id="17" name="Text 14"/>
          <p:cNvSpPr/>
          <p:nvPr/>
        </p:nvSpPr>
        <p:spPr>
          <a:xfrm>
            <a:off x="6446520" y="480060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Rehabilitation programs may not reach all inmates due to the large population.</a:t>
            </a:r>
            <a:endParaRPr lang="en-US" sz="1700" dirty="0"/>
          </a:p>
        </p:txBody>
      </p:sp>
      <p:sp>
        <p:nvSpPr>
          <p:cNvPr id="18" name="Text 1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19" name="Text 1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WEAKNESSES · 2</a:t>
            </a:r>
            <a:endParaRPr lang="en-US" sz="1200" dirty="0"/>
          </a:p>
        </p:txBody>
      </p:sp>
      <p:sp>
        <p:nvSpPr>
          <p:cNvPr id="3" name="Shape 1"/>
          <p:cNvSpPr/>
          <p:nvPr/>
        </p:nvSpPr>
        <p:spPr>
          <a:xfrm>
            <a:off x="548640" y="914400"/>
            <a:ext cx="731520" cy="731520"/>
          </a:xfrm>
          <a:prstGeom prst="ellipse">
            <a:avLst/>
          </a:prstGeom>
          <a:solidFill>
            <a:srgbClr val="D4A017"/>
          </a:solidFill>
          <a:ln w="12700">
            <a:solidFill>
              <a:srgbClr val="D4A017"/>
            </a:solidFill>
            <a:prstDash val="solid"/>
          </a:ln>
        </p:spPr>
      </p:sp>
      <p:pic>
        <p:nvPicPr>
          <p:cNvPr id="4" name="Image 0" descr="preencoded.png"/>
          <p:cNvPicPr>
            <a:picLocks noChangeAspect="1"/>
          </p:cNvPicPr>
          <p:nvPr/>
        </p:nvPicPr>
        <p:blipFill>
          <a:blip r:embed="rId3"/>
          <a:stretch>
            <a:fillRect/>
          </a:stretch>
        </p:blipFill>
        <p:spPr>
          <a:xfrm>
            <a:off x="731520" y="1097280"/>
            <a:ext cx="365760" cy="365760"/>
          </a:xfrm>
          <a:prstGeom prst="rect">
            <a:avLst/>
          </a:prstGeom>
        </p:spPr>
      </p:pic>
      <p:sp>
        <p:nvSpPr>
          <p:cNvPr id="5" name="Text 2"/>
          <p:cNvSpPr/>
          <p:nvPr/>
        </p:nvSpPr>
        <p:spPr>
          <a:xfrm>
            <a:off x="1463040" y="868680"/>
            <a:ext cx="10058400" cy="82296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Limited Resources and Facilities</a:t>
            </a:r>
            <a:endParaRPr lang="en-US" sz="3000" dirty="0"/>
          </a:p>
        </p:txBody>
      </p:sp>
      <p:sp>
        <p:nvSpPr>
          <p:cNvPr id="6" name="Shape 3"/>
          <p:cNvSpPr/>
          <p:nvPr/>
        </p:nvSpPr>
        <p:spPr>
          <a:xfrm>
            <a:off x="548640" y="210312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7" name="Text 4"/>
          <p:cNvSpPr/>
          <p:nvPr/>
        </p:nvSpPr>
        <p:spPr>
          <a:xfrm>
            <a:off x="82296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01</a:t>
            </a:r>
            <a:endParaRPr lang="en-US" sz="2000" dirty="0"/>
          </a:p>
        </p:txBody>
      </p:sp>
      <p:sp>
        <p:nvSpPr>
          <p:cNvPr id="8" name="Text 5"/>
          <p:cNvSpPr/>
          <p:nvPr/>
        </p:nvSpPr>
        <p:spPr>
          <a:xfrm>
            <a:off x="822960" y="278892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Some correctional facilities face shortages in personnel, equipment, and rehabilitation resources.</a:t>
            </a:r>
            <a:endParaRPr lang="en-US" sz="1700" dirty="0"/>
          </a:p>
        </p:txBody>
      </p:sp>
      <p:sp>
        <p:nvSpPr>
          <p:cNvPr id="9" name="Shape 6"/>
          <p:cNvSpPr/>
          <p:nvPr/>
        </p:nvSpPr>
        <p:spPr>
          <a:xfrm>
            <a:off x="6172200" y="210312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0" name="Text 7"/>
          <p:cNvSpPr/>
          <p:nvPr/>
        </p:nvSpPr>
        <p:spPr>
          <a:xfrm>
            <a:off x="644652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02</a:t>
            </a:r>
            <a:endParaRPr lang="en-US" sz="2000" dirty="0"/>
          </a:p>
        </p:txBody>
      </p:sp>
      <p:sp>
        <p:nvSpPr>
          <p:cNvPr id="11" name="Text 8"/>
          <p:cNvSpPr/>
          <p:nvPr/>
        </p:nvSpPr>
        <p:spPr>
          <a:xfrm>
            <a:off x="6446520" y="278892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Aging buildings require maintenance and modernization.</a:t>
            </a:r>
            <a:endParaRPr lang="en-US" sz="1700" dirty="0"/>
          </a:p>
        </p:txBody>
      </p:sp>
      <p:sp>
        <p:nvSpPr>
          <p:cNvPr id="12" name="Shape 9"/>
          <p:cNvSpPr/>
          <p:nvPr/>
        </p:nvSpPr>
        <p:spPr>
          <a:xfrm>
            <a:off x="548640" y="411480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Text 10"/>
          <p:cNvSpPr/>
          <p:nvPr/>
        </p:nvSpPr>
        <p:spPr>
          <a:xfrm>
            <a:off x="82296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03</a:t>
            </a:r>
            <a:endParaRPr lang="en-US" sz="2000" dirty="0"/>
          </a:p>
        </p:txBody>
      </p:sp>
      <p:sp>
        <p:nvSpPr>
          <p:cNvPr id="14" name="Text 11"/>
          <p:cNvSpPr/>
          <p:nvPr/>
        </p:nvSpPr>
        <p:spPr>
          <a:xfrm>
            <a:off x="822960" y="480060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Limited budgets can affect healthcare, education, and vocational training programs.</a:t>
            </a:r>
            <a:endParaRPr lang="en-US" sz="1700" dirty="0"/>
          </a:p>
        </p:txBody>
      </p:sp>
      <p:sp>
        <p:nvSpPr>
          <p:cNvPr id="15" name="Shape 12"/>
          <p:cNvSpPr/>
          <p:nvPr/>
        </p:nvSpPr>
        <p:spPr>
          <a:xfrm>
            <a:off x="6172200" y="411480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6" name="Text 13"/>
          <p:cNvSpPr/>
          <p:nvPr/>
        </p:nvSpPr>
        <p:spPr>
          <a:xfrm>
            <a:off x="644652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04</a:t>
            </a:r>
            <a:endParaRPr lang="en-US" sz="2000" dirty="0"/>
          </a:p>
        </p:txBody>
      </p:sp>
      <p:sp>
        <p:nvSpPr>
          <p:cNvPr id="17" name="Text 14"/>
          <p:cNvSpPr/>
          <p:nvPr/>
        </p:nvSpPr>
        <p:spPr>
          <a:xfrm>
            <a:off x="6446520" y="480060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Staff may experience increased workload due to the high inmate population.</a:t>
            </a:r>
            <a:endParaRPr lang="en-US" sz="1700" dirty="0"/>
          </a:p>
        </p:txBody>
      </p:sp>
      <p:sp>
        <p:nvSpPr>
          <p:cNvPr id="18" name="Text 1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19" name="Text 1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WEAKNESSES · 2</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Five-Year Improvement in Staffing</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4206240" cy="3950208"/>
        </p:xfrm>
        <a:graphic>
          <a:graphicData uri="http://schemas.openxmlformats.org/drawingml/2006/table">
            <a:tbl>
              <a:tblPr/>
              <a:tblGrid>
                <a:gridCol w="1463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658368">
                <a:tc>
                  <a:txBody>
                    <a:bodyPr/>
                    <a:lstStyle/>
                    <a:p>
                      <a:pPr marL="0" indent="0" algn="ctr">
                        <a:buNone/>
                      </a:pPr>
                      <a:r>
                        <a:rPr lang="en-US" sz="1800" b="1" dirty="0">
                          <a:solidFill>
                            <a:srgbClr val="0B1F3A"/>
                          </a:solidFill>
                          <a:latin typeface="Calibri" pitchFamily="34" charset="0"/>
                          <a:ea typeface="Calibri" pitchFamily="34" charset="-122"/>
                          <a:cs typeface="Calibri" pitchFamily="34" charset="-120"/>
                        </a:rPr>
                        <a:t>Year</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D4A017"/>
                    </a:solidFill>
                  </a:tcPr>
                </a:tc>
                <a:tc>
                  <a:txBody>
                    <a:bodyPr/>
                    <a:lstStyle/>
                    <a:p>
                      <a:pPr marL="0" indent="0" algn="ctr">
                        <a:buNone/>
                      </a:pPr>
                      <a:r>
                        <a:rPr lang="en-US" sz="1800" b="1" dirty="0">
                          <a:solidFill>
                            <a:srgbClr val="0B1F3A"/>
                          </a:solidFill>
                          <a:latin typeface="Calibri" pitchFamily="34" charset="0"/>
                          <a:ea typeface="Calibri" pitchFamily="34" charset="-122"/>
                          <a:cs typeface="Calibri" pitchFamily="34" charset="-120"/>
                        </a:rPr>
                        <a:t>Officer-to-PDL Ratio</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D4A017"/>
                    </a:solidFill>
                  </a:tcPr>
                </a:tc>
                <a:extLst>
                  <a:ext uri="{0D108BD9-81ED-4DB2-BD59-A6C34878D82A}">
                    <a16:rowId xmlns:a16="http://schemas.microsoft.com/office/drawing/2014/main" val="10000"/>
                  </a:ext>
                </a:extLst>
              </a:tr>
              <a:tr h="65836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2021</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1:40</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extLst>
                  <a:ext uri="{0D108BD9-81ED-4DB2-BD59-A6C34878D82A}">
                    <a16:rowId xmlns:a16="http://schemas.microsoft.com/office/drawing/2014/main" val="10001"/>
                  </a:ext>
                </a:extLst>
              </a:tr>
              <a:tr h="65836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2022</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1:29</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extLst>
                  <a:ext uri="{0D108BD9-81ED-4DB2-BD59-A6C34878D82A}">
                    <a16:rowId xmlns:a16="http://schemas.microsoft.com/office/drawing/2014/main" val="10002"/>
                  </a:ext>
                </a:extLst>
              </a:tr>
              <a:tr h="65836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2023</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1:26</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extLst>
                  <a:ext uri="{0D108BD9-81ED-4DB2-BD59-A6C34878D82A}">
                    <a16:rowId xmlns:a16="http://schemas.microsoft.com/office/drawing/2014/main" val="10003"/>
                  </a:ext>
                </a:extLst>
              </a:tr>
              <a:tr h="65836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2024</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1:24</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extLst>
                  <a:ext uri="{0D108BD9-81ED-4DB2-BD59-A6C34878D82A}">
                    <a16:rowId xmlns:a16="http://schemas.microsoft.com/office/drawing/2014/main" val="10004"/>
                  </a:ext>
                </a:extLst>
              </a:tr>
              <a:tr h="65836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2025</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1:20</a:t>
                      </a:r>
                      <a:endParaRPr lang="en-US" sz="1800" dirty="0">
                        <a:latin typeface="Calibri" charset="0"/>
                        <a:ea typeface="Calibri" charset="0"/>
                        <a:cs typeface="Calibri" charset="0"/>
                      </a:endParaRPr>
                    </a:p>
                  </a:txBody>
                  <a:tcPr anchor="ctr">
                    <a:lnL w="9525" cap="flat" cmpd="sng" algn="ctr">
                      <a:solidFill>
                        <a:srgbClr val="2A4670"/>
                      </a:solidFill>
                      <a:prstDash val="solid"/>
                      <a:round/>
                      <a:headEnd type="none" w="med" len="med"/>
                      <a:tailEnd type="none" w="med" len="med"/>
                    </a:lnL>
                    <a:lnR w="9525" cap="flat" cmpd="sng" algn="ctr">
                      <a:solidFill>
                        <a:srgbClr val="2A4670"/>
                      </a:solidFill>
                      <a:prstDash val="solid"/>
                      <a:round/>
                      <a:headEnd type="none" w="med" len="med"/>
                      <a:tailEnd type="none" w="med" len="med"/>
                    </a:lnR>
                    <a:lnT w="9525" cap="flat" cmpd="sng" algn="ctr">
                      <a:solidFill>
                        <a:srgbClr val="2A4670"/>
                      </a:solidFill>
                      <a:prstDash val="solid"/>
                      <a:round/>
                      <a:headEnd type="none" w="med" len="med"/>
                      <a:tailEnd type="none" w="med" len="med"/>
                    </a:lnT>
                    <a:lnB w="9525" cap="flat" cmpd="sng" algn="ctr">
                      <a:solidFill>
                        <a:srgbClr val="2A4670"/>
                      </a:solidFill>
                      <a:prstDash val="solid"/>
                      <a:round/>
                      <a:headEnd type="none" w="med" len="med"/>
                      <a:tailEnd type="none" w="med" len="med"/>
                    </a:lnB>
                    <a:solidFill>
                      <a:srgbClr val="132C52"/>
                    </a:solidFill>
                  </a:tcPr>
                </a:tc>
                <a:extLst>
                  <a:ext uri="{0D108BD9-81ED-4DB2-BD59-A6C34878D82A}">
                    <a16:rowId xmlns:a16="http://schemas.microsoft.com/office/drawing/2014/main" val="10005"/>
                  </a:ext>
                </a:extLst>
              </a:tr>
            </a:tbl>
          </a:graphicData>
        </a:graphic>
      </p:graphicFrame>
      <p:sp>
        <p:nvSpPr>
          <p:cNvPr id="5" name="Shape 2"/>
          <p:cNvSpPr/>
          <p:nvPr/>
        </p:nvSpPr>
        <p:spPr>
          <a:xfrm>
            <a:off x="5120640" y="1920240"/>
            <a:ext cx="6492240" cy="4023360"/>
          </a:xfrm>
          <a:prstGeom prst="rect">
            <a:avLst/>
          </a:prstGeom>
          <a:solidFill>
            <a:srgbClr val="FFFFFF"/>
          </a:solidFill>
          <a:ln w="12700">
            <a:solidFill>
              <a:srgbClr val="FFFFFF"/>
            </a:solidFill>
            <a:prstDash val="solid"/>
          </a:ln>
        </p:spPr>
      </p:sp>
      <p:graphicFrame>
        <p:nvGraphicFramePr>
          <p:cNvPr id="6" name="Chart 0"/>
          <p:cNvGraphicFramePr/>
          <p:nvPr/>
        </p:nvGraphicFramePr>
        <p:xfrm>
          <a:off x="5303520" y="2057400"/>
          <a:ext cx="61264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8" name="Text 4"/>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WEAKNESSES · 3</a:t>
            </a:r>
            <a:endParaRPr lang="en-US" sz="1200" dirty="0"/>
          </a:p>
        </p:txBody>
      </p:sp>
      <p:sp>
        <p:nvSpPr>
          <p:cNvPr id="3" name="Shape 1"/>
          <p:cNvSpPr/>
          <p:nvPr/>
        </p:nvSpPr>
        <p:spPr>
          <a:xfrm>
            <a:off x="548640" y="914400"/>
            <a:ext cx="731520" cy="731520"/>
          </a:xfrm>
          <a:prstGeom prst="ellipse">
            <a:avLst/>
          </a:prstGeom>
          <a:solidFill>
            <a:srgbClr val="D4A017"/>
          </a:solidFill>
          <a:ln w="12700">
            <a:solidFill>
              <a:srgbClr val="D4A017"/>
            </a:solidFill>
            <a:prstDash val="solid"/>
          </a:ln>
        </p:spPr>
      </p:sp>
      <p:pic>
        <p:nvPicPr>
          <p:cNvPr id="4" name="Image 0" descr="preencoded.png"/>
          <p:cNvPicPr>
            <a:picLocks noChangeAspect="1"/>
          </p:cNvPicPr>
          <p:nvPr/>
        </p:nvPicPr>
        <p:blipFill>
          <a:blip r:embed="rId3"/>
          <a:stretch>
            <a:fillRect/>
          </a:stretch>
        </p:blipFill>
        <p:spPr>
          <a:xfrm>
            <a:off x="731520" y="1097280"/>
            <a:ext cx="365760" cy="365760"/>
          </a:xfrm>
          <a:prstGeom prst="rect">
            <a:avLst/>
          </a:prstGeom>
        </p:spPr>
      </p:pic>
      <p:sp>
        <p:nvSpPr>
          <p:cNvPr id="5" name="Text 2"/>
          <p:cNvSpPr/>
          <p:nvPr/>
        </p:nvSpPr>
        <p:spPr>
          <a:xfrm>
            <a:off x="1463040" y="868680"/>
            <a:ext cx="10058400" cy="822960"/>
          </a:xfrm>
          <a:prstGeom prst="rect">
            <a:avLst/>
          </a:prstGeom>
          <a:noFill/>
          <a:ln/>
        </p:spPr>
        <p:txBody>
          <a:bodyPr wrap="square" lIns="0" tIns="0" rIns="0" bIns="0" rtlCol="0" anchor="ctr"/>
          <a:lstStyle/>
          <a:p>
            <a:pPr marL="0" indent="0">
              <a:buNone/>
            </a:pPr>
            <a:r>
              <a:rPr lang="en-US" sz="3000" b="1" dirty="0">
                <a:solidFill>
                  <a:srgbClr val="0B1F3A"/>
                </a:solidFill>
                <a:latin typeface="Georgia" pitchFamily="34" charset="0"/>
                <a:ea typeface="Georgia" pitchFamily="34" charset="-122"/>
                <a:cs typeface="Georgia" pitchFamily="34" charset="-120"/>
              </a:rPr>
              <a:t>Challenges in Rehabilitation Programs</a:t>
            </a:r>
            <a:endParaRPr lang="en-US" sz="3000" dirty="0"/>
          </a:p>
        </p:txBody>
      </p:sp>
      <p:sp>
        <p:nvSpPr>
          <p:cNvPr id="6" name="Shape 3"/>
          <p:cNvSpPr/>
          <p:nvPr/>
        </p:nvSpPr>
        <p:spPr>
          <a:xfrm>
            <a:off x="548640" y="210312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7" name="Text 4"/>
          <p:cNvSpPr/>
          <p:nvPr/>
        </p:nvSpPr>
        <p:spPr>
          <a:xfrm>
            <a:off x="82296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01</a:t>
            </a:r>
            <a:endParaRPr lang="en-US" sz="2000" dirty="0"/>
          </a:p>
        </p:txBody>
      </p:sp>
      <p:sp>
        <p:nvSpPr>
          <p:cNvPr id="8" name="Text 5"/>
          <p:cNvSpPr/>
          <p:nvPr/>
        </p:nvSpPr>
        <p:spPr>
          <a:xfrm>
            <a:off x="822960" y="278892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Not all inmates can participate in educational and vocational programs.</a:t>
            </a:r>
            <a:endParaRPr lang="en-US" sz="1700" dirty="0"/>
          </a:p>
        </p:txBody>
      </p:sp>
      <p:sp>
        <p:nvSpPr>
          <p:cNvPr id="9" name="Shape 6"/>
          <p:cNvSpPr/>
          <p:nvPr/>
        </p:nvSpPr>
        <p:spPr>
          <a:xfrm>
            <a:off x="6172200" y="210312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0" name="Text 7"/>
          <p:cNvSpPr/>
          <p:nvPr/>
        </p:nvSpPr>
        <p:spPr>
          <a:xfrm>
            <a:off x="644652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02</a:t>
            </a:r>
            <a:endParaRPr lang="en-US" sz="2000" dirty="0"/>
          </a:p>
        </p:txBody>
      </p:sp>
      <p:sp>
        <p:nvSpPr>
          <p:cNvPr id="11" name="Text 8"/>
          <p:cNvSpPr/>
          <p:nvPr/>
        </p:nvSpPr>
        <p:spPr>
          <a:xfrm>
            <a:off x="6446520" y="278892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Rehabilitation activities may vary depending on facility capacity and resources.</a:t>
            </a:r>
            <a:endParaRPr lang="en-US" sz="1700" dirty="0"/>
          </a:p>
        </p:txBody>
      </p:sp>
      <p:sp>
        <p:nvSpPr>
          <p:cNvPr id="12" name="Shape 9"/>
          <p:cNvSpPr/>
          <p:nvPr/>
        </p:nvSpPr>
        <p:spPr>
          <a:xfrm>
            <a:off x="548640" y="411480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Text 10"/>
          <p:cNvSpPr/>
          <p:nvPr/>
        </p:nvSpPr>
        <p:spPr>
          <a:xfrm>
            <a:off x="82296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03</a:t>
            </a:r>
            <a:endParaRPr lang="en-US" sz="2000" dirty="0"/>
          </a:p>
        </p:txBody>
      </p:sp>
      <p:sp>
        <p:nvSpPr>
          <p:cNvPr id="14" name="Text 11"/>
          <p:cNvSpPr/>
          <p:nvPr/>
        </p:nvSpPr>
        <p:spPr>
          <a:xfrm>
            <a:off x="822960" y="480060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Some inmates may leave prison without sufficient preparation for reintegration.</a:t>
            </a:r>
            <a:endParaRPr lang="en-US" sz="1700" dirty="0"/>
          </a:p>
        </p:txBody>
      </p:sp>
      <p:sp>
        <p:nvSpPr>
          <p:cNvPr id="15" name="Shape 12"/>
          <p:cNvSpPr/>
          <p:nvPr/>
        </p:nvSpPr>
        <p:spPr>
          <a:xfrm>
            <a:off x="6172200" y="4114800"/>
            <a:ext cx="5440680" cy="178308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6" name="Text 13"/>
          <p:cNvSpPr/>
          <p:nvPr/>
        </p:nvSpPr>
        <p:spPr>
          <a:xfrm>
            <a:off x="644652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04</a:t>
            </a:r>
            <a:endParaRPr lang="en-US" sz="2000" dirty="0"/>
          </a:p>
        </p:txBody>
      </p:sp>
      <p:sp>
        <p:nvSpPr>
          <p:cNvPr id="17" name="Text 14"/>
          <p:cNvSpPr/>
          <p:nvPr/>
        </p:nvSpPr>
        <p:spPr>
          <a:xfrm>
            <a:off x="6446520" y="4800600"/>
            <a:ext cx="4892040" cy="960120"/>
          </a:xfrm>
          <a:prstGeom prst="rect">
            <a:avLst/>
          </a:prstGeom>
          <a:noFill/>
          <a:ln/>
        </p:spPr>
        <p:txBody>
          <a:bodyPr wrap="square" lIns="0" tIns="0" rIns="0" bIns="0" rtlCol="0" anchor="t"/>
          <a:lstStyle/>
          <a:p>
            <a:pPr marL="0" indent="0">
              <a:buNone/>
            </a:pPr>
            <a:r>
              <a:rPr lang="en-US" sz="1700" dirty="0">
                <a:solidFill>
                  <a:srgbClr val="1C2529"/>
                </a:solidFill>
                <a:latin typeface="Calibri" pitchFamily="34" charset="0"/>
                <a:ea typeface="Calibri" pitchFamily="34" charset="-122"/>
                <a:cs typeface="Calibri" pitchFamily="34" charset="-120"/>
              </a:rPr>
              <a:t>This can contribute to repeat offenses or difficulties in adapting to society.</a:t>
            </a:r>
            <a:endParaRPr lang="en-US" sz="1700" dirty="0"/>
          </a:p>
        </p:txBody>
      </p:sp>
      <p:sp>
        <p:nvSpPr>
          <p:cNvPr id="18" name="Text 1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19" name="Text 1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Opportunities</a:t>
            </a:r>
            <a:endParaRPr lang="en-US" sz="3600" dirty="0"/>
          </a:p>
        </p:txBody>
      </p:sp>
      <p:sp>
        <p:nvSpPr>
          <p:cNvPr id="4" name="Shape 2"/>
          <p:cNvSpPr/>
          <p:nvPr/>
        </p:nvSpPr>
        <p:spPr>
          <a:xfrm>
            <a:off x="548640" y="2194560"/>
            <a:ext cx="3520440" cy="329184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5" name="Shape 3"/>
          <p:cNvSpPr/>
          <p:nvPr/>
        </p:nvSpPr>
        <p:spPr>
          <a:xfrm>
            <a:off x="548640" y="5413248"/>
            <a:ext cx="3520440" cy="73152"/>
          </a:xfrm>
          <a:prstGeom prst="rect">
            <a:avLst/>
          </a:prstGeom>
          <a:solidFill>
            <a:srgbClr val="D4A017"/>
          </a:solidFill>
          <a:ln w="12700">
            <a:solidFill>
              <a:srgbClr val="D4A017"/>
            </a:solidFill>
            <a:prstDash val="solid"/>
          </a:ln>
        </p:spPr>
      </p:sp>
      <p:sp>
        <p:nvSpPr>
          <p:cNvPr id="6" name="Shape 4"/>
          <p:cNvSpPr/>
          <p:nvPr/>
        </p:nvSpPr>
        <p:spPr>
          <a:xfrm>
            <a:off x="868680" y="2606040"/>
            <a:ext cx="868680" cy="868680"/>
          </a:xfrm>
          <a:prstGeom prst="ellipse">
            <a:avLst/>
          </a:prstGeom>
          <a:solidFill>
            <a:srgbClr val="D4A017"/>
          </a:solidFill>
          <a:ln w="12700">
            <a:solidFill>
              <a:srgbClr val="D4A017"/>
            </a:solidFill>
            <a:prstDash val="solid"/>
          </a:ln>
        </p:spPr>
      </p:sp>
      <p:pic>
        <p:nvPicPr>
          <p:cNvPr id="7" name="Image 0" descr="preencoded.png"/>
          <p:cNvPicPr>
            <a:picLocks noChangeAspect="1"/>
          </p:cNvPicPr>
          <p:nvPr/>
        </p:nvPicPr>
        <p:blipFill>
          <a:blip r:embed="rId3"/>
          <a:stretch>
            <a:fillRect/>
          </a:stretch>
        </p:blipFill>
        <p:spPr>
          <a:xfrm>
            <a:off x="1085850" y="2823210"/>
            <a:ext cx="434340" cy="434340"/>
          </a:xfrm>
          <a:prstGeom prst="rect">
            <a:avLst/>
          </a:prstGeom>
        </p:spPr>
      </p:pic>
      <p:sp>
        <p:nvSpPr>
          <p:cNvPr id="8" name="Text 5"/>
          <p:cNvSpPr/>
          <p:nvPr/>
        </p:nvSpPr>
        <p:spPr>
          <a:xfrm>
            <a:off x="3108960" y="2606040"/>
            <a:ext cx="685800" cy="457200"/>
          </a:xfrm>
          <a:prstGeom prst="rect">
            <a:avLst/>
          </a:prstGeom>
          <a:noFill/>
          <a:ln/>
        </p:spPr>
        <p:txBody>
          <a:bodyPr wrap="square" lIns="0" tIns="0" rIns="0" bIns="0" rtlCol="0" anchor="ctr"/>
          <a:lstStyle/>
          <a:p>
            <a:pPr marL="0" indent="0" algn="r">
              <a:buNone/>
            </a:pPr>
            <a:r>
              <a:rPr lang="en-US" sz="2000" b="1" dirty="0">
                <a:solidFill>
                  <a:srgbClr val="4F6D99"/>
                </a:solidFill>
                <a:latin typeface="Georgia" pitchFamily="34" charset="0"/>
                <a:ea typeface="Georgia" pitchFamily="34" charset="-122"/>
                <a:cs typeface="Georgia" pitchFamily="34" charset="-120"/>
              </a:rPr>
              <a:t>01</a:t>
            </a:r>
            <a:endParaRPr lang="en-US" sz="2000" dirty="0"/>
          </a:p>
        </p:txBody>
      </p:sp>
      <p:sp>
        <p:nvSpPr>
          <p:cNvPr id="9" name="Text 6"/>
          <p:cNvSpPr/>
          <p:nvPr/>
        </p:nvSpPr>
        <p:spPr>
          <a:xfrm>
            <a:off x="868680" y="3794760"/>
            <a:ext cx="2971800" cy="1371600"/>
          </a:xfrm>
          <a:prstGeom prst="rect">
            <a:avLst/>
          </a:prstGeom>
          <a:noFill/>
          <a:ln/>
        </p:spPr>
        <p:txBody>
          <a:bodyPr wrap="square" lIns="0" tIns="0" rIns="0" bIns="0" rtlCol="0" anchor="t"/>
          <a:lstStyle/>
          <a:p>
            <a:pPr marL="0" indent="0">
              <a:buNone/>
            </a:pPr>
            <a:r>
              <a:rPr lang="en-US" sz="2100" b="1" dirty="0">
                <a:solidFill>
                  <a:srgbClr val="FFFFFF"/>
                </a:solidFill>
                <a:latin typeface="Georgia" pitchFamily="34" charset="0"/>
                <a:ea typeface="Georgia" pitchFamily="34" charset="-122"/>
                <a:cs typeface="Georgia" pitchFamily="34" charset="-120"/>
              </a:rPr>
              <a:t>MODERNIZATION OF CORRECTIONAL FACILITIES</a:t>
            </a:r>
            <a:endParaRPr lang="en-US" sz="2100" dirty="0"/>
          </a:p>
        </p:txBody>
      </p:sp>
      <p:sp>
        <p:nvSpPr>
          <p:cNvPr id="10" name="Shape 7"/>
          <p:cNvSpPr/>
          <p:nvPr/>
        </p:nvSpPr>
        <p:spPr>
          <a:xfrm>
            <a:off x="4343400" y="2194560"/>
            <a:ext cx="3520440" cy="329184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1" name="Shape 8"/>
          <p:cNvSpPr/>
          <p:nvPr/>
        </p:nvSpPr>
        <p:spPr>
          <a:xfrm>
            <a:off x="4343400" y="5413248"/>
            <a:ext cx="3520440" cy="73152"/>
          </a:xfrm>
          <a:prstGeom prst="rect">
            <a:avLst/>
          </a:prstGeom>
          <a:solidFill>
            <a:srgbClr val="D4A017"/>
          </a:solidFill>
          <a:ln w="12700">
            <a:solidFill>
              <a:srgbClr val="D4A017"/>
            </a:solidFill>
            <a:prstDash val="solid"/>
          </a:ln>
        </p:spPr>
      </p:sp>
      <p:sp>
        <p:nvSpPr>
          <p:cNvPr id="12" name="Shape 9"/>
          <p:cNvSpPr/>
          <p:nvPr/>
        </p:nvSpPr>
        <p:spPr>
          <a:xfrm>
            <a:off x="4663440" y="2606040"/>
            <a:ext cx="868680" cy="868680"/>
          </a:xfrm>
          <a:prstGeom prst="ellipse">
            <a:avLst/>
          </a:prstGeom>
          <a:solidFill>
            <a:srgbClr val="D4A017"/>
          </a:solidFill>
          <a:ln w="12700">
            <a:solidFill>
              <a:srgbClr val="D4A017"/>
            </a:solidFill>
            <a:prstDash val="solid"/>
          </a:ln>
        </p:spPr>
      </p:sp>
      <p:pic>
        <p:nvPicPr>
          <p:cNvPr id="13" name="Image 1" descr="preencoded.png"/>
          <p:cNvPicPr>
            <a:picLocks noChangeAspect="1"/>
          </p:cNvPicPr>
          <p:nvPr/>
        </p:nvPicPr>
        <p:blipFill>
          <a:blip r:embed="rId4"/>
          <a:stretch>
            <a:fillRect/>
          </a:stretch>
        </p:blipFill>
        <p:spPr>
          <a:xfrm>
            <a:off x="4880610" y="2823210"/>
            <a:ext cx="434340" cy="434340"/>
          </a:xfrm>
          <a:prstGeom prst="rect">
            <a:avLst/>
          </a:prstGeom>
        </p:spPr>
      </p:pic>
      <p:sp>
        <p:nvSpPr>
          <p:cNvPr id="14" name="Text 10"/>
          <p:cNvSpPr/>
          <p:nvPr/>
        </p:nvSpPr>
        <p:spPr>
          <a:xfrm>
            <a:off x="6903720" y="2606040"/>
            <a:ext cx="685800" cy="457200"/>
          </a:xfrm>
          <a:prstGeom prst="rect">
            <a:avLst/>
          </a:prstGeom>
          <a:noFill/>
          <a:ln/>
        </p:spPr>
        <p:txBody>
          <a:bodyPr wrap="square" lIns="0" tIns="0" rIns="0" bIns="0" rtlCol="0" anchor="ctr"/>
          <a:lstStyle/>
          <a:p>
            <a:pPr marL="0" indent="0" algn="r">
              <a:buNone/>
            </a:pPr>
            <a:r>
              <a:rPr lang="en-US" sz="2000" b="1" dirty="0">
                <a:solidFill>
                  <a:srgbClr val="4F6D99"/>
                </a:solidFill>
                <a:latin typeface="Georgia" pitchFamily="34" charset="0"/>
                <a:ea typeface="Georgia" pitchFamily="34" charset="-122"/>
                <a:cs typeface="Georgia" pitchFamily="34" charset="-120"/>
              </a:rPr>
              <a:t>02</a:t>
            </a:r>
            <a:endParaRPr lang="en-US" sz="2000" dirty="0"/>
          </a:p>
        </p:txBody>
      </p:sp>
      <p:sp>
        <p:nvSpPr>
          <p:cNvPr id="15" name="Text 11"/>
          <p:cNvSpPr/>
          <p:nvPr/>
        </p:nvSpPr>
        <p:spPr>
          <a:xfrm>
            <a:off x="4663440" y="3794760"/>
            <a:ext cx="2971800" cy="1371600"/>
          </a:xfrm>
          <a:prstGeom prst="rect">
            <a:avLst/>
          </a:prstGeom>
          <a:noFill/>
          <a:ln/>
        </p:spPr>
        <p:txBody>
          <a:bodyPr wrap="square" lIns="0" tIns="0" rIns="0" bIns="0" rtlCol="0" anchor="t"/>
          <a:lstStyle/>
          <a:p>
            <a:pPr marL="0" indent="0">
              <a:buNone/>
            </a:pPr>
            <a:r>
              <a:rPr lang="en-US" sz="2100" b="1" dirty="0">
                <a:solidFill>
                  <a:srgbClr val="FFFFFF"/>
                </a:solidFill>
                <a:latin typeface="Georgia" pitchFamily="34" charset="0"/>
                <a:ea typeface="Georgia" pitchFamily="34" charset="-122"/>
                <a:cs typeface="Georgia" pitchFamily="34" charset="-120"/>
              </a:rPr>
              <a:t>EXPANSION OF REHABILITATION PROGRAMS</a:t>
            </a:r>
            <a:endParaRPr lang="en-US" sz="2100" dirty="0"/>
          </a:p>
        </p:txBody>
      </p:sp>
      <p:sp>
        <p:nvSpPr>
          <p:cNvPr id="16" name="Shape 12"/>
          <p:cNvSpPr/>
          <p:nvPr/>
        </p:nvSpPr>
        <p:spPr>
          <a:xfrm>
            <a:off x="8138160" y="2194560"/>
            <a:ext cx="3520440" cy="329184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7" name="Shape 13"/>
          <p:cNvSpPr/>
          <p:nvPr/>
        </p:nvSpPr>
        <p:spPr>
          <a:xfrm>
            <a:off x="8138160" y="5413248"/>
            <a:ext cx="3520440" cy="73152"/>
          </a:xfrm>
          <a:prstGeom prst="rect">
            <a:avLst/>
          </a:prstGeom>
          <a:solidFill>
            <a:srgbClr val="D4A017"/>
          </a:solidFill>
          <a:ln w="12700">
            <a:solidFill>
              <a:srgbClr val="D4A017"/>
            </a:solidFill>
            <a:prstDash val="solid"/>
          </a:ln>
        </p:spPr>
      </p:sp>
      <p:sp>
        <p:nvSpPr>
          <p:cNvPr id="18" name="Shape 14"/>
          <p:cNvSpPr/>
          <p:nvPr/>
        </p:nvSpPr>
        <p:spPr>
          <a:xfrm>
            <a:off x="8458200" y="2606040"/>
            <a:ext cx="868680" cy="868680"/>
          </a:xfrm>
          <a:prstGeom prst="ellipse">
            <a:avLst/>
          </a:prstGeom>
          <a:solidFill>
            <a:srgbClr val="D4A017"/>
          </a:solidFill>
          <a:ln w="12700">
            <a:solidFill>
              <a:srgbClr val="D4A017"/>
            </a:solidFill>
            <a:prstDash val="solid"/>
          </a:ln>
        </p:spPr>
      </p:sp>
      <p:pic>
        <p:nvPicPr>
          <p:cNvPr id="19" name="Image 2" descr="preencoded.png"/>
          <p:cNvPicPr>
            <a:picLocks noChangeAspect="1"/>
          </p:cNvPicPr>
          <p:nvPr/>
        </p:nvPicPr>
        <p:blipFill>
          <a:blip r:embed="rId5"/>
          <a:stretch>
            <a:fillRect/>
          </a:stretch>
        </p:blipFill>
        <p:spPr>
          <a:xfrm>
            <a:off x="8675370" y="2823210"/>
            <a:ext cx="434340" cy="434340"/>
          </a:xfrm>
          <a:prstGeom prst="rect">
            <a:avLst/>
          </a:prstGeom>
        </p:spPr>
      </p:pic>
      <p:sp>
        <p:nvSpPr>
          <p:cNvPr id="20" name="Text 15"/>
          <p:cNvSpPr/>
          <p:nvPr/>
        </p:nvSpPr>
        <p:spPr>
          <a:xfrm>
            <a:off x="10698480" y="2606040"/>
            <a:ext cx="685800" cy="457200"/>
          </a:xfrm>
          <a:prstGeom prst="rect">
            <a:avLst/>
          </a:prstGeom>
          <a:noFill/>
          <a:ln/>
        </p:spPr>
        <p:txBody>
          <a:bodyPr wrap="square" lIns="0" tIns="0" rIns="0" bIns="0" rtlCol="0" anchor="ctr"/>
          <a:lstStyle/>
          <a:p>
            <a:pPr marL="0" indent="0" algn="r">
              <a:buNone/>
            </a:pPr>
            <a:r>
              <a:rPr lang="en-US" sz="2000" b="1" dirty="0">
                <a:solidFill>
                  <a:srgbClr val="4F6D99"/>
                </a:solidFill>
                <a:latin typeface="Georgia" pitchFamily="34" charset="0"/>
                <a:ea typeface="Georgia" pitchFamily="34" charset="-122"/>
                <a:cs typeface="Georgia" pitchFamily="34" charset="-120"/>
              </a:rPr>
              <a:t>03</a:t>
            </a:r>
            <a:endParaRPr lang="en-US" sz="2000" dirty="0"/>
          </a:p>
        </p:txBody>
      </p:sp>
      <p:sp>
        <p:nvSpPr>
          <p:cNvPr id="21" name="Text 16"/>
          <p:cNvSpPr/>
          <p:nvPr/>
        </p:nvSpPr>
        <p:spPr>
          <a:xfrm>
            <a:off x="8458200" y="3794760"/>
            <a:ext cx="2971800" cy="1371600"/>
          </a:xfrm>
          <a:prstGeom prst="rect">
            <a:avLst/>
          </a:prstGeom>
          <a:noFill/>
          <a:ln/>
        </p:spPr>
        <p:txBody>
          <a:bodyPr wrap="square" lIns="0" tIns="0" rIns="0" bIns="0" rtlCol="0" anchor="t"/>
          <a:lstStyle/>
          <a:p>
            <a:pPr marL="0" indent="0">
              <a:buNone/>
            </a:pPr>
            <a:r>
              <a:rPr lang="en-US" sz="2100" b="1" dirty="0">
                <a:solidFill>
                  <a:srgbClr val="FFFFFF"/>
                </a:solidFill>
                <a:latin typeface="Georgia" pitchFamily="34" charset="0"/>
                <a:ea typeface="Georgia" pitchFamily="34" charset="-122"/>
                <a:cs typeface="Georgia" pitchFamily="34" charset="-120"/>
              </a:rPr>
              <a:t>PARTNERSHIPS AND COMMUNITY SUPPORT</a:t>
            </a:r>
            <a:endParaRPr lang="en-US" sz="2100" dirty="0"/>
          </a:p>
        </p:txBody>
      </p:sp>
      <p:sp>
        <p:nvSpPr>
          <p:cNvPr id="22"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23"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OPPORTUNITIES · 1</a:t>
            </a:r>
            <a:endParaRPr lang="en-US" sz="1200" dirty="0"/>
          </a:p>
        </p:txBody>
      </p:sp>
      <p:sp>
        <p:nvSpPr>
          <p:cNvPr id="3" name="Shape 1"/>
          <p:cNvSpPr/>
          <p:nvPr/>
        </p:nvSpPr>
        <p:spPr>
          <a:xfrm>
            <a:off x="548640" y="914400"/>
            <a:ext cx="731520" cy="731520"/>
          </a:xfrm>
          <a:prstGeom prst="ellipse">
            <a:avLst/>
          </a:prstGeom>
          <a:solidFill>
            <a:srgbClr val="D4A017"/>
          </a:solidFill>
          <a:ln w="12700">
            <a:solidFill>
              <a:srgbClr val="D4A017"/>
            </a:solidFill>
            <a:prstDash val="solid"/>
          </a:ln>
        </p:spPr>
      </p:sp>
      <p:pic>
        <p:nvPicPr>
          <p:cNvPr id="4" name="Image 0" descr="preencoded.png"/>
          <p:cNvPicPr>
            <a:picLocks noChangeAspect="1"/>
          </p:cNvPicPr>
          <p:nvPr/>
        </p:nvPicPr>
        <p:blipFill>
          <a:blip r:embed="rId3"/>
          <a:stretch>
            <a:fillRect/>
          </a:stretch>
        </p:blipFill>
        <p:spPr>
          <a:xfrm>
            <a:off x="731520" y="1097280"/>
            <a:ext cx="365760" cy="365760"/>
          </a:xfrm>
          <a:prstGeom prst="rect">
            <a:avLst/>
          </a:prstGeom>
        </p:spPr>
      </p:pic>
      <p:sp>
        <p:nvSpPr>
          <p:cNvPr id="5" name="Text 2"/>
          <p:cNvSpPr/>
          <p:nvPr/>
        </p:nvSpPr>
        <p:spPr>
          <a:xfrm>
            <a:off x="1463040" y="868680"/>
            <a:ext cx="10058400" cy="82296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Modernization of Correctional Facilities</a:t>
            </a:r>
            <a:endParaRPr lang="en-US" sz="3000" dirty="0"/>
          </a:p>
        </p:txBody>
      </p:sp>
      <p:sp>
        <p:nvSpPr>
          <p:cNvPr id="6" name="Shape 3"/>
          <p:cNvSpPr/>
          <p:nvPr/>
        </p:nvSpPr>
        <p:spPr>
          <a:xfrm>
            <a:off x="548640" y="210312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7" name="Text 4"/>
          <p:cNvSpPr/>
          <p:nvPr/>
        </p:nvSpPr>
        <p:spPr>
          <a:xfrm>
            <a:off x="82296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01</a:t>
            </a:r>
            <a:endParaRPr lang="en-US" sz="2000" dirty="0"/>
          </a:p>
        </p:txBody>
      </p:sp>
      <p:sp>
        <p:nvSpPr>
          <p:cNvPr id="8" name="Text 5"/>
          <p:cNvSpPr/>
          <p:nvPr/>
        </p:nvSpPr>
        <p:spPr>
          <a:xfrm>
            <a:off x="822960" y="278892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Modernize prison facilities to improve living conditions and security.</a:t>
            </a:r>
            <a:endParaRPr lang="en-US" sz="1700" dirty="0"/>
          </a:p>
        </p:txBody>
      </p:sp>
      <p:sp>
        <p:nvSpPr>
          <p:cNvPr id="9" name="Shape 6"/>
          <p:cNvSpPr/>
          <p:nvPr/>
        </p:nvSpPr>
        <p:spPr>
          <a:xfrm>
            <a:off x="6172200" y="210312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0" name="Text 7"/>
          <p:cNvSpPr/>
          <p:nvPr/>
        </p:nvSpPr>
        <p:spPr>
          <a:xfrm>
            <a:off x="644652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02</a:t>
            </a:r>
            <a:endParaRPr lang="en-US" sz="2000" dirty="0"/>
          </a:p>
        </p:txBody>
      </p:sp>
      <p:sp>
        <p:nvSpPr>
          <p:cNvPr id="11" name="Text 8"/>
          <p:cNvSpPr/>
          <p:nvPr/>
        </p:nvSpPr>
        <p:spPr>
          <a:xfrm>
            <a:off x="6446520" y="278892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Adopt digital record management systems for efficient inmate monitoring.</a:t>
            </a:r>
            <a:endParaRPr lang="en-US" sz="1700" dirty="0"/>
          </a:p>
        </p:txBody>
      </p:sp>
      <p:sp>
        <p:nvSpPr>
          <p:cNvPr id="12" name="Shape 9"/>
          <p:cNvSpPr/>
          <p:nvPr/>
        </p:nvSpPr>
        <p:spPr>
          <a:xfrm>
            <a:off x="548640" y="411480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3" name="Text 10"/>
          <p:cNvSpPr/>
          <p:nvPr/>
        </p:nvSpPr>
        <p:spPr>
          <a:xfrm>
            <a:off x="82296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03</a:t>
            </a:r>
            <a:endParaRPr lang="en-US" sz="2000" dirty="0"/>
          </a:p>
        </p:txBody>
      </p:sp>
      <p:sp>
        <p:nvSpPr>
          <p:cNvPr id="14" name="Text 11"/>
          <p:cNvSpPr/>
          <p:nvPr/>
        </p:nvSpPr>
        <p:spPr>
          <a:xfrm>
            <a:off x="822960" y="480060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Improve healthcare, sanitation, and housing within correctional institutions.</a:t>
            </a:r>
            <a:endParaRPr lang="en-US" sz="1700" dirty="0"/>
          </a:p>
        </p:txBody>
      </p:sp>
      <p:sp>
        <p:nvSpPr>
          <p:cNvPr id="15" name="Shape 12"/>
          <p:cNvSpPr/>
          <p:nvPr/>
        </p:nvSpPr>
        <p:spPr>
          <a:xfrm>
            <a:off x="6172200" y="411480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6" name="Text 13"/>
          <p:cNvSpPr/>
          <p:nvPr/>
        </p:nvSpPr>
        <p:spPr>
          <a:xfrm>
            <a:off x="644652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04</a:t>
            </a:r>
            <a:endParaRPr lang="en-US" sz="2000" dirty="0"/>
          </a:p>
        </p:txBody>
      </p:sp>
      <p:sp>
        <p:nvSpPr>
          <p:cNvPr id="17" name="Text 14"/>
          <p:cNvSpPr/>
          <p:nvPr/>
        </p:nvSpPr>
        <p:spPr>
          <a:xfrm>
            <a:off x="6446520" y="480060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Enhance safety for both inmates and correctional personnel.</a:t>
            </a:r>
            <a:endParaRPr lang="en-US" sz="1700" dirty="0"/>
          </a:p>
        </p:txBody>
      </p:sp>
      <p:sp>
        <p:nvSpPr>
          <p:cNvPr id="18" name="Text 1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19" name="Text 1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OPPORTUNITIES · 2</a:t>
            </a:r>
            <a:endParaRPr lang="en-US" sz="1200" dirty="0"/>
          </a:p>
        </p:txBody>
      </p:sp>
      <p:sp>
        <p:nvSpPr>
          <p:cNvPr id="3" name="Shape 1"/>
          <p:cNvSpPr/>
          <p:nvPr/>
        </p:nvSpPr>
        <p:spPr>
          <a:xfrm>
            <a:off x="548640" y="914400"/>
            <a:ext cx="731520" cy="731520"/>
          </a:xfrm>
          <a:prstGeom prst="ellipse">
            <a:avLst/>
          </a:prstGeom>
          <a:solidFill>
            <a:srgbClr val="D4A017"/>
          </a:solidFill>
          <a:ln w="12700">
            <a:solidFill>
              <a:srgbClr val="D4A017"/>
            </a:solidFill>
            <a:prstDash val="solid"/>
          </a:ln>
        </p:spPr>
      </p:sp>
      <p:pic>
        <p:nvPicPr>
          <p:cNvPr id="4" name="Image 0" descr="preencoded.png"/>
          <p:cNvPicPr>
            <a:picLocks noChangeAspect="1"/>
          </p:cNvPicPr>
          <p:nvPr/>
        </p:nvPicPr>
        <p:blipFill>
          <a:blip r:embed="rId3"/>
          <a:stretch>
            <a:fillRect/>
          </a:stretch>
        </p:blipFill>
        <p:spPr>
          <a:xfrm>
            <a:off x="731520" y="1097280"/>
            <a:ext cx="365760" cy="365760"/>
          </a:xfrm>
          <a:prstGeom prst="rect">
            <a:avLst/>
          </a:prstGeom>
        </p:spPr>
      </p:pic>
      <p:sp>
        <p:nvSpPr>
          <p:cNvPr id="5" name="Text 2"/>
          <p:cNvSpPr/>
          <p:nvPr/>
        </p:nvSpPr>
        <p:spPr>
          <a:xfrm>
            <a:off x="1463040" y="868680"/>
            <a:ext cx="10058400" cy="82296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Expansion of Rehabilitation Programs</a:t>
            </a:r>
            <a:endParaRPr lang="en-US" sz="3000" dirty="0"/>
          </a:p>
        </p:txBody>
      </p:sp>
      <p:sp>
        <p:nvSpPr>
          <p:cNvPr id="6" name="Shape 3"/>
          <p:cNvSpPr/>
          <p:nvPr/>
        </p:nvSpPr>
        <p:spPr>
          <a:xfrm>
            <a:off x="548640" y="210312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7" name="Text 4"/>
          <p:cNvSpPr/>
          <p:nvPr/>
        </p:nvSpPr>
        <p:spPr>
          <a:xfrm>
            <a:off x="82296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01</a:t>
            </a:r>
            <a:endParaRPr lang="en-US" sz="2000" dirty="0"/>
          </a:p>
        </p:txBody>
      </p:sp>
      <p:sp>
        <p:nvSpPr>
          <p:cNvPr id="8" name="Text 5"/>
          <p:cNvSpPr/>
          <p:nvPr/>
        </p:nvSpPr>
        <p:spPr>
          <a:xfrm>
            <a:off x="822960" y="278892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Expand educational and vocational training programs.</a:t>
            </a:r>
            <a:endParaRPr lang="en-US" sz="1700" dirty="0"/>
          </a:p>
        </p:txBody>
      </p:sp>
      <p:sp>
        <p:nvSpPr>
          <p:cNvPr id="9" name="Shape 6"/>
          <p:cNvSpPr/>
          <p:nvPr/>
        </p:nvSpPr>
        <p:spPr>
          <a:xfrm>
            <a:off x="6172200" y="210312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0" name="Text 7"/>
          <p:cNvSpPr/>
          <p:nvPr/>
        </p:nvSpPr>
        <p:spPr>
          <a:xfrm>
            <a:off x="644652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02</a:t>
            </a:r>
            <a:endParaRPr lang="en-US" sz="2000" dirty="0"/>
          </a:p>
        </p:txBody>
      </p:sp>
      <p:sp>
        <p:nvSpPr>
          <p:cNvPr id="11" name="Text 8"/>
          <p:cNvSpPr/>
          <p:nvPr/>
        </p:nvSpPr>
        <p:spPr>
          <a:xfrm>
            <a:off x="6446520" y="278892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Offer more livelihood opportunities and skills certification.</a:t>
            </a:r>
            <a:endParaRPr lang="en-US" sz="1700" dirty="0"/>
          </a:p>
        </p:txBody>
      </p:sp>
      <p:sp>
        <p:nvSpPr>
          <p:cNvPr id="12" name="Shape 9"/>
          <p:cNvSpPr/>
          <p:nvPr/>
        </p:nvSpPr>
        <p:spPr>
          <a:xfrm>
            <a:off x="548640" y="411480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3" name="Text 10"/>
          <p:cNvSpPr/>
          <p:nvPr/>
        </p:nvSpPr>
        <p:spPr>
          <a:xfrm>
            <a:off x="82296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03</a:t>
            </a:r>
            <a:endParaRPr lang="en-US" sz="2000" dirty="0"/>
          </a:p>
        </p:txBody>
      </p:sp>
      <p:sp>
        <p:nvSpPr>
          <p:cNvPr id="14" name="Text 11"/>
          <p:cNvSpPr/>
          <p:nvPr/>
        </p:nvSpPr>
        <p:spPr>
          <a:xfrm>
            <a:off x="822960" y="480060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Increase access to counseling, mental health, and behavioral interventions.</a:t>
            </a:r>
            <a:endParaRPr lang="en-US" sz="1700" dirty="0"/>
          </a:p>
        </p:txBody>
      </p:sp>
      <p:sp>
        <p:nvSpPr>
          <p:cNvPr id="15" name="Shape 12"/>
          <p:cNvSpPr/>
          <p:nvPr/>
        </p:nvSpPr>
        <p:spPr>
          <a:xfrm>
            <a:off x="6172200" y="411480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6" name="Text 13"/>
          <p:cNvSpPr/>
          <p:nvPr/>
        </p:nvSpPr>
        <p:spPr>
          <a:xfrm>
            <a:off x="644652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04</a:t>
            </a:r>
            <a:endParaRPr lang="en-US" sz="2000" dirty="0"/>
          </a:p>
        </p:txBody>
      </p:sp>
      <p:sp>
        <p:nvSpPr>
          <p:cNvPr id="17" name="Text 14"/>
          <p:cNvSpPr/>
          <p:nvPr/>
        </p:nvSpPr>
        <p:spPr>
          <a:xfrm>
            <a:off x="6446520" y="480060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Equip inmates with skills needed for employment after release.</a:t>
            </a:r>
            <a:endParaRPr lang="en-US" sz="1700" dirty="0"/>
          </a:p>
        </p:txBody>
      </p:sp>
      <p:sp>
        <p:nvSpPr>
          <p:cNvPr id="18" name="Text 1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19" name="Text 1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OPPORTUNITIES · 3</a:t>
            </a:r>
            <a:endParaRPr lang="en-US" sz="1200" dirty="0"/>
          </a:p>
        </p:txBody>
      </p:sp>
      <p:sp>
        <p:nvSpPr>
          <p:cNvPr id="3" name="Shape 1"/>
          <p:cNvSpPr/>
          <p:nvPr/>
        </p:nvSpPr>
        <p:spPr>
          <a:xfrm>
            <a:off x="548640" y="914400"/>
            <a:ext cx="731520" cy="731520"/>
          </a:xfrm>
          <a:prstGeom prst="ellipse">
            <a:avLst/>
          </a:prstGeom>
          <a:solidFill>
            <a:srgbClr val="D4A017"/>
          </a:solidFill>
          <a:ln w="12700">
            <a:solidFill>
              <a:srgbClr val="D4A017"/>
            </a:solidFill>
            <a:prstDash val="solid"/>
          </a:ln>
        </p:spPr>
      </p:sp>
      <p:pic>
        <p:nvPicPr>
          <p:cNvPr id="4" name="Image 0" descr="preencoded.png"/>
          <p:cNvPicPr>
            <a:picLocks noChangeAspect="1"/>
          </p:cNvPicPr>
          <p:nvPr/>
        </p:nvPicPr>
        <p:blipFill>
          <a:blip r:embed="rId3"/>
          <a:stretch>
            <a:fillRect/>
          </a:stretch>
        </p:blipFill>
        <p:spPr>
          <a:xfrm>
            <a:off x="731520" y="1097280"/>
            <a:ext cx="365760" cy="365760"/>
          </a:xfrm>
          <a:prstGeom prst="rect">
            <a:avLst/>
          </a:prstGeom>
        </p:spPr>
      </p:pic>
      <p:sp>
        <p:nvSpPr>
          <p:cNvPr id="5" name="Text 2"/>
          <p:cNvSpPr/>
          <p:nvPr/>
        </p:nvSpPr>
        <p:spPr>
          <a:xfrm>
            <a:off x="1463040" y="868680"/>
            <a:ext cx="10058400" cy="82296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Partnerships and Community Support</a:t>
            </a:r>
            <a:endParaRPr lang="en-US" sz="3000" dirty="0"/>
          </a:p>
        </p:txBody>
      </p:sp>
      <p:sp>
        <p:nvSpPr>
          <p:cNvPr id="6" name="Shape 3"/>
          <p:cNvSpPr/>
          <p:nvPr/>
        </p:nvSpPr>
        <p:spPr>
          <a:xfrm>
            <a:off x="548640" y="210312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7" name="Text 4"/>
          <p:cNvSpPr/>
          <p:nvPr/>
        </p:nvSpPr>
        <p:spPr>
          <a:xfrm>
            <a:off x="82296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01</a:t>
            </a:r>
            <a:endParaRPr lang="en-US" sz="2000" dirty="0"/>
          </a:p>
        </p:txBody>
      </p:sp>
      <p:sp>
        <p:nvSpPr>
          <p:cNvPr id="8" name="Text 5"/>
          <p:cNvSpPr/>
          <p:nvPr/>
        </p:nvSpPr>
        <p:spPr>
          <a:xfrm>
            <a:off x="822960" y="278892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Partner with NGOs, educational institutions, and private organizations.</a:t>
            </a:r>
            <a:endParaRPr lang="en-US" sz="1700" dirty="0"/>
          </a:p>
        </p:txBody>
      </p:sp>
      <p:sp>
        <p:nvSpPr>
          <p:cNvPr id="9" name="Shape 6"/>
          <p:cNvSpPr/>
          <p:nvPr/>
        </p:nvSpPr>
        <p:spPr>
          <a:xfrm>
            <a:off x="6172200" y="210312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0" name="Text 7"/>
          <p:cNvSpPr/>
          <p:nvPr/>
        </p:nvSpPr>
        <p:spPr>
          <a:xfrm>
            <a:off x="6446520" y="233172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02</a:t>
            </a:r>
            <a:endParaRPr lang="en-US" sz="2000" dirty="0"/>
          </a:p>
        </p:txBody>
      </p:sp>
      <p:sp>
        <p:nvSpPr>
          <p:cNvPr id="11" name="Text 8"/>
          <p:cNvSpPr/>
          <p:nvPr/>
        </p:nvSpPr>
        <p:spPr>
          <a:xfrm>
            <a:off x="6446520" y="278892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Develop employment opportunities for former inmates.</a:t>
            </a:r>
            <a:endParaRPr lang="en-US" sz="1700" dirty="0"/>
          </a:p>
        </p:txBody>
      </p:sp>
      <p:sp>
        <p:nvSpPr>
          <p:cNvPr id="12" name="Shape 9"/>
          <p:cNvSpPr/>
          <p:nvPr/>
        </p:nvSpPr>
        <p:spPr>
          <a:xfrm>
            <a:off x="548640" y="411480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3" name="Text 10"/>
          <p:cNvSpPr/>
          <p:nvPr/>
        </p:nvSpPr>
        <p:spPr>
          <a:xfrm>
            <a:off x="82296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03</a:t>
            </a:r>
            <a:endParaRPr lang="en-US" sz="2000" dirty="0"/>
          </a:p>
        </p:txBody>
      </p:sp>
      <p:sp>
        <p:nvSpPr>
          <p:cNvPr id="14" name="Text 11"/>
          <p:cNvSpPr/>
          <p:nvPr/>
        </p:nvSpPr>
        <p:spPr>
          <a:xfrm>
            <a:off x="822960" y="480060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Encourage community-based reintegration programs.</a:t>
            </a:r>
            <a:endParaRPr lang="en-US" sz="1700" dirty="0"/>
          </a:p>
        </p:txBody>
      </p:sp>
      <p:sp>
        <p:nvSpPr>
          <p:cNvPr id="15" name="Shape 12"/>
          <p:cNvSpPr/>
          <p:nvPr/>
        </p:nvSpPr>
        <p:spPr>
          <a:xfrm>
            <a:off x="6172200" y="4114800"/>
            <a:ext cx="5440680" cy="1783080"/>
          </a:xfrm>
          <a:prstGeom prst="rect">
            <a:avLst/>
          </a:prstGeom>
          <a:solidFill>
            <a:srgbClr val="132C52"/>
          </a:solidFill>
          <a:ln w="9525">
            <a:solidFill>
              <a:srgbClr val="2A4670"/>
            </a:solidFill>
            <a:prstDash val="solid"/>
          </a:ln>
          <a:effectLst>
            <a:outerShdw blurRad="101600" dist="25400" dir="5400000" algn="bl" rotWithShape="0">
              <a:srgbClr val="000000">
                <a:alpha val="12000"/>
              </a:srgbClr>
            </a:outerShdw>
          </a:effectLst>
        </p:spPr>
      </p:sp>
      <p:sp>
        <p:nvSpPr>
          <p:cNvPr id="16" name="Text 13"/>
          <p:cNvSpPr/>
          <p:nvPr/>
        </p:nvSpPr>
        <p:spPr>
          <a:xfrm>
            <a:off x="6446520" y="4343400"/>
            <a:ext cx="914400" cy="411480"/>
          </a:xfrm>
          <a:prstGeom prst="rect">
            <a:avLst/>
          </a:prstGeom>
          <a:noFill/>
          <a:ln/>
        </p:spPr>
        <p:txBody>
          <a:bodyPr wrap="square" lIns="0" tIns="0" rIns="0" bIns="0" rtlCol="0" anchor="ctr"/>
          <a:lstStyle/>
          <a:p>
            <a:pPr marL="0" indent="0">
              <a:buNone/>
            </a:pPr>
            <a:r>
              <a:rPr lang="en-US" sz="2000" b="1" dirty="0">
                <a:solidFill>
                  <a:srgbClr val="D4A017"/>
                </a:solidFill>
                <a:latin typeface="Georgia" pitchFamily="34" charset="0"/>
                <a:ea typeface="Georgia" pitchFamily="34" charset="-122"/>
                <a:cs typeface="Georgia" pitchFamily="34" charset="-120"/>
              </a:rPr>
              <a:t>04</a:t>
            </a:r>
            <a:endParaRPr lang="en-US" sz="2000" dirty="0"/>
          </a:p>
        </p:txBody>
      </p:sp>
      <p:sp>
        <p:nvSpPr>
          <p:cNvPr id="17" name="Text 14"/>
          <p:cNvSpPr/>
          <p:nvPr/>
        </p:nvSpPr>
        <p:spPr>
          <a:xfrm>
            <a:off x="6446520" y="4800600"/>
            <a:ext cx="4892040" cy="96012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Promote public awareness to reduce stigma against ex-offenders.</a:t>
            </a:r>
            <a:endParaRPr lang="en-US" sz="1700" dirty="0"/>
          </a:p>
        </p:txBody>
      </p:sp>
      <p:sp>
        <p:nvSpPr>
          <p:cNvPr id="18" name="Text 1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19" name="Text 1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Threats</a:t>
            </a:r>
            <a:endParaRPr lang="en-US" sz="3600" dirty="0"/>
          </a:p>
        </p:txBody>
      </p:sp>
      <p:sp>
        <p:nvSpPr>
          <p:cNvPr id="4" name="Shape 2"/>
          <p:cNvSpPr/>
          <p:nvPr/>
        </p:nvSpPr>
        <p:spPr>
          <a:xfrm>
            <a:off x="548640" y="2194560"/>
            <a:ext cx="352044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5" name="Shape 3"/>
          <p:cNvSpPr/>
          <p:nvPr/>
        </p:nvSpPr>
        <p:spPr>
          <a:xfrm>
            <a:off x="548640" y="5413248"/>
            <a:ext cx="3520440" cy="73152"/>
          </a:xfrm>
          <a:prstGeom prst="rect">
            <a:avLst/>
          </a:prstGeom>
          <a:solidFill>
            <a:srgbClr val="D4A017"/>
          </a:solidFill>
          <a:ln w="12700">
            <a:solidFill>
              <a:srgbClr val="D4A017"/>
            </a:solidFill>
            <a:prstDash val="solid"/>
          </a:ln>
        </p:spPr>
      </p:sp>
      <p:sp>
        <p:nvSpPr>
          <p:cNvPr id="6" name="Shape 4"/>
          <p:cNvSpPr/>
          <p:nvPr/>
        </p:nvSpPr>
        <p:spPr>
          <a:xfrm>
            <a:off x="868680" y="2606040"/>
            <a:ext cx="868680" cy="868680"/>
          </a:xfrm>
          <a:prstGeom prst="ellipse">
            <a:avLst/>
          </a:prstGeom>
          <a:solidFill>
            <a:srgbClr val="D4A017"/>
          </a:solidFill>
          <a:ln w="12700">
            <a:solidFill>
              <a:srgbClr val="D4A017"/>
            </a:solidFill>
            <a:prstDash val="solid"/>
          </a:ln>
        </p:spPr>
      </p:sp>
      <p:pic>
        <p:nvPicPr>
          <p:cNvPr id="7" name="Image 0" descr="preencoded.png"/>
          <p:cNvPicPr>
            <a:picLocks noChangeAspect="1"/>
          </p:cNvPicPr>
          <p:nvPr/>
        </p:nvPicPr>
        <p:blipFill>
          <a:blip r:embed="rId3"/>
          <a:stretch>
            <a:fillRect/>
          </a:stretch>
        </p:blipFill>
        <p:spPr>
          <a:xfrm>
            <a:off x="1085850" y="2823210"/>
            <a:ext cx="434340" cy="434340"/>
          </a:xfrm>
          <a:prstGeom prst="rect">
            <a:avLst/>
          </a:prstGeom>
        </p:spPr>
      </p:pic>
      <p:sp>
        <p:nvSpPr>
          <p:cNvPr id="8" name="Text 5"/>
          <p:cNvSpPr/>
          <p:nvPr/>
        </p:nvSpPr>
        <p:spPr>
          <a:xfrm>
            <a:off x="310896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01</a:t>
            </a:r>
            <a:endParaRPr lang="en-US" sz="2000" dirty="0"/>
          </a:p>
        </p:txBody>
      </p:sp>
      <p:sp>
        <p:nvSpPr>
          <p:cNvPr id="9" name="Text 6"/>
          <p:cNvSpPr/>
          <p:nvPr/>
        </p:nvSpPr>
        <p:spPr>
          <a:xfrm>
            <a:off x="868680" y="3794760"/>
            <a:ext cx="2971800" cy="1371600"/>
          </a:xfrm>
          <a:prstGeom prst="rect">
            <a:avLst/>
          </a:prstGeom>
          <a:noFill/>
          <a:ln/>
        </p:spPr>
        <p:txBody>
          <a:bodyPr wrap="square" lIns="0" tIns="0" rIns="0" bIns="0" rtlCol="0" anchor="t"/>
          <a:lstStyle/>
          <a:p>
            <a:pPr marL="0" indent="0">
              <a:buNone/>
            </a:pPr>
            <a:r>
              <a:rPr lang="en-US" sz="2100" b="1" dirty="0">
                <a:solidFill>
                  <a:srgbClr val="0B1F3A"/>
                </a:solidFill>
                <a:latin typeface="Georgia" pitchFamily="34" charset="0"/>
                <a:ea typeface="Georgia" pitchFamily="34" charset="-122"/>
                <a:cs typeface="Georgia" pitchFamily="34" charset="-120"/>
              </a:rPr>
              <a:t>Increasing Inmate Population</a:t>
            </a:r>
            <a:endParaRPr lang="en-US" sz="2100" dirty="0"/>
          </a:p>
        </p:txBody>
      </p:sp>
      <p:sp>
        <p:nvSpPr>
          <p:cNvPr id="10" name="Shape 7"/>
          <p:cNvSpPr/>
          <p:nvPr/>
        </p:nvSpPr>
        <p:spPr>
          <a:xfrm>
            <a:off x="4343400" y="2194560"/>
            <a:ext cx="352044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1" name="Shape 8"/>
          <p:cNvSpPr/>
          <p:nvPr/>
        </p:nvSpPr>
        <p:spPr>
          <a:xfrm>
            <a:off x="4343400" y="5413248"/>
            <a:ext cx="3520440" cy="73152"/>
          </a:xfrm>
          <a:prstGeom prst="rect">
            <a:avLst/>
          </a:prstGeom>
          <a:solidFill>
            <a:srgbClr val="D4A017"/>
          </a:solidFill>
          <a:ln w="12700">
            <a:solidFill>
              <a:srgbClr val="D4A017"/>
            </a:solidFill>
            <a:prstDash val="solid"/>
          </a:ln>
        </p:spPr>
      </p:sp>
      <p:sp>
        <p:nvSpPr>
          <p:cNvPr id="12" name="Shape 9"/>
          <p:cNvSpPr/>
          <p:nvPr/>
        </p:nvSpPr>
        <p:spPr>
          <a:xfrm>
            <a:off x="4663440" y="2606040"/>
            <a:ext cx="868680" cy="868680"/>
          </a:xfrm>
          <a:prstGeom prst="ellipse">
            <a:avLst/>
          </a:prstGeom>
          <a:solidFill>
            <a:srgbClr val="D4A017"/>
          </a:solidFill>
          <a:ln w="12700">
            <a:solidFill>
              <a:srgbClr val="D4A017"/>
            </a:solidFill>
            <a:prstDash val="solid"/>
          </a:ln>
        </p:spPr>
      </p:sp>
      <p:pic>
        <p:nvPicPr>
          <p:cNvPr id="13" name="Image 1" descr="preencoded.png"/>
          <p:cNvPicPr>
            <a:picLocks noChangeAspect="1"/>
          </p:cNvPicPr>
          <p:nvPr/>
        </p:nvPicPr>
        <p:blipFill>
          <a:blip r:embed="rId4"/>
          <a:stretch>
            <a:fillRect/>
          </a:stretch>
        </p:blipFill>
        <p:spPr>
          <a:xfrm>
            <a:off x="4880610" y="2823210"/>
            <a:ext cx="434340" cy="434340"/>
          </a:xfrm>
          <a:prstGeom prst="rect">
            <a:avLst/>
          </a:prstGeom>
        </p:spPr>
      </p:pic>
      <p:sp>
        <p:nvSpPr>
          <p:cNvPr id="14" name="Text 10"/>
          <p:cNvSpPr/>
          <p:nvPr/>
        </p:nvSpPr>
        <p:spPr>
          <a:xfrm>
            <a:off x="690372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02</a:t>
            </a:r>
            <a:endParaRPr lang="en-US" sz="2000" dirty="0"/>
          </a:p>
        </p:txBody>
      </p:sp>
      <p:sp>
        <p:nvSpPr>
          <p:cNvPr id="15" name="Text 11"/>
          <p:cNvSpPr/>
          <p:nvPr/>
        </p:nvSpPr>
        <p:spPr>
          <a:xfrm>
            <a:off x="4663440" y="3794760"/>
            <a:ext cx="2971800" cy="1371600"/>
          </a:xfrm>
          <a:prstGeom prst="rect">
            <a:avLst/>
          </a:prstGeom>
          <a:noFill/>
          <a:ln/>
        </p:spPr>
        <p:txBody>
          <a:bodyPr wrap="square" lIns="0" tIns="0" rIns="0" bIns="0" rtlCol="0" anchor="t"/>
          <a:lstStyle/>
          <a:p>
            <a:pPr marL="0" indent="0">
              <a:buNone/>
            </a:pPr>
            <a:r>
              <a:rPr lang="en-US" sz="2100" b="1" dirty="0">
                <a:solidFill>
                  <a:srgbClr val="0B1F3A"/>
                </a:solidFill>
                <a:latin typeface="Georgia" pitchFamily="34" charset="0"/>
                <a:ea typeface="Georgia" pitchFamily="34" charset="-122"/>
                <a:cs typeface="Georgia" pitchFamily="34" charset="-120"/>
              </a:rPr>
              <a:t>Security Risks and Prison Violence</a:t>
            </a:r>
            <a:endParaRPr lang="en-US" sz="2100" dirty="0"/>
          </a:p>
        </p:txBody>
      </p:sp>
      <p:sp>
        <p:nvSpPr>
          <p:cNvPr id="16" name="Shape 12"/>
          <p:cNvSpPr/>
          <p:nvPr/>
        </p:nvSpPr>
        <p:spPr>
          <a:xfrm>
            <a:off x="8138160" y="2194560"/>
            <a:ext cx="3520440" cy="32918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3"/>
          <p:cNvSpPr/>
          <p:nvPr/>
        </p:nvSpPr>
        <p:spPr>
          <a:xfrm>
            <a:off x="8138160" y="5413248"/>
            <a:ext cx="3520440" cy="73152"/>
          </a:xfrm>
          <a:prstGeom prst="rect">
            <a:avLst/>
          </a:prstGeom>
          <a:solidFill>
            <a:srgbClr val="D4A017"/>
          </a:solidFill>
          <a:ln w="12700">
            <a:solidFill>
              <a:srgbClr val="D4A017"/>
            </a:solidFill>
            <a:prstDash val="solid"/>
          </a:ln>
        </p:spPr>
      </p:sp>
      <p:sp>
        <p:nvSpPr>
          <p:cNvPr id="18" name="Shape 14"/>
          <p:cNvSpPr/>
          <p:nvPr/>
        </p:nvSpPr>
        <p:spPr>
          <a:xfrm>
            <a:off x="8458200" y="2606040"/>
            <a:ext cx="868680" cy="868680"/>
          </a:xfrm>
          <a:prstGeom prst="ellipse">
            <a:avLst/>
          </a:prstGeom>
          <a:solidFill>
            <a:srgbClr val="D4A017"/>
          </a:solidFill>
          <a:ln w="12700">
            <a:solidFill>
              <a:srgbClr val="D4A017"/>
            </a:solidFill>
            <a:prstDash val="solid"/>
          </a:ln>
        </p:spPr>
      </p:sp>
      <p:pic>
        <p:nvPicPr>
          <p:cNvPr id="19" name="Image 2" descr="preencoded.png"/>
          <p:cNvPicPr>
            <a:picLocks noChangeAspect="1"/>
          </p:cNvPicPr>
          <p:nvPr/>
        </p:nvPicPr>
        <p:blipFill>
          <a:blip r:embed="rId5"/>
          <a:stretch>
            <a:fillRect/>
          </a:stretch>
        </p:blipFill>
        <p:spPr>
          <a:xfrm>
            <a:off x="8675370" y="2823210"/>
            <a:ext cx="434340" cy="434340"/>
          </a:xfrm>
          <a:prstGeom prst="rect">
            <a:avLst/>
          </a:prstGeom>
        </p:spPr>
      </p:pic>
      <p:sp>
        <p:nvSpPr>
          <p:cNvPr id="20" name="Text 15"/>
          <p:cNvSpPr/>
          <p:nvPr/>
        </p:nvSpPr>
        <p:spPr>
          <a:xfrm>
            <a:off x="10698480" y="2606040"/>
            <a:ext cx="685800" cy="457200"/>
          </a:xfrm>
          <a:prstGeom prst="rect">
            <a:avLst/>
          </a:prstGeom>
          <a:noFill/>
          <a:ln/>
        </p:spPr>
        <p:txBody>
          <a:bodyPr wrap="square" lIns="0" tIns="0" rIns="0" bIns="0" rtlCol="0" anchor="ctr"/>
          <a:lstStyle/>
          <a:p>
            <a:pPr marL="0" indent="0" algn="r">
              <a:buNone/>
            </a:pPr>
            <a:r>
              <a:rPr lang="en-US" sz="2000" b="1" dirty="0">
                <a:solidFill>
                  <a:srgbClr val="C9C2B0"/>
                </a:solidFill>
                <a:latin typeface="Georgia" pitchFamily="34" charset="0"/>
                <a:ea typeface="Georgia" pitchFamily="34" charset="-122"/>
                <a:cs typeface="Georgia" pitchFamily="34" charset="-120"/>
              </a:rPr>
              <a:t>03</a:t>
            </a:r>
            <a:endParaRPr lang="en-US" sz="2000" dirty="0"/>
          </a:p>
        </p:txBody>
      </p:sp>
      <p:sp>
        <p:nvSpPr>
          <p:cNvPr id="21" name="Text 16"/>
          <p:cNvSpPr/>
          <p:nvPr/>
        </p:nvSpPr>
        <p:spPr>
          <a:xfrm>
            <a:off x="8458200" y="3794760"/>
            <a:ext cx="2971800" cy="1371600"/>
          </a:xfrm>
          <a:prstGeom prst="rect">
            <a:avLst/>
          </a:prstGeom>
          <a:noFill/>
          <a:ln/>
        </p:spPr>
        <p:txBody>
          <a:bodyPr wrap="square" lIns="0" tIns="0" rIns="0" bIns="0" rtlCol="0" anchor="t"/>
          <a:lstStyle/>
          <a:p>
            <a:pPr marL="0" indent="0">
              <a:buNone/>
            </a:pPr>
            <a:r>
              <a:rPr lang="en-US" sz="2100" b="1" dirty="0">
                <a:solidFill>
                  <a:srgbClr val="0B1F3A"/>
                </a:solidFill>
                <a:latin typeface="Georgia" pitchFamily="34" charset="0"/>
                <a:ea typeface="Georgia" pitchFamily="34" charset="-122"/>
                <a:cs typeface="Georgia" pitchFamily="34" charset="-120"/>
              </a:rPr>
              <a:t>Social Stigma and Reintegration Barriers</a:t>
            </a:r>
            <a:endParaRPr lang="en-US" sz="2100" dirty="0"/>
          </a:p>
        </p:txBody>
      </p:sp>
      <p:sp>
        <p:nvSpPr>
          <p:cNvPr id="22" name="Text 17"/>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3" name="Text 18"/>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3A"/>
          </a:solidFill>
          <a:ln w="12700">
            <a:solidFill>
              <a:srgbClr val="0B1F3A"/>
            </a:solidFill>
            <a:prstDash val="solid"/>
          </a:ln>
        </p:spPr>
      </p:sp>
      <p:sp>
        <p:nvSpPr>
          <p:cNvPr id="3" name="Text 1"/>
          <p:cNvSpPr/>
          <p:nvPr/>
        </p:nvSpPr>
        <p:spPr>
          <a:xfrm>
            <a:off x="548640" y="548640"/>
            <a:ext cx="338328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THREATS</a:t>
            </a:r>
            <a:endParaRPr lang="en-US" sz="1200" dirty="0"/>
          </a:p>
        </p:txBody>
      </p:sp>
      <p:sp>
        <p:nvSpPr>
          <p:cNvPr id="4" name="Shape 2"/>
          <p:cNvSpPr/>
          <p:nvPr/>
        </p:nvSpPr>
        <p:spPr>
          <a:xfrm>
            <a:off x="548640" y="1371600"/>
            <a:ext cx="1005840" cy="1005840"/>
          </a:xfrm>
          <a:prstGeom prst="ellipse">
            <a:avLst/>
          </a:prstGeom>
          <a:solidFill>
            <a:srgbClr val="D4A017"/>
          </a:solidFill>
          <a:ln w="12700">
            <a:solidFill>
              <a:srgbClr val="D4A017"/>
            </a:solidFill>
            <a:prstDash val="solid"/>
          </a:ln>
        </p:spPr>
      </p:sp>
      <p:pic>
        <p:nvPicPr>
          <p:cNvPr id="5" name="Image 0" descr="preencoded.png"/>
          <p:cNvPicPr>
            <a:picLocks noChangeAspect="1"/>
          </p:cNvPicPr>
          <p:nvPr/>
        </p:nvPicPr>
        <p:blipFill>
          <a:blip r:embed="rId3"/>
          <a:stretch>
            <a:fillRect/>
          </a:stretch>
        </p:blipFill>
        <p:spPr>
          <a:xfrm>
            <a:off x="800100" y="1623060"/>
            <a:ext cx="502920" cy="502920"/>
          </a:xfrm>
          <a:prstGeom prst="rect">
            <a:avLst/>
          </a:prstGeom>
        </p:spPr>
      </p:pic>
      <p:sp>
        <p:nvSpPr>
          <p:cNvPr id="6" name="Text 3"/>
          <p:cNvSpPr/>
          <p:nvPr/>
        </p:nvSpPr>
        <p:spPr>
          <a:xfrm>
            <a:off x="2377440" y="1188720"/>
            <a:ext cx="1463040" cy="1280160"/>
          </a:xfrm>
          <a:prstGeom prst="rect">
            <a:avLst/>
          </a:prstGeom>
          <a:noFill/>
          <a:ln/>
        </p:spPr>
        <p:txBody>
          <a:bodyPr wrap="square" lIns="0" tIns="0" rIns="0" bIns="0" rtlCol="0" anchor="ctr"/>
          <a:lstStyle/>
          <a:p>
            <a:pPr marL="0" indent="0" algn="r">
              <a:buNone/>
            </a:pPr>
            <a:r>
              <a:rPr lang="en-US" sz="6400" b="1" dirty="0">
                <a:solidFill>
                  <a:srgbClr val="2A4670"/>
                </a:solidFill>
                <a:latin typeface="Georgia" pitchFamily="34" charset="0"/>
                <a:ea typeface="Georgia" pitchFamily="34" charset="-122"/>
                <a:cs typeface="Georgia" pitchFamily="34" charset="-120"/>
              </a:rPr>
              <a:t>01</a:t>
            </a:r>
            <a:endParaRPr lang="en-US" sz="6400" dirty="0"/>
          </a:p>
        </p:txBody>
      </p:sp>
      <p:sp>
        <p:nvSpPr>
          <p:cNvPr id="7" name="Text 4"/>
          <p:cNvSpPr/>
          <p:nvPr/>
        </p:nvSpPr>
        <p:spPr>
          <a:xfrm>
            <a:off x="548640" y="2743200"/>
            <a:ext cx="3383280" cy="237744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Increasing Inmate Population</a:t>
            </a:r>
            <a:endParaRPr lang="en-US" sz="2800" dirty="0"/>
          </a:p>
        </p:txBody>
      </p:sp>
      <p:sp>
        <p:nvSpPr>
          <p:cNvPr id="8" name="Shape 5"/>
          <p:cNvSpPr/>
          <p:nvPr/>
        </p:nvSpPr>
        <p:spPr>
          <a:xfrm>
            <a:off x="4754880" y="731520"/>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9" name="Shape 6"/>
          <p:cNvSpPr/>
          <p:nvPr/>
        </p:nvSpPr>
        <p:spPr>
          <a:xfrm>
            <a:off x="4754880" y="731520"/>
            <a:ext cx="73152" cy="1234440"/>
          </a:xfrm>
          <a:prstGeom prst="rect">
            <a:avLst/>
          </a:prstGeom>
          <a:solidFill>
            <a:srgbClr val="D4A017"/>
          </a:solidFill>
          <a:ln w="12700">
            <a:solidFill>
              <a:srgbClr val="D4A017"/>
            </a:solidFill>
            <a:prstDash val="solid"/>
          </a:ln>
        </p:spPr>
      </p:sp>
      <p:sp>
        <p:nvSpPr>
          <p:cNvPr id="10" name="Text 7"/>
          <p:cNvSpPr/>
          <p:nvPr/>
        </p:nvSpPr>
        <p:spPr>
          <a:xfrm>
            <a:off x="5029200" y="731520"/>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01</a:t>
            </a:r>
            <a:endParaRPr lang="en-US" sz="2200" dirty="0"/>
          </a:p>
        </p:txBody>
      </p:sp>
      <p:sp>
        <p:nvSpPr>
          <p:cNvPr id="11" name="Text 8"/>
          <p:cNvSpPr/>
          <p:nvPr/>
        </p:nvSpPr>
        <p:spPr>
          <a:xfrm>
            <a:off x="5806440" y="731520"/>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Rising crime rates and court convictions may increase the number of inmates.</a:t>
            </a:r>
            <a:endParaRPr lang="en-US" sz="1700" dirty="0"/>
          </a:p>
        </p:txBody>
      </p:sp>
      <p:sp>
        <p:nvSpPr>
          <p:cNvPr id="12" name="Shape 9"/>
          <p:cNvSpPr/>
          <p:nvPr/>
        </p:nvSpPr>
        <p:spPr>
          <a:xfrm>
            <a:off x="4754880" y="2075688"/>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Shape 10"/>
          <p:cNvSpPr/>
          <p:nvPr/>
        </p:nvSpPr>
        <p:spPr>
          <a:xfrm>
            <a:off x="4754880" y="2075688"/>
            <a:ext cx="73152" cy="1234440"/>
          </a:xfrm>
          <a:prstGeom prst="rect">
            <a:avLst/>
          </a:prstGeom>
          <a:solidFill>
            <a:srgbClr val="D4A017"/>
          </a:solidFill>
          <a:ln w="12700">
            <a:solidFill>
              <a:srgbClr val="D4A017"/>
            </a:solidFill>
            <a:prstDash val="solid"/>
          </a:ln>
        </p:spPr>
      </p:sp>
      <p:sp>
        <p:nvSpPr>
          <p:cNvPr id="14" name="Text 11"/>
          <p:cNvSpPr/>
          <p:nvPr/>
        </p:nvSpPr>
        <p:spPr>
          <a:xfrm>
            <a:off x="5029200" y="2075688"/>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5806440" y="2075688"/>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Facilities may become more congested than their intended capacity.</a:t>
            </a:r>
            <a:endParaRPr lang="en-US" sz="1700" dirty="0"/>
          </a:p>
        </p:txBody>
      </p:sp>
      <p:sp>
        <p:nvSpPr>
          <p:cNvPr id="16" name="Shape 13"/>
          <p:cNvSpPr/>
          <p:nvPr/>
        </p:nvSpPr>
        <p:spPr>
          <a:xfrm>
            <a:off x="4754880" y="3419856"/>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4"/>
          <p:cNvSpPr/>
          <p:nvPr/>
        </p:nvSpPr>
        <p:spPr>
          <a:xfrm>
            <a:off x="4754880" y="3419856"/>
            <a:ext cx="73152" cy="1234440"/>
          </a:xfrm>
          <a:prstGeom prst="rect">
            <a:avLst/>
          </a:prstGeom>
          <a:solidFill>
            <a:srgbClr val="D4A017"/>
          </a:solidFill>
          <a:ln w="12700">
            <a:solidFill>
              <a:srgbClr val="D4A017"/>
            </a:solidFill>
            <a:prstDash val="solid"/>
          </a:ln>
        </p:spPr>
      </p:sp>
      <p:sp>
        <p:nvSpPr>
          <p:cNvPr id="18" name="Text 15"/>
          <p:cNvSpPr/>
          <p:nvPr/>
        </p:nvSpPr>
        <p:spPr>
          <a:xfrm>
            <a:off x="5029200" y="3419856"/>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5806440" y="3419856"/>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Overcrowding can strain correctional resources and services.</a:t>
            </a:r>
            <a:endParaRPr lang="en-US" sz="1700" dirty="0"/>
          </a:p>
        </p:txBody>
      </p:sp>
      <p:sp>
        <p:nvSpPr>
          <p:cNvPr id="20" name="Shape 17"/>
          <p:cNvSpPr/>
          <p:nvPr/>
        </p:nvSpPr>
        <p:spPr>
          <a:xfrm>
            <a:off x="4754880" y="4764024"/>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21" name="Shape 18"/>
          <p:cNvSpPr/>
          <p:nvPr/>
        </p:nvSpPr>
        <p:spPr>
          <a:xfrm>
            <a:off x="4754880" y="4764024"/>
            <a:ext cx="73152" cy="1234440"/>
          </a:xfrm>
          <a:prstGeom prst="rect">
            <a:avLst/>
          </a:prstGeom>
          <a:solidFill>
            <a:srgbClr val="D4A017"/>
          </a:solidFill>
          <a:ln w="12700">
            <a:solidFill>
              <a:srgbClr val="D4A017"/>
            </a:solidFill>
            <a:prstDash val="solid"/>
          </a:ln>
        </p:spPr>
      </p:sp>
      <p:sp>
        <p:nvSpPr>
          <p:cNvPr id="22" name="Text 19"/>
          <p:cNvSpPr/>
          <p:nvPr/>
        </p:nvSpPr>
        <p:spPr>
          <a:xfrm>
            <a:off x="5029200" y="4764024"/>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04</a:t>
            </a:r>
            <a:endParaRPr lang="en-US" sz="2200" dirty="0"/>
          </a:p>
        </p:txBody>
      </p:sp>
      <p:sp>
        <p:nvSpPr>
          <p:cNvPr id="23" name="Text 20"/>
          <p:cNvSpPr/>
          <p:nvPr/>
        </p:nvSpPr>
        <p:spPr>
          <a:xfrm>
            <a:off x="5806440" y="4764024"/>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It may reduce the effectiveness of rehabilitation programs.</a:t>
            </a:r>
            <a:endParaRPr lang="en-US" sz="1700" dirty="0"/>
          </a:p>
        </p:txBody>
      </p:sp>
      <p:sp>
        <p:nvSpPr>
          <p:cNvPr id="24" name="Text 21"/>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5" name="Text 22"/>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3A"/>
          </a:solidFill>
          <a:ln w="12700">
            <a:solidFill>
              <a:srgbClr val="0B1F3A"/>
            </a:solidFill>
            <a:prstDash val="solid"/>
          </a:ln>
        </p:spPr>
      </p:sp>
      <p:sp>
        <p:nvSpPr>
          <p:cNvPr id="3" name="Text 1"/>
          <p:cNvSpPr/>
          <p:nvPr/>
        </p:nvSpPr>
        <p:spPr>
          <a:xfrm>
            <a:off x="548640" y="548640"/>
            <a:ext cx="338328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THREATS</a:t>
            </a:r>
            <a:endParaRPr lang="en-US" sz="1200" dirty="0"/>
          </a:p>
        </p:txBody>
      </p:sp>
      <p:sp>
        <p:nvSpPr>
          <p:cNvPr id="4" name="Shape 2"/>
          <p:cNvSpPr/>
          <p:nvPr/>
        </p:nvSpPr>
        <p:spPr>
          <a:xfrm>
            <a:off x="548640" y="1371600"/>
            <a:ext cx="1005840" cy="1005840"/>
          </a:xfrm>
          <a:prstGeom prst="ellipse">
            <a:avLst/>
          </a:prstGeom>
          <a:solidFill>
            <a:srgbClr val="D4A017"/>
          </a:solidFill>
          <a:ln w="12700">
            <a:solidFill>
              <a:srgbClr val="D4A017"/>
            </a:solidFill>
            <a:prstDash val="solid"/>
          </a:ln>
        </p:spPr>
      </p:sp>
      <p:pic>
        <p:nvPicPr>
          <p:cNvPr id="5" name="Image 0" descr="preencoded.png"/>
          <p:cNvPicPr>
            <a:picLocks noChangeAspect="1"/>
          </p:cNvPicPr>
          <p:nvPr/>
        </p:nvPicPr>
        <p:blipFill>
          <a:blip r:embed="rId3"/>
          <a:stretch>
            <a:fillRect/>
          </a:stretch>
        </p:blipFill>
        <p:spPr>
          <a:xfrm>
            <a:off x="800100" y="1623060"/>
            <a:ext cx="502920" cy="502920"/>
          </a:xfrm>
          <a:prstGeom prst="rect">
            <a:avLst/>
          </a:prstGeom>
        </p:spPr>
      </p:pic>
      <p:sp>
        <p:nvSpPr>
          <p:cNvPr id="6" name="Text 3"/>
          <p:cNvSpPr/>
          <p:nvPr/>
        </p:nvSpPr>
        <p:spPr>
          <a:xfrm>
            <a:off x="2377440" y="1188720"/>
            <a:ext cx="1463040" cy="1280160"/>
          </a:xfrm>
          <a:prstGeom prst="rect">
            <a:avLst/>
          </a:prstGeom>
          <a:noFill/>
          <a:ln/>
        </p:spPr>
        <p:txBody>
          <a:bodyPr wrap="square" lIns="0" tIns="0" rIns="0" bIns="0" rtlCol="0" anchor="ctr"/>
          <a:lstStyle/>
          <a:p>
            <a:pPr marL="0" indent="0" algn="r">
              <a:buNone/>
            </a:pPr>
            <a:r>
              <a:rPr lang="en-US" sz="6400" b="1" dirty="0">
                <a:solidFill>
                  <a:srgbClr val="2A4670"/>
                </a:solidFill>
                <a:latin typeface="Georgia" pitchFamily="34" charset="0"/>
                <a:ea typeface="Georgia" pitchFamily="34" charset="-122"/>
                <a:cs typeface="Georgia" pitchFamily="34" charset="-120"/>
              </a:rPr>
              <a:t>02</a:t>
            </a:r>
            <a:endParaRPr lang="en-US" sz="6400" dirty="0"/>
          </a:p>
        </p:txBody>
      </p:sp>
      <p:sp>
        <p:nvSpPr>
          <p:cNvPr id="7" name="Text 4"/>
          <p:cNvSpPr/>
          <p:nvPr/>
        </p:nvSpPr>
        <p:spPr>
          <a:xfrm>
            <a:off x="548640" y="2743200"/>
            <a:ext cx="3383280" cy="237744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Security Risks and Prison Violence</a:t>
            </a:r>
            <a:endParaRPr lang="en-US" sz="2800" dirty="0"/>
          </a:p>
        </p:txBody>
      </p:sp>
      <p:sp>
        <p:nvSpPr>
          <p:cNvPr id="8" name="Shape 5"/>
          <p:cNvSpPr/>
          <p:nvPr/>
        </p:nvSpPr>
        <p:spPr>
          <a:xfrm>
            <a:off x="4754880" y="731520"/>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9" name="Shape 6"/>
          <p:cNvSpPr/>
          <p:nvPr/>
        </p:nvSpPr>
        <p:spPr>
          <a:xfrm>
            <a:off x="4754880" y="731520"/>
            <a:ext cx="73152" cy="1234440"/>
          </a:xfrm>
          <a:prstGeom prst="rect">
            <a:avLst/>
          </a:prstGeom>
          <a:solidFill>
            <a:srgbClr val="D4A017"/>
          </a:solidFill>
          <a:ln w="12700">
            <a:solidFill>
              <a:srgbClr val="D4A017"/>
            </a:solidFill>
            <a:prstDash val="solid"/>
          </a:ln>
        </p:spPr>
      </p:sp>
      <p:sp>
        <p:nvSpPr>
          <p:cNvPr id="10" name="Text 7"/>
          <p:cNvSpPr/>
          <p:nvPr/>
        </p:nvSpPr>
        <p:spPr>
          <a:xfrm>
            <a:off x="5029200" y="731520"/>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01</a:t>
            </a:r>
            <a:endParaRPr lang="en-US" sz="2200" dirty="0"/>
          </a:p>
        </p:txBody>
      </p:sp>
      <p:sp>
        <p:nvSpPr>
          <p:cNvPr id="11" name="Text 8"/>
          <p:cNvSpPr/>
          <p:nvPr/>
        </p:nvSpPr>
        <p:spPr>
          <a:xfrm>
            <a:off x="5806440" y="731520"/>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Presence of gangs and organized inmate groups within facilities.</a:t>
            </a:r>
            <a:endParaRPr lang="en-US" sz="1700" dirty="0"/>
          </a:p>
        </p:txBody>
      </p:sp>
      <p:sp>
        <p:nvSpPr>
          <p:cNvPr id="12" name="Shape 9"/>
          <p:cNvSpPr/>
          <p:nvPr/>
        </p:nvSpPr>
        <p:spPr>
          <a:xfrm>
            <a:off x="4754880" y="2075688"/>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Shape 10"/>
          <p:cNvSpPr/>
          <p:nvPr/>
        </p:nvSpPr>
        <p:spPr>
          <a:xfrm>
            <a:off x="4754880" y="2075688"/>
            <a:ext cx="73152" cy="1234440"/>
          </a:xfrm>
          <a:prstGeom prst="rect">
            <a:avLst/>
          </a:prstGeom>
          <a:solidFill>
            <a:srgbClr val="D4A017"/>
          </a:solidFill>
          <a:ln w="12700">
            <a:solidFill>
              <a:srgbClr val="D4A017"/>
            </a:solidFill>
            <a:prstDash val="solid"/>
          </a:ln>
        </p:spPr>
      </p:sp>
      <p:sp>
        <p:nvSpPr>
          <p:cNvPr id="14" name="Text 11"/>
          <p:cNvSpPr/>
          <p:nvPr/>
        </p:nvSpPr>
        <p:spPr>
          <a:xfrm>
            <a:off x="5029200" y="2075688"/>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5806440" y="2075688"/>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Smuggling of contraband such as illegal drugs and weapons.</a:t>
            </a:r>
            <a:endParaRPr lang="en-US" sz="1700" dirty="0"/>
          </a:p>
        </p:txBody>
      </p:sp>
      <p:sp>
        <p:nvSpPr>
          <p:cNvPr id="16" name="Shape 13"/>
          <p:cNvSpPr/>
          <p:nvPr/>
        </p:nvSpPr>
        <p:spPr>
          <a:xfrm>
            <a:off x="4754880" y="3419856"/>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4"/>
          <p:cNvSpPr/>
          <p:nvPr/>
        </p:nvSpPr>
        <p:spPr>
          <a:xfrm>
            <a:off x="4754880" y="3419856"/>
            <a:ext cx="73152" cy="1234440"/>
          </a:xfrm>
          <a:prstGeom prst="rect">
            <a:avLst/>
          </a:prstGeom>
          <a:solidFill>
            <a:srgbClr val="D4A017"/>
          </a:solidFill>
          <a:ln w="12700">
            <a:solidFill>
              <a:srgbClr val="D4A017"/>
            </a:solidFill>
            <a:prstDash val="solid"/>
          </a:ln>
        </p:spPr>
      </p:sp>
      <p:sp>
        <p:nvSpPr>
          <p:cNvPr id="18" name="Text 15"/>
          <p:cNvSpPr/>
          <p:nvPr/>
        </p:nvSpPr>
        <p:spPr>
          <a:xfrm>
            <a:off x="5029200" y="3419856"/>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5806440" y="3419856"/>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Potential for inmate violence, riots, and security breaches.</a:t>
            </a:r>
            <a:endParaRPr lang="en-US" sz="1700" dirty="0"/>
          </a:p>
        </p:txBody>
      </p:sp>
      <p:sp>
        <p:nvSpPr>
          <p:cNvPr id="20" name="Shape 17"/>
          <p:cNvSpPr/>
          <p:nvPr/>
        </p:nvSpPr>
        <p:spPr>
          <a:xfrm>
            <a:off x="4754880" y="4764024"/>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21" name="Shape 18"/>
          <p:cNvSpPr/>
          <p:nvPr/>
        </p:nvSpPr>
        <p:spPr>
          <a:xfrm>
            <a:off x="4754880" y="4764024"/>
            <a:ext cx="73152" cy="1234440"/>
          </a:xfrm>
          <a:prstGeom prst="rect">
            <a:avLst/>
          </a:prstGeom>
          <a:solidFill>
            <a:srgbClr val="D4A017"/>
          </a:solidFill>
          <a:ln w="12700">
            <a:solidFill>
              <a:srgbClr val="D4A017"/>
            </a:solidFill>
            <a:prstDash val="solid"/>
          </a:ln>
        </p:spPr>
      </p:sp>
      <p:sp>
        <p:nvSpPr>
          <p:cNvPr id="22" name="Text 19"/>
          <p:cNvSpPr/>
          <p:nvPr/>
        </p:nvSpPr>
        <p:spPr>
          <a:xfrm>
            <a:off x="5029200" y="4764024"/>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04</a:t>
            </a:r>
            <a:endParaRPr lang="en-US" sz="2200" dirty="0"/>
          </a:p>
        </p:txBody>
      </p:sp>
      <p:sp>
        <p:nvSpPr>
          <p:cNvPr id="23" name="Text 20"/>
          <p:cNvSpPr/>
          <p:nvPr/>
        </p:nvSpPr>
        <p:spPr>
          <a:xfrm>
            <a:off x="5806440" y="4764024"/>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Threats can endanger inmates, correctional officers, and facility operations.</a:t>
            </a:r>
            <a:endParaRPr lang="en-US" sz="1700" dirty="0"/>
          </a:p>
        </p:txBody>
      </p:sp>
      <p:sp>
        <p:nvSpPr>
          <p:cNvPr id="24" name="Text 21"/>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5" name="Text 22"/>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3A"/>
          </a:solidFill>
          <a:ln w="12700">
            <a:solidFill>
              <a:srgbClr val="0B1F3A"/>
            </a:solidFill>
            <a:prstDash val="solid"/>
          </a:ln>
        </p:spPr>
      </p:sp>
      <p:sp>
        <p:nvSpPr>
          <p:cNvPr id="3" name="Text 1"/>
          <p:cNvSpPr/>
          <p:nvPr/>
        </p:nvSpPr>
        <p:spPr>
          <a:xfrm>
            <a:off x="548640" y="548640"/>
            <a:ext cx="338328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THREATS</a:t>
            </a:r>
            <a:endParaRPr lang="en-US" sz="1200" dirty="0"/>
          </a:p>
        </p:txBody>
      </p:sp>
      <p:sp>
        <p:nvSpPr>
          <p:cNvPr id="4" name="Shape 2"/>
          <p:cNvSpPr/>
          <p:nvPr/>
        </p:nvSpPr>
        <p:spPr>
          <a:xfrm>
            <a:off x="548640" y="1371600"/>
            <a:ext cx="1005840" cy="1005840"/>
          </a:xfrm>
          <a:prstGeom prst="ellipse">
            <a:avLst/>
          </a:prstGeom>
          <a:solidFill>
            <a:srgbClr val="D4A017"/>
          </a:solidFill>
          <a:ln w="12700">
            <a:solidFill>
              <a:srgbClr val="D4A017"/>
            </a:solidFill>
            <a:prstDash val="solid"/>
          </a:ln>
        </p:spPr>
      </p:sp>
      <p:pic>
        <p:nvPicPr>
          <p:cNvPr id="5" name="Image 0" descr="preencoded.png"/>
          <p:cNvPicPr>
            <a:picLocks noChangeAspect="1"/>
          </p:cNvPicPr>
          <p:nvPr/>
        </p:nvPicPr>
        <p:blipFill>
          <a:blip r:embed="rId3"/>
          <a:stretch>
            <a:fillRect/>
          </a:stretch>
        </p:blipFill>
        <p:spPr>
          <a:xfrm>
            <a:off x="800100" y="1623060"/>
            <a:ext cx="502920" cy="502920"/>
          </a:xfrm>
          <a:prstGeom prst="rect">
            <a:avLst/>
          </a:prstGeom>
        </p:spPr>
      </p:pic>
      <p:sp>
        <p:nvSpPr>
          <p:cNvPr id="6" name="Text 3"/>
          <p:cNvSpPr/>
          <p:nvPr/>
        </p:nvSpPr>
        <p:spPr>
          <a:xfrm>
            <a:off x="2377440" y="1188720"/>
            <a:ext cx="1463040" cy="1280160"/>
          </a:xfrm>
          <a:prstGeom prst="rect">
            <a:avLst/>
          </a:prstGeom>
          <a:noFill/>
          <a:ln/>
        </p:spPr>
        <p:txBody>
          <a:bodyPr wrap="square" lIns="0" tIns="0" rIns="0" bIns="0" rtlCol="0" anchor="ctr"/>
          <a:lstStyle/>
          <a:p>
            <a:pPr marL="0" indent="0" algn="r">
              <a:buNone/>
            </a:pPr>
            <a:r>
              <a:rPr lang="en-US" sz="6400" b="1" dirty="0">
                <a:solidFill>
                  <a:srgbClr val="2A4670"/>
                </a:solidFill>
                <a:latin typeface="Georgia" pitchFamily="34" charset="0"/>
                <a:ea typeface="Georgia" pitchFamily="34" charset="-122"/>
                <a:cs typeface="Georgia" pitchFamily="34" charset="-120"/>
              </a:rPr>
              <a:t>03</a:t>
            </a:r>
            <a:endParaRPr lang="en-US" sz="6400" dirty="0"/>
          </a:p>
        </p:txBody>
      </p:sp>
      <p:sp>
        <p:nvSpPr>
          <p:cNvPr id="7" name="Text 4"/>
          <p:cNvSpPr/>
          <p:nvPr/>
        </p:nvSpPr>
        <p:spPr>
          <a:xfrm>
            <a:off x="548640" y="2743200"/>
            <a:ext cx="3383280" cy="237744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Social Stigma and Reintegration Barriers</a:t>
            </a:r>
            <a:endParaRPr lang="en-US" sz="2800" dirty="0"/>
          </a:p>
        </p:txBody>
      </p:sp>
      <p:sp>
        <p:nvSpPr>
          <p:cNvPr id="8" name="Shape 5"/>
          <p:cNvSpPr/>
          <p:nvPr/>
        </p:nvSpPr>
        <p:spPr>
          <a:xfrm>
            <a:off x="4754880" y="731520"/>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9" name="Shape 6"/>
          <p:cNvSpPr/>
          <p:nvPr/>
        </p:nvSpPr>
        <p:spPr>
          <a:xfrm>
            <a:off x="4754880" y="731520"/>
            <a:ext cx="73152" cy="1234440"/>
          </a:xfrm>
          <a:prstGeom prst="rect">
            <a:avLst/>
          </a:prstGeom>
          <a:solidFill>
            <a:srgbClr val="D4A017"/>
          </a:solidFill>
          <a:ln w="12700">
            <a:solidFill>
              <a:srgbClr val="D4A017"/>
            </a:solidFill>
            <a:prstDash val="solid"/>
          </a:ln>
        </p:spPr>
      </p:sp>
      <p:sp>
        <p:nvSpPr>
          <p:cNvPr id="10" name="Text 7"/>
          <p:cNvSpPr/>
          <p:nvPr/>
        </p:nvSpPr>
        <p:spPr>
          <a:xfrm>
            <a:off x="5029200" y="731520"/>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01</a:t>
            </a:r>
            <a:endParaRPr lang="en-US" sz="2200" dirty="0"/>
          </a:p>
        </p:txBody>
      </p:sp>
      <p:sp>
        <p:nvSpPr>
          <p:cNvPr id="11" name="Text 8"/>
          <p:cNvSpPr/>
          <p:nvPr/>
        </p:nvSpPr>
        <p:spPr>
          <a:xfrm>
            <a:off x="5806440" y="731520"/>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Former inmates often face discrimination in employment and social acceptance.</a:t>
            </a:r>
            <a:endParaRPr lang="en-US" sz="1700" dirty="0"/>
          </a:p>
        </p:txBody>
      </p:sp>
      <p:sp>
        <p:nvSpPr>
          <p:cNvPr id="12" name="Shape 9"/>
          <p:cNvSpPr/>
          <p:nvPr/>
        </p:nvSpPr>
        <p:spPr>
          <a:xfrm>
            <a:off x="4754880" y="2075688"/>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3" name="Shape 10"/>
          <p:cNvSpPr/>
          <p:nvPr/>
        </p:nvSpPr>
        <p:spPr>
          <a:xfrm>
            <a:off x="4754880" y="2075688"/>
            <a:ext cx="73152" cy="1234440"/>
          </a:xfrm>
          <a:prstGeom prst="rect">
            <a:avLst/>
          </a:prstGeom>
          <a:solidFill>
            <a:srgbClr val="D4A017"/>
          </a:solidFill>
          <a:ln w="12700">
            <a:solidFill>
              <a:srgbClr val="D4A017"/>
            </a:solidFill>
            <a:prstDash val="solid"/>
          </a:ln>
        </p:spPr>
      </p:sp>
      <p:sp>
        <p:nvSpPr>
          <p:cNvPr id="14" name="Text 11"/>
          <p:cNvSpPr/>
          <p:nvPr/>
        </p:nvSpPr>
        <p:spPr>
          <a:xfrm>
            <a:off x="5029200" y="2075688"/>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5806440" y="2075688"/>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Limited job opportunities may make reintegration difficult.</a:t>
            </a:r>
            <a:endParaRPr lang="en-US" sz="1700" dirty="0"/>
          </a:p>
        </p:txBody>
      </p:sp>
      <p:sp>
        <p:nvSpPr>
          <p:cNvPr id="16" name="Shape 13"/>
          <p:cNvSpPr/>
          <p:nvPr/>
        </p:nvSpPr>
        <p:spPr>
          <a:xfrm>
            <a:off x="4754880" y="3419856"/>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17" name="Shape 14"/>
          <p:cNvSpPr/>
          <p:nvPr/>
        </p:nvSpPr>
        <p:spPr>
          <a:xfrm>
            <a:off x="4754880" y="3419856"/>
            <a:ext cx="73152" cy="1234440"/>
          </a:xfrm>
          <a:prstGeom prst="rect">
            <a:avLst/>
          </a:prstGeom>
          <a:solidFill>
            <a:srgbClr val="D4A017"/>
          </a:solidFill>
          <a:ln w="12700">
            <a:solidFill>
              <a:srgbClr val="D4A017"/>
            </a:solidFill>
            <a:prstDash val="solid"/>
          </a:ln>
        </p:spPr>
      </p:sp>
      <p:sp>
        <p:nvSpPr>
          <p:cNvPr id="18" name="Text 15"/>
          <p:cNvSpPr/>
          <p:nvPr/>
        </p:nvSpPr>
        <p:spPr>
          <a:xfrm>
            <a:off x="5029200" y="3419856"/>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5806440" y="3419856"/>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Lack of community support can affect successful rehabilitation.</a:t>
            </a:r>
            <a:endParaRPr lang="en-US" sz="1700" dirty="0"/>
          </a:p>
        </p:txBody>
      </p:sp>
      <p:sp>
        <p:nvSpPr>
          <p:cNvPr id="20" name="Shape 17"/>
          <p:cNvSpPr/>
          <p:nvPr/>
        </p:nvSpPr>
        <p:spPr>
          <a:xfrm>
            <a:off x="4754880" y="4764024"/>
            <a:ext cx="6858000" cy="1234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sp>
        <p:nvSpPr>
          <p:cNvPr id="21" name="Shape 18"/>
          <p:cNvSpPr/>
          <p:nvPr/>
        </p:nvSpPr>
        <p:spPr>
          <a:xfrm>
            <a:off x="4754880" y="4764024"/>
            <a:ext cx="73152" cy="1234440"/>
          </a:xfrm>
          <a:prstGeom prst="rect">
            <a:avLst/>
          </a:prstGeom>
          <a:solidFill>
            <a:srgbClr val="D4A017"/>
          </a:solidFill>
          <a:ln w="12700">
            <a:solidFill>
              <a:srgbClr val="D4A017"/>
            </a:solidFill>
            <a:prstDash val="solid"/>
          </a:ln>
        </p:spPr>
      </p:sp>
      <p:sp>
        <p:nvSpPr>
          <p:cNvPr id="22" name="Text 19"/>
          <p:cNvSpPr/>
          <p:nvPr/>
        </p:nvSpPr>
        <p:spPr>
          <a:xfrm>
            <a:off x="5029200" y="4764024"/>
            <a:ext cx="731520" cy="1234440"/>
          </a:xfrm>
          <a:prstGeom prst="rect">
            <a:avLst/>
          </a:prstGeom>
          <a:noFill/>
          <a:ln/>
        </p:spPr>
        <p:txBody>
          <a:bodyPr wrap="square" lIns="0" tIns="0" rIns="0" bIns="0" rtlCol="0" anchor="ctr"/>
          <a:lstStyle/>
          <a:p>
            <a:pPr marL="0" indent="0">
              <a:buNone/>
            </a:pPr>
            <a:r>
              <a:rPr lang="en-US" sz="2200" b="1" dirty="0">
                <a:solidFill>
                  <a:srgbClr val="D4A017"/>
                </a:solidFill>
                <a:latin typeface="Georgia" pitchFamily="34" charset="0"/>
                <a:ea typeface="Georgia" pitchFamily="34" charset="-122"/>
                <a:cs typeface="Georgia" pitchFamily="34" charset="-120"/>
              </a:rPr>
              <a:t>04</a:t>
            </a:r>
            <a:endParaRPr lang="en-US" sz="2200" dirty="0"/>
          </a:p>
        </p:txBody>
      </p:sp>
      <p:sp>
        <p:nvSpPr>
          <p:cNvPr id="23" name="Text 20"/>
          <p:cNvSpPr/>
          <p:nvPr/>
        </p:nvSpPr>
        <p:spPr>
          <a:xfrm>
            <a:off x="5806440" y="4764024"/>
            <a:ext cx="5577840" cy="1234440"/>
          </a:xfrm>
          <a:prstGeom prst="rect">
            <a:avLst/>
          </a:prstGeom>
          <a:noFill/>
          <a:ln/>
        </p:spPr>
        <p:txBody>
          <a:bodyPr wrap="square" lIns="0" tIns="0" rIns="0" bIns="0" rtlCol="0" anchor="ctr"/>
          <a:lstStyle/>
          <a:p>
            <a:pPr marL="0" indent="0">
              <a:buNone/>
            </a:pPr>
            <a:r>
              <a:rPr lang="en-US" sz="1700" dirty="0">
                <a:solidFill>
                  <a:srgbClr val="1C2529"/>
                </a:solidFill>
                <a:latin typeface="Calibri" pitchFamily="34" charset="0"/>
                <a:ea typeface="Calibri" pitchFamily="34" charset="-122"/>
                <a:cs typeface="Calibri" pitchFamily="34" charset="-120"/>
              </a:rPr>
              <a:t>These challenges may increase the risk of recidivism or reoffending.</a:t>
            </a:r>
            <a:endParaRPr lang="en-US" sz="1700" dirty="0"/>
          </a:p>
        </p:txBody>
      </p:sp>
      <p:sp>
        <p:nvSpPr>
          <p:cNvPr id="24" name="Text 21"/>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5" name="Text 22"/>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Conclusion</a:t>
            </a:r>
            <a:endParaRPr lang="en-US" sz="3600" dirty="0"/>
          </a:p>
        </p:txBody>
      </p:sp>
      <p:sp>
        <p:nvSpPr>
          <p:cNvPr id="4" name="Shape 2"/>
          <p:cNvSpPr/>
          <p:nvPr/>
        </p:nvSpPr>
        <p:spPr>
          <a:xfrm>
            <a:off x="548640" y="1920240"/>
            <a:ext cx="73152" cy="3840480"/>
          </a:xfrm>
          <a:prstGeom prst="rect">
            <a:avLst/>
          </a:prstGeom>
          <a:solidFill>
            <a:srgbClr val="D4A017"/>
          </a:solidFill>
          <a:ln w="12700">
            <a:solidFill>
              <a:srgbClr val="D4A017"/>
            </a:solidFill>
            <a:prstDash val="solid"/>
          </a:ln>
        </p:spPr>
      </p:sp>
      <p:sp>
        <p:nvSpPr>
          <p:cNvPr id="5" name="Text 3"/>
          <p:cNvSpPr/>
          <p:nvPr/>
        </p:nvSpPr>
        <p:spPr>
          <a:xfrm>
            <a:off x="914400" y="1920240"/>
            <a:ext cx="6675120" cy="3840480"/>
          </a:xfrm>
          <a:prstGeom prst="rect">
            <a:avLst/>
          </a:prstGeom>
          <a:noFill/>
          <a:ln/>
        </p:spPr>
        <p:txBody>
          <a:bodyPr wrap="square" lIns="0" tIns="0" rIns="0" bIns="0" rtlCol="0" anchor="ctr"/>
          <a:lstStyle/>
          <a:p>
            <a:pPr marL="0" indent="0">
              <a:lnSpc>
                <a:spcPct val="115000"/>
              </a:lnSpc>
              <a:buNone/>
            </a:pPr>
            <a:r>
              <a:rPr lang="en-US" sz="1900" dirty="0">
                <a:solidFill>
                  <a:srgbClr val="FFFFFF"/>
                </a:solidFill>
                <a:latin typeface="Calibri" pitchFamily="34" charset="0"/>
                <a:ea typeface="Calibri" pitchFamily="34" charset="-122"/>
                <a:cs typeface="Calibri" pitchFamily="34" charset="-120"/>
              </a:rPr>
              <a:t>The Philippine Institution-Based Correctional System remains an essential part of the criminal justice system. While it faces challenges such as overcrowding and limited resources, it continues to provide opportunities for offender rehabilitation and reform. Through continuous improvement, effective programs, and community support, the correctional system can better fulfill its mission of transforming lives, reducing recidivism, and promoting public safety.</a:t>
            </a:r>
            <a:endParaRPr lang="en-US" sz="1900" dirty="0"/>
          </a:p>
        </p:txBody>
      </p:sp>
      <p:sp>
        <p:nvSpPr>
          <p:cNvPr id="6" name="Shape 4"/>
          <p:cNvSpPr/>
          <p:nvPr/>
        </p:nvSpPr>
        <p:spPr>
          <a:xfrm>
            <a:off x="8183880" y="1737360"/>
            <a:ext cx="3474720" cy="3474720"/>
          </a:xfrm>
          <a:prstGeom prst="ellipse">
            <a:avLst/>
          </a:prstGeom>
          <a:solidFill>
            <a:srgbClr val="FFFFFF"/>
          </a:solidFill>
          <a:ln w="50800">
            <a:solidFill>
              <a:srgbClr val="D4A017"/>
            </a:solidFill>
            <a:prstDash val="solid"/>
          </a:ln>
        </p:spPr>
      </p:sp>
      <p:pic>
        <p:nvPicPr>
          <p:cNvPr id="7" name="Image 0" descr="assets/logo.png"/>
          <p:cNvPicPr>
            <a:picLocks noChangeAspect="1"/>
          </p:cNvPicPr>
          <p:nvPr/>
        </p:nvPicPr>
        <p:blipFill>
          <a:blip r:embed="rId3"/>
          <a:stretch>
            <a:fillRect/>
          </a:stretch>
        </p:blipFill>
        <p:spPr>
          <a:xfrm>
            <a:off x="8366760" y="1920240"/>
            <a:ext cx="3108960" cy="3108960"/>
          </a:xfrm>
          <a:prstGeom prst="rect">
            <a:avLst/>
          </a:prstGeom>
        </p:spPr>
      </p:pic>
      <p:sp>
        <p:nvSpPr>
          <p:cNvPr id="8" name="Text 5"/>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FA3C0"/>
                </a:solidFill>
                <a:latin typeface="Calibri" pitchFamily="34" charset="0"/>
                <a:ea typeface="Calibri" pitchFamily="34" charset="-122"/>
                <a:cs typeface="Calibri" pitchFamily="34" charset="-120"/>
              </a:rPr>
              <a:t>MSCJ 109 · Modern Penology</a:t>
            </a:r>
            <a:endParaRPr lang="en-US" sz="1000" dirty="0"/>
          </a:p>
        </p:txBody>
      </p:sp>
      <p:sp>
        <p:nvSpPr>
          <p:cNvPr id="9" name="Text 6"/>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D4A017"/>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Recommendations</a:t>
            </a:r>
            <a:endParaRPr lang="en-US" sz="3600" dirty="0"/>
          </a:p>
        </p:txBody>
      </p:sp>
      <p:sp>
        <p:nvSpPr>
          <p:cNvPr id="4" name="Shape 2"/>
          <p:cNvSpPr/>
          <p:nvPr/>
        </p:nvSpPr>
        <p:spPr>
          <a:xfrm>
            <a:off x="1097280" y="2697480"/>
            <a:ext cx="10058400" cy="0"/>
          </a:xfrm>
          <a:prstGeom prst="line">
            <a:avLst/>
          </a:prstGeom>
          <a:noFill/>
          <a:ln w="25400">
            <a:solidFill>
              <a:srgbClr val="D4A017"/>
            </a:solidFill>
            <a:prstDash val="solid"/>
          </a:ln>
        </p:spPr>
      </p:sp>
      <p:sp>
        <p:nvSpPr>
          <p:cNvPr id="5" name="Shape 3"/>
          <p:cNvSpPr/>
          <p:nvPr/>
        </p:nvSpPr>
        <p:spPr>
          <a:xfrm>
            <a:off x="1417320" y="2240280"/>
            <a:ext cx="914400" cy="914400"/>
          </a:xfrm>
          <a:prstGeom prst="ellipse">
            <a:avLst/>
          </a:prstGeom>
          <a:solidFill>
            <a:srgbClr val="0B1F3A"/>
          </a:solidFill>
          <a:ln w="25400">
            <a:solidFill>
              <a:srgbClr val="D4A017"/>
            </a:solidFill>
            <a:prstDash val="solid"/>
          </a:ln>
        </p:spPr>
      </p:sp>
      <p:sp>
        <p:nvSpPr>
          <p:cNvPr id="6" name="Text 4"/>
          <p:cNvSpPr/>
          <p:nvPr/>
        </p:nvSpPr>
        <p:spPr>
          <a:xfrm>
            <a:off x="1417320" y="2240280"/>
            <a:ext cx="914400" cy="914400"/>
          </a:xfrm>
          <a:prstGeom prst="rect">
            <a:avLst/>
          </a:prstGeom>
          <a:noFill/>
          <a:ln/>
        </p:spPr>
        <p:txBody>
          <a:bodyPr wrap="square" lIns="0" tIns="0" rIns="0" bIns="0" rtlCol="0" anchor="ctr"/>
          <a:lstStyle/>
          <a:p>
            <a:pPr marL="0" indent="0" algn="ctr">
              <a:buNone/>
            </a:pPr>
            <a:r>
              <a:rPr lang="en-US" sz="2800" b="1" dirty="0">
                <a:solidFill>
                  <a:srgbClr val="D4A017"/>
                </a:solidFill>
                <a:latin typeface="Georgia" pitchFamily="34" charset="0"/>
                <a:ea typeface="Georgia" pitchFamily="34" charset="-122"/>
                <a:cs typeface="Georgia" pitchFamily="34" charset="-120"/>
              </a:rPr>
              <a:t>1</a:t>
            </a:r>
            <a:endParaRPr lang="en-US" sz="2800" dirty="0"/>
          </a:p>
        </p:txBody>
      </p:sp>
      <p:sp>
        <p:nvSpPr>
          <p:cNvPr id="7" name="Shape 5"/>
          <p:cNvSpPr/>
          <p:nvPr/>
        </p:nvSpPr>
        <p:spPr>
          <a:xfrm>
            <a:off x="548640" y="3566160"/>
            <a:ext cx="2651760" cy="2377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pic>
        <p:nvPicPr>
          <p:cNvPr id="8" name="Image 0" descr="preencoded.png"/>
          <p:cNvPicPr>
            <a:picLocks noChangeAspect="1"/>
          </p:cNvPicPr>
          <p:nvPr/>
        </p:nvPicPr>
        <p:blipFill>
          <a:blip r:embed="rId3"/>
          <a:stretch>
            <a:fillRect/>
          </a:stretch>
        </p:blipFill>
        <p:spPr>
          <a:xfrm>
            <a:off x="1554480" y="3840480"/>
            <a:ext cx="640080" cy="640080"/>
          </a:xfrm>
          <a:prstGeom prst="rect">
            <a:avLst/>
          </a:prstGeom>
        </p:spPr>
      </p:pic>
      <p:sp>
        <p:nvSpPr>
          <p:cNvPr id="9" name="Text 6"/>
          <p:cNvSpPr/>
          <p:nvPr/>
        </p:nvSpPr>
        <p:spPr>
          <a:xfrm>
            <a:off x="731520" y="4663440"/>
            <a:ext cx="2286000" cy="1097280"/>
          </a:xfrm>
          <a:prstGeom prst="rect">
            <a:avLst/>
          </a:prstGeom>
          <a:noFill/>
          <a:ln/>
        </p:spPr>
        <p:txBody>
          <a:bodyPr wrap="square" lIns="0" tIns="0" rIns="0" bIns="0" rtlCol="0" anchor="t"/>
          <a:lstStyle/>
          <a:p>
            <a:pPr marL="0" indent="0" algn="ctr">
              <a:buNone/>
            </a:pPr>
            <a:r>
              <a:rPr lang="en-US" sz="1800" b="1" dirty="0">
                <a:solidFill>
                  <a:srgbClr val="0B1F3A"/>
                </a:solidFill>
                <a:latin typeface="Georgia" pitchFamily="34" charset="0"/>
                <a:ea typeface="Georgia" pitchFamily="34" charset="-122"/>
                <a:cs typeface="Georgia" pitchFamily="34" charset="-120"/>
              </a:rPr>
              <a:t>Address Prison Overcrowding</a:t>
            </a:r>
            <a:endParaRPr lang="en-US" sz="1800" dirty="0"/>
          </a:p>
        </p:txBody>
      </p:sp>
      <p:sp>
        <p:nvSpPr>
          <p:cNvPr id="10" name="Shape 7"/>
          <p:cNvSpPr/>
          <p:nvPr/>
        </p:nvSpPr>
        <p:spPr>
          <a:xfrm>
            <a:off x="4251960" y="2240280"/>
            <a:ext cx="914400" cy="914400"/>
          </a:xfrm>
          <a:prstGeom prst="ellipse">
            <a:avLst/>
          </a:prstGeom>
          <a:solidFill>
            <a:srgbClr val="0B1F3A"/>
          </a:solidFill>
          <a:ln w="25400">
            <a:solidFill>
              <a:srgbClr val="D4A017"/>
            </a:solidFill>
            <a:prstDash val="solid"/>
          </a:ln>
        </p:spPr>
      </p:sp>
      <p:sp>
        <p:nvSpPr>
          <p:cNvPr id="11" name="Text 8"/>
          <p:cNvSpPr/>
          <p:nvPr/>
        </p:nvSpPr>
        <p:spPr>
          <a:xfrm>
            <a:off x="4251960" y="2240280"/>
            <a:ext cx="914400" cy="914400"/>
          </a:xfrm>
          <a:prstGeom prst="rect">
            <a:avLst/>
          </a:prstGeom>
          <a:noFill/>
          <a:ln/>
        </p:spPr>
        <p:txBody>
          <a:bodyPr wrap="square" lIns="0" tIns="0" rIns="0" bIns="0" rtlCol="0" anchor="ctr"/>
          <a:lstStyle/>
          <a:p>
            <a:pPr marL="0" indent="0" algn="ctr">
              <a:buNone/>
            </a:pPr>
            <a:r>
              <a:rPr lang="en-US" sz="2800" b="1" dirty="0">
                <a:solidFill>
                  <a:srgbClr val="D4A017"/>
                </a:solidFill>
                <a:latin typeface="Georgia" pitchFamily="34" charset="0"/>
                <a:ea typeface="Georgia" pitchFamily="34" charset="-122"/>
                <a:cs typeface="Georgia" pitchFamily="34" charset="-120"/>
              </a:rPr>
              <a:t>2</a:t>
            </a:r>
            <a:endParaRPr lang="en-US" sz="2800" dirty="0"/>
          </a:p>
        </p:txBody>
      </p:sp>
      <p:sp>
        <p:nvSpPr>
          <p:cNvPr id="12" name="Shape 9"/>
          <p:cNvSpPr/>
          <p:nvPr/>
        </p:nvSpPr>
        <p:spPr>
          <a:xfrm>
            <a:off x="3383280" y="3566160"/>
            <a:ext cx="2651760" cy="2377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pic>
        <p:nvPicPr>
          <p:cNvPr id="13" name="Image 1" descr="preencoded.png"/>
          <p:cNvPicPr>
            <a:picLocks noChangeAspect="1"/>
          </p:cNvPicPr>
          <p:nvPr/>
        </p:nvPicPr>
        <p:blipFill>
          <a:blip r:embed="rId4"/>
          <a:stretch>
            <a:fillRect/>
          </a:stretch>
        </p:blipFill>
        <p:spPr>
          <a:xfrm>
            <a:off x="4389120" y="3840480"/>
            <a:ext cx="640080" cy="640080"/>
          </a:xfrm>
          <a:prstGeom prst="rect">
            <a:avLst/>
          </a:prstGeom>
        </p:spPr>
      </p:pic>
      <p:sp>
        <p:nvSpPr>
          <p:cNvPr id="14" name="Text 10"/>
          <p:cNvSpPr/>
          <p:nvPr/>
        </p:nvSpPr>
        <p:spPr>
          <a:xfrm>
            <a:off x="3566160" y="4663440"/>
            <a:ext cx="2286000" cy="1097280"/>
          </a:xfrm>
          <a:prstGeom prst="rect">
            <a:avLst/>
          </a:prstGeom>
          <a:noFill/>
          <a:ln/>
        </p:spPr>
        <p:txBody>
          <a:bodyPr wrap="square" lIns="0" tIns="0" rIns="0" bIns="0" rtlCol="0" anchor="t"/>
          <a:lstStyle/>
          <a:p>
            <a:pPr marL="0" indent="0" algn="ctr">
              <a:buNone/>
            </a:pPr>
            <a:r>
              <a:rPr lang="en-US" sz="1800" b="1" dirty="0">
                <a:solidFill>
                  <a:srgbClr val="0B1F3A"/>
                </a:solidFill>
                <a:latin typeface="Georgia" pitchFamily="34" charset="0"/>
                <a:ea typeface="Georgia" pitchFamily="34" charset="-122"/>
                <a:cs typeface="Georgia" pitchFamily="34" charset="-120"/>
              </a:rPr>
              <a:t>Enhance Rehabilitation Programs</a:t>
            </a:r>
            <a:endParaRPr lang="en-US" sz="1800" dirty="0"/>
          </a:p>
        </p:txBody>
      </p:sp>
      <p:sp>
        <p:nvSpPr>
          <p:cNvPr id="15" name="Shape 11"/>
          <p:cNvSpPr/>
          <p:nvPr/>
        </p:nvSpPr>
        <p:spPr>
          <a:xfrm>
            <a:off x="7086600" y="2240280"/>
            <a:ext cx="914400" cy="914400"/>
          </a:xfrm>
          <a:prstGeom prst="ellipse">
            <a:avLst/>
          </a:prstGeom>
          <a:solidFill>
            <a:srgbClr val="0B1F3A"/>
          </a:solidFill>
          <a:ln w="25400">
            <a:solidFill>
              <a:srgbClr val="D4A017"/>
            </a:solidFill>
            <a:prstDash val="solid"/>
          </a:ln>
        </p:spPr>
      </p:sp>
      <p:sp>
        <p:nvSpPr>
          <p:cNvPr id="16" name="Text 12"/>
          <p:cNvSpPr/>
          <p:nvPr/>
        </p:nvSpPr>
        <p:spPr>
          <a:xfrm>
            <a:off x="7086600" y="2240280"/>
            <a:ext cx="914400" cy="914400"/>
          </a:xfrm>
          <a:prstGeom prst="rect">
            <a:avLst/>
          </a:prstGeom>
          <a:noFill/>
          <a:ln/>
        </p:spPr>
        <p:txBody>
          <a:bodyPr wrap="square" lIns="0" tIns="0" rIns="0" bIns="0" rtlCol="0" anchor="ctr"/>
          <a:lstStyle/>
          <a:p>
            <a:pPr marL="0" indent="0" algn="ctr">
              <a:buNone/>
            </a:pPr>
            <a:r>
              <a:rPr lang="en-US" sz="2800" b="1" dirty="0">
                <a:solidFill>
                  <a:srgbClr val="D4A017"/>
                </a:solidFill>
                <a:latin typeface="Georgia" pitchFamily="34" charset="0"/>
                <a:ea typeface="Georgia" pitchFamily="34" charset="-122"/>
                <a:cs typeface="Georgia" pitchFamily="34" charset="-120"/>
              </a:rPr>
              <a:t>3</a:t>
            </a:r>
            <a:endParaRPr lang="en-US" sz="2800" dirty="0"/>
          </a:p>
        </p:txBody>
      </p:sp>
      <p:sp>
        <p:nvSpPr>
          <p:cNvPr id="17" name="Shape 13"/>
          <p:cNvSpPr/>
          <p:nvPr/>
        </p:nvSpPr>
        <p:spPr>
          <a:xfrm>
            <a:off x="6217920" y="3566160"/>
            <a:ext cx="2651760" cy="2377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pic>
        <p:nvPicPr>
          <p:cNvPr id="18" name="Image 2" descr="preencoded.png"/>
          <p:cNvPicPr>
            <a:picLocks noChangeAspect="1"/>
          </p:cNvPicPr>
          <p:nvPr/>
        </p:nvPicPr>
        <p:blipFill>
          <a:blip r:embed="rId5"/>
          <a:stretch>
            <a:fillRect/>
          </a:stretch>
        </p:blipFill>
        <p:spPr>
          <a:xfrm>
            <a:off x="7223760" y="3840480"/>
            <a:ext cx="640080" cy="640080"/>
          </a:xfrm>
          <a:prstGeom prst="rect">
            <a:avLst/>
          </a:prstGeom>
        </p:spPr>
      </p:pic>
      <p:sp>
        <p:nvSpPr>
          <p:cNvPr id="19" name="Text 14"/>
          <p:cNvSpPr/>
          <p:nvPr/>
        </p:nvSpPr>
        <p:spPr>
          <a:xfrm>
            <a:off x="6400800" y="4663440"/>
            <a:ext cx="2286000" cy="1097280"/>
          </a:xfrm>
          <a:prstGeom prst="rect">
            <a:avLst/>
          </a:prstGeom>
          <a:noFill/>
          <a:ln/>
        </p:spPr>
        <p:txBody>
          <a:bodyPr wrap="square" lIns="0" tIns="0" rIns="0" bIns="0" rtlCol="0" anchor="t"/>
          <a:lstStyle/>
          <a:p>
            <a:pPr marL="0" indent="0" algn="ctr">
              <a:buNone/>
            </a:pPr>
            <a:r>
              <a:rPr lang="en-US" sz="1800" b="1" dirty="0">
                <a:solidFill>
                  <a:srgbClr val="0B1F3A"/>
                </a:solidFill>
                <a:latin typeface="Georgia" pitchFamily="34" charset="0"/>
                <a:ea typeface="Georgia" pitchFamily="34" charset="-122"/>
                <a:cs typeface="Georgia" pitchFamily="34" charset="-120"/>
              </a:rPr>
              <a:t>Modernize Correctional Facilities</a:t>
            </a:r>
            <a:endParaRPr lang="en-US" sz="1800" dirty="0"/>
          </a:p>
        </p:txBody>
      </p:sp>
      <p:sp>
        <p:nvSpPr>
          <p:cNvPr id="20" name="Shape 15"/>
          <p:cNvSpPr/>
          <p:nvPr/>
        </p:nvSpPr>
        <p:spPr>
          <a:xfrm>
            <a:off x="9921240" y="2240280"/>
            <a:ext cx="914400" cy="914400"/>
          </a:xfrm>
          <a:prstGeom prst="ellipse">
            <a:avLst/>
          </a:prstGeom>
          <a:solidFill>
            <a:srgbClr val="0B1F3A"/>
          </a:solidFill>
          <a:ln w="25400">
            <a:solidFill>
              <a:srgbClr val="D4A017"/>
            </a:solidFill>
            <a:prstDash val="solid"/>
          </a:ln>
        </p:spPr>
      </p:sp>
      <p:sp>
        <p:nvSpPr>
          <p:cNvPr id="21" name="Text 16"/>
          <p:cNvSpPr/>
          <p:nvPr/>
        </p:nvSpPr>
        <p:spPr>
          <a:xfrm>
            <a:off x="9921240" y="2240280"/>
            <a:ext cx="914400" cy="914400"/>
          </a:xfrm>
          <a:prstGeom prst="rect">
            <a:avLst/>
          </a:prstGeom>
          <a:noFill/>
          <a:ln/>
        </p:spPr>
        <p:txBody>
          <a:bodyPr wrap="square" lIns="0" tIns="0" rIns="0" bIns="0" rtlCol="0" anchor="ctr"/>
          <a:lstStyle/>
          <a:p>
            <a:pPr marL="0" indent="0" algn="ctr">
              <a:buNone/>
            </a:pPr>
            <a:r>
              <a:rPr lang="en-US" sz="2800" b="1" dirty="0">
                <a:solidFill>
                  <a:srgbClr val="D4A017"/>
                </a:solidFill>
                <a:latin typeface="Georgia" pitchFamily="34" charset="0"/>
                <a:ea typeface="Georgia" pitchFamily="34" charset="-122"/>
                <a:cs typeface="Georgia" pitchFamily="34" charset="-120"/>
              </a:rPr>
              <a:t>4</a:t>
            </a:r>
            <a:endParaRPr lang="en-US" sz="2800" dirty="0"/>
          </a:p>
        </p:txBody>
      </p:sp>
      <p:sp>
        <p:nvSpPr>
          <p:cNvPr id="22" name="Shape 17"/>
          <p:cNvSpPr/>
          <p:nvPr/>
        </p:nvSpPr>
        <p:spPr>
          <a:xfrm>
            <a:off x="9052560" y="3566160"/>
            <a:ext cx="2651760" cy="2377440"/>
          </a:xfrm>
          <a:prstGeom prst="rect">
            <a:avLst/>
          </a:prstGeom>
          <a:solidFill>
            <a:srgbClr val="FFFFFF"/>
          </a:solidFill>
          <a:ln w="9525">
            <a:solidFill>
              <a:srgbClr val="D9D4C7"/>
            </a:solidFill>
            <a:prstDash val="solid"/>
          </a:ln>
          <a:effectLst>
            <a:outerShdw blurRad="101600" dist="25400" dir="5400000" algn="bl" rotWithShape="0">
              <a:srgbClr val="000000">
                <a:alpha val="12000"/>
              </a:srgbClr>
            </a:outerShdw>
          </a:effectLst>
        </p:spPr>
      </p:sp>
      <p:pic>
        <p:nvPicPr>
          <p:cNvPr id="23" name="Image 3" descr="preencoded.png"/>
          <p:cNvPicPr>
            <a:picLocks noChangeAspect="1"/>
          </p:cNvPicPr>
          <p:nvPr/>
        </p:nvPicPr>
        <p:blipFill>
          <a:blip r:embed="rId6"/>
          <a:stretch>
            <a:fillRect/>
          </a:stretch>
        </p:blipFill>
        <p:spPr>
          <a:xfrm>
            <a:off x="10058400" y="3840480"/>
            <a:ext cx="640080" cy="640080"/>
          </a:xfrm>
          <a:prstGeom prst="rect">
            <a:avLst/>
          </a:prstGeom>
        </p:spPr>
      </p:pic>
      <p:sp>
        <p:nvSpPr>
          <p:cNvPr id="24" name="Text 18"/>
          <p:cNvSpPr/>
          <p:nvPr/>
        </p:nvSpPr>
        <p:spPr>
          <a:xfrm>
            <a:off x="9235440" y="4663440"/>
            <a:ext cx="2286000" cy="1097280"/>
          </a:xfrm>
          <a:prstGeom prst="rect">
            <a:avLst/>
          </a:prstGeom>
          <a:noFill/>
          <a:ln/>
        </p:spPr>
        <p:txBody>
          <a:bodyPr wrap="square" lIns="0" tIns="0" rIns="0" bIns="0" rtlCol="0" anchor="t"/>
          <a:lstStyle/>
          <a:p>
            <a:pPr marL="0" indent="0" algn="ctr">
              <a:buNone/>
            </a:pPr>
            <a:r>
              <a:rPr lang="en-US" sz="1800" b="1" dirty="0">
                <a:solidFill>
                  <a:srgbClr val="0B1F3A"/>
                </a:solidFill>
                <a:latin typeface="Georgia" pitchFamily="34" charset="0"/>
                <a:ea typeface="Georgia" pitchFamily="34" charset="-122"/>
                <a:cs typeface="Georgia" pitchFamily="34" charset="-120"/>
              </a:rPr>
              <a:t>Strengthen Reintegration Efforts</a:t>
            </a:r>
            <a:endParaRPr lang="en-US" sz="1800" dirty="0"/>
          </a:p>
        </p:txBody>
      </p:sp>
      <p:sp>
        <p:nvSpPr>
          <p:cNvPr id="25" name="Text 19"/>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26" name="Text 20"/>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3" name="Text 1"/>
          <p:cNvSpPr/>
          <p:nvPr/>
        </p:nvSpPr>
        <p:spPr>
          <a:xfrm>
            <a:off x="548640" y="777240"/>
            <a:ext cx="10972800" cy="822960"/>
          </a:xfrm>
          <a:prstGeom prst="rect">
            <a:avLst/>
          </a:prstGeom>
          <a:noFill/>
          <a:ln/>
        </p:spPr>
        <p:txBody>
          <a:bodyPr wrap="square" lIns="0" tIns="0" rIns="0" bIns="0" rtlCol="0" anchor="ctr"/>
          <a:lstStyle/>
          <a:p>
            <a:pPr marL="0" indent="0">
              <a:buNone/>
            </a:pPr>
            <a:r>
              <a:rPr lang="en-US" sz="3600" b="1" dirty="0">
                <a:solidFill>
                  <a:srgbClr val="0B1F3A"/>
                </a:solidFill>
                <a:latin typeface="Georgia" pitchFamily="34" charset="0"/>
                <a:ea typeface="Georgia" pitchFamily="34" charset="-122"/>
                <a:cs typeface="Georgia" pitchFamily="34" charset="-120"/>
              </a:rPr>
              <a:t>References</a:t>
            </a:r>
            <a:endParaRPr lang="en-US" sz="3600" dirty="0"/>
          </a:p>
        </p:txBody>
      </p:sp>
      <p:sp>
        <p:nvSpPr>
          <p:cNvPr id="4" name="Shape 2"/>
          <p:cNvSpPr/>
          <p:nvPr/>
        </p:nvSpPr>
        <p:spPr>
          <a:xfrm>
            <a:off x="548640" y="1874520"/>
            <a:ext cx="11064240" cy="896112"/>
          </a:xfrm>
          <a:prstGeom prst="rect">
            <a:avLst/>
          </a:prstGeom>
          <a:solidFill>
            <a:srgbClr val="FFFFFF"/>
          </a:solidFill>
          <a:ln w="9525">
            <a:solidFill>
              <a:srgbClr val="D9D4C7"/>
            </a:solidFill>
            <a:prstDash val="solid"/>
          </a:ln>
        </p:spPr>
      </p:sp>
      <p:sp>
        <p:nvSpPr>
          <p:cNvPr id="5" name="Shape 3"/>
          <p:cNvSpPr/>
          <p:nvPr/>
        </p:nvSpPr>
        <p:spPr>
          <a:xfrm>
            <a:off x="548640" y="1874520"/>
            <a:ext cx="73152" cy="896112"/>
          </a:xfrm>
          <a:prstGeom prst="rect">
            <a:avLst/>
          </a:prstGeom>
          <a:solidFill>
            <a:srgbClr val="D4A017"/>
          </a:solidFill>
          <a:ln w="12700">
            <a:solidFill>
              <a:srgbClr val="D4A017"/>
            </a:solidFill>
            <a:prstDash val="solid"/>
          </a:ln>
        </p:spPr>
      </p:sp>
      <p:sp>
        <p:nvSpPr>
          <p:cNvPr id="6" name="Text 4"/>
          <p:cNvSpPr/>
          <p:nvPr/>
        </p:nvSpPr>
        <p:spPr>
          <a:xfrm>
            <a:off x="868680" y="1874520"/>
            <a:ext cx="10515600" cy="896112"/>
          </a:xfrm>
          <a:prstGeom prst="rect">
            <a:avLst/>
          </a:prstGeom>
          <a:noFill/>
          <a:ln/>
        </p:spPr>
        <p:txBody>
          <a:bodyPr wrap="square" lIns="0" tIns="0" rIns="0" bIns="0" rtlCol="0" anchor="ctr"/>
          <a:lstStyle/>
          <a:p>
            <a:pPr marL="0" indent="0">
              <a:buNone/>
            </a:pPr>
            <a:r>
              <a:rPr lang="en-US" sz="1600" dirty="0">
                <a:solidFill>
                  <a:srgbClr val="1C2529"/>
                </a:solidFill>
                <a:latin typeface="Calibri" pitchFamily="34" charset="0"/>
                <a:ea typeface="Calibri" pitchFamily="34" charset="-122"/>
                <a:cs typeface="Calibri" pitchFamily="34" charset="-120"/>
              </a:rPr>
              <a:t>Bureau of Corrections. (n.d.). </a:t>
            </a:r>
            <a:r>
              <a:rPr lang="en-US" sz="1600" i="1" dirty="0">
                <a:solidFill>
                  <a:srgbClr val="1C2529"/>
                </a:solidFill>
                <a:latin typeface="Calibri" pitchFamily="34" charset="0"/>
                <a:ea typeface="Calibri" pitchFamily="34" charset="-122"/>
                <a:cs typeface="Calibri" pitchFamily="34" charset="-120"/>
              </a:rPr>
              <a:t>Mandates and Functions.</a:t>
            </a:r>
            <a:r>
              <a:rPr lang="en-US" sz="1600" dirty="0">
                <a:solidFill>
                  <a:srgbClr val="1F4E9A"/>
                </a:solidFill>
                <a:latin typeface="Calibri" pitchFamily="34" charset="0"/>
                <a:ea typeface="Calibri" pitchFamily="34" charset="-122"/>
                <a:cs typeface="Calibri" pitchFamily="34" charset="-120"/>
              </a:rPr>
              <a:t> https://bucor.gov.ph/?page_id=2304</a:t>
            </a:r>
            <a:endParaRPr lang="en-US" sz="1600" dirty="0"/>
          </a:p>
        </p:txBody>
      </p:sp>
      <p:sp>
        <p:nvSpPr>
          <p:cNvPr id="7" name="Shape 5"/>
          <p:cNvSpPr/>
          <p:nvPr/>
        </p:nvSpPr>
        <p:spPr>
          <a:xfrm>
            <a:off x="548640" y="2953512"/>
            <a:ext cx="11064240" cy="896112"/>
          </a:xfrm>
          <a:prstGeom prst="rect">
            <a:avLst/>
          </a:prstGeom>
          <a:solidFill>
            <a:srgbClr val="FFFFFF"/>
          </a:solidFill>
          <a:ln w="9525">
            <a:solidFill>
              <a:srgbClr val="D9D4C7"/>
            </a:solidFill>
            <a:prstDash val="solid"/>
          </a:ln>
        </p:spPr>
      </p:sp>
      <p:sp>
        <p:nvSpPr>
          <p:cNvPr id="8" name="Shape 6"/>
          <p:cNvSpPr/>
          <p:nvPr/>
        </p:nvSpPr>
        <p:spPr>
          <a:xfrm>
            <a:off x="548640" y="2953512"/>
            <a:ext cx="73152" cy="896112"/>
          </a:xfrm>
          <a:prstGeom prst="rect">
            <a:avLst/>
          </a:prstGeom>
          <a:solidFill>
            <a:srgbClr val="D4A017"/>
          </a:solidFill>
          <a:ln w="12700">
            <a:solidFill>
              <a:srgbClr val="D4A017"/>
            </a:solidFill>
            <a:prstDash val="solid"/>
          </a:ln>
        </p:spPr>
      </p:sp>
      <p:sp>
        <p:nvSpPr>
          <p:cNvPr id="9" name="Text 7"/>
          <p:cNvSpPr/>
          <p:nvPr/>
        </p:nvSpPr>
        <p:spPr>
          <a:xfrm>
            <a:off x="868680" y="2953512"/>
            <a:ext cx="10515600" cy="896112"/>
          </a:xfrm>
          <a:prstGeom prst="rect">
            <a:avLst/>
          </a:prstGeom>
          <a:noFill/>
          <a:ln/>
        </p:spPr>
        <p:txBody>
          <a:bodyPr wrap="square" lIns="0" tIns="0" rIns="0" bIns="0" rtlCol="0" anchor="ctr"/>
          <a:lstStyle/>
          <a:p>
            <a:pPr marL="0" indent="0">
              <a:buNone/>
            </a:pPr>
            <a:r>
              <a:rPr lang="en-US" sz="1600" dirty="0">
                <a:solidFill>
                  <a:srgbClr val="1C2529"/>
                </a:solidFill>
                <a:latin typeface="Calibri" pitchFamily="34" charset="0"/>
                <a:ea typeface="Calibri" pitchFamily="34" charset="-122"/>
                <a:cs typeface="Calibri" pitchFamily="34" charset="-120"/>
              </a:rPr>
              <a:t>Bureau of Corrections. (n.d.). </a:t>
            </a:r>
            <a:r>
              <a:rPr lang="en-US" sz="1600" i="1" dirty="0">
                <a:solidFill>
                  <a:srgbClr val="1C2529"/>
                </a:solidFill>
                <a:latin typeface="Calibri" pitchFamily="34" charset="0"/>
                <a:ea typeface="Calibri" pitchFamily="34" charset="-122"/>
                <a:cs typeface="Calibri" pitchFamily="34" charset="-120"/>
              </a:rPr>
              <a:t>Mission and Vision.</a:t>
            </a:r>
            <a:r>
              <a:rPr lang="en-US" sz="1600" dirty="0">
                <a:solidFill>
                  <a:srgbClr val="1F4E9A"/>
                </a:solidFill>
                <a:latin typeface="Calibri" pitchFamily="34" charset="0"/>
                <a:ea typeface="Calibri" pitchFamily="34" charset="-122"/>
                <a:cs typeface="Calibri" pitchFamily="34" charset="-120"/>
              </a:rPr>
              <a:t> https://bucor.gov.ph/?page_id=2305</a:t>
            </a:r>
            <a:endParaRPr lang="en-US" sz="1600" dirty="0"/>
          </a:p>
        </p:txBody>
      </p:sp>
      <p:sp>
        <p:nvSpPr>
          <p:cNvPr id="10" name="Shape 8"/>
          <p:cNvSpPr/>
          <p:nvPr/>
        </p:nvSpPr>
        <p:spPr>
          <a:xfrm>
            <a:off x="548640" y="4032504"/>
            <a:ext cx="11064240" cy="896112"/>
          </a:xfrm>
          <a:prstGeom prst="rect">
            <a:avLst/>
          </a:prstGeom>
          <a:solidFill>
            <a:srgbClr val="FFFFFF"/>
          </a:solidFill>
          <a:ln w="9525">
            <a:solidFill>
              <a:srgbClr val="D9D4C7"/>
            </a:solidFill>
            <a:prstDash val="solid"/>
          </a:ln>
        </p:spPr>
      </p:sp>
      <p:sp>
        <p:nvSpPr>
          <p:cNvPr id="11" name="Shape 9"/>
          <p:cNvSpPr/>
          <p:nvPr/>
        </p:nvSpPr>
        <p:spPr>
          <a:xfrm>
            <a:off x="548640" y="4032504"/>
            <a:ext cx="73152" cy="896112"/>
          </a:xfrm>
          <a:prstGeom prst="rect">
            <a:avLst/>
          </a:prstGeom>
          <a:solidFill>
            <a:srgbClr val="D4A017"/>
          </a:solidFill>
          <a:ln w="12700">
            <a:solidFill>
              <a:srgbClr val="D4A017"/>
            </a:solidFill>
            <a:prstDash val="solid"/>
          </a:ln>
        </p:spPr>
      </p:sp>
      <p:sp>
        <p:nvSpPr>
          <p:cNvPr id="12" name="Text 10"/>
          <p:cNvSpPr/>
          <p:nvPr/>
        </p:nvSpPr>
        <p:spPr>
          <a:xfrm>
            <a:off x="868680" y="4032504"/>
            <a:ext cx="10515600" cy="896112"/>
          </a:xfrm>
          <a:prstGeom prst="rect">
            <a:avLst/>
          </a:prstGeom>
          <a:noFill/>
          <a:ln/>
        </p:spPr>
        <p:txBody>
          <a:bodyPr wrap="square" lIns="0" tIns="0" rIns="0" bIns="0" rtlCol="0" anchor="ctr"/>
          <a:lstStyle/>
          <a:p>
            <a:pPr marL="0" indent="0">
              <a:buNone/>
            </a:pPr>
            <a:r>
              <a:rPr lang="en-US" sz="1600" dirty="0">
                <a:solidFill>
                  <a:srgbClr val="1C2529"/>
                </a:solidFill>
                <a:latin typeface="Calibri" pitchFamily="34" charset="0"/>
                <a:ea typeface="Calibri" pitchFamily="34" charset="-122"/>
                <a:cs typeface="Calibri" pitchFamily="34" charset="-120"/>
              </a:rPr>
              <a:t>Department of Justice. (n.d.). </a:t>
            </a:r>
            <a:r>
              <a:rPr lang="en-US" sz="1600" i="1" dirty="0">
                <a:solidFill>
                  <a:srgbClr val="1C2529"/>
                </a:solidFill>
                <a:latin typeface="Calibri" pitchFamily="34" charset="0"/>
                <a:ea typeface="Calibri" pitchFamily="34" charset="-122"/>
                <a:cs typeface="Calibri" pitchFamily="34" charset="-120"/>
              </a:rPr>
              <a:t>Bureau of Corrections.</a:t>
            </a:r>
            <a:r>
              <a:rPr lang="en-US" sz="1600" u="sng" dirty="0">
                <a:solidFill>
                  <a:srgbClr val="1F4E9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 https://www.doj.gov.ph/agencies.html</a:t>
            </a:r>
            <a:r>
              <a:rPr lang="en-US" sz="1600" u="sng" dirty="0">
                <a:solidFill>
                  <a:srgbClr val="1F4E9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 [doj.gov.ph]</a:t>
            </a:r>
            <a:endParaRPr lang="en-US" sz="1600" dirty="0"/>
          </a:p>
        </p:txBody>
      </p:sp>
      <p:sp>
        <p:nvSpPr>
          <p:cNvPr id="13" name="Shape 11"/>
          <p:cNvSpPr/>
          <p:nvPr/>
        </p:nvSpPr>
        <p:spPr>
          <a:xfrm>
            <a:off x="548640" y="5111496"/>
            <a:ext cx="11064240" cy="896112"/>
          </a:xfrm>
          <a:prstGeom prst="rect">
            <a:avLst/>
          </a:prstGeom>
          <a:solidFill>
            <a:srgbClr val="FFFFFF"/>
          </a:solidFill>
          <a:ln w="9525">
            <a:solidFill>
              <a:srgbClr val="D9D4C7"/>
            </a:solidFill>
            <a:prstDash val="solid"/>
          </a:ln>
        </p:spPr>
      </p:sp>
      <p:sp>
        <p:nvSpPr>
          <p:cNvPr id="14" name="Shape 12"/>
          <p:cNvSpPr/>
          <p:nvPr/>
        </p:nvSpPr>
        <p:spPr>
          <a:xfrm>
            <a:off x="548640" y="5111496"/>
            <a:ext cx="73152" cy="896112"/>
          </a:xfrm>
          <a:prstGeom prst="rect">
            <a:avLst/>
          </a:prstGeom>
          <a:solidFill>
            <a:srgbClr val="D4A017"/>
          </a:solidFill>
          <a:ln w="12700">
            <a:solidFill>
              <a:srgbClr val="D4A017"/>
            </a:solidFill>
            <a:prstDash val="solid"/>
          </a:ln>
        </p:spPr>
      </p:sp>
      <p:sp>
        <p:nvSpPr>
          <p:cNvPr id="15" name="Text 13"/>
          <p:cNvSpPr/>
          <p:nvPr/>
        </p:nvSpPr>
        <p:spPr>
          <a:xfrm>
            <a:off x="868680" y="5111496"/>
            <a:ext cx="10515600" cy="896112"/>
          </a:xfrm>
          <a:prstGeom prst="rect">
            <a:avLst/>
          </a:prstGeom>
          <a:noFill/>
          <a:ln/>
        </p:spPr>
        <p:txBody>
          <a:bodyPr wrap="square" lIns="0" tIns="0" rIns="0" bIns="0" rtlCol="0" anchor="ctr"/>
          <a:lstStyle/>
          <a:p>
            <a:pPr marL="0" indent="0">
              <a:buNone/>
            </a:pPr>
            <a:r>
              <a:rPr lang="en-US" sz="1600" dirty="0">
                <a:solidFill>
                  <a:srgbClr val="1C2529"/>
                </a:solidFill>
                <a:latin typeface="Calibri" pitchFamily="34" charset="0"/>
                <a:ea typeface="Calibri" pitchFamily="34" charset="-122"/>
                <a:cs typeface="Calibri" pitchFamily="34" charset="-120"/>
              </a:rPr>
              <a:t>Republic Act No. 10575. (2013). </a:t>
            </a:r>
            <a:r>
              <a:rPr lang="en-US" sz="1600" i="1" dirty="0">
                <a:solidFill>
                  <a:srgbClr val="1C2529"/>
                </a:solidFill>
                <a:latin typeface="Calibri" pitchFamily="34" charset="0"/>
                <a:ea typeface="Calibri" pitchFamily="34" charset="-122"/>
                <a:cs typeface="Calibri" pitchFamily="34" charset="-120"/>
              </a:rPr>
              <a:t>Bureau of Corrections Act of 2013.</a:t>
            </a:r>
            <a:r>
              <a:rPr lang="en-US" sz="1600" dirty="0">
                <a:solidFill>
                  <a:srgbClr val="1F4E9A"/>
                </a:solidFill>
                <a:latin typeface="Calibri" pitchFamily="34" charset="0"/>
                <a:ea typeface="Calibri" pitchFamily="34" charset="-122"/>
                <a:cs typeface="Calibri" pitchFamily="34" charset="-120"/>
              </a:rPr>
              <a:t> https://lawphil.net/statutes/repacts/ra2013/ra_10575_2013.html</a:t>
            </a:r>
            <a:endParaRPr lang="en-US" sz="1600" dirty="0"/>
          </a:p>
        </p:txBody>
      </p:sp>
      <p:sp>
        <p:nvSpPr>
          <p:cNvPr id="16" name="Text 14"/>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MSCJ 109 · Modern Penology</a:t>
            </a:r>
            <a:endParaRPr lang="en-US" sz="1000" dirty="0"/>
          </a:p>
        </p:txBody>
      </p:sp>
      <p:sp>
        <p:nvSpPr>
          <p:cNvPr id="17" name="Text 15"/>
          <p:cNvSpPr/>
          <p:nvPr/>
        </p:nvSpPr>
        <p:spPr>
          <a:xfrm>
            <a:off x="11185855" y="6400800"/>
            <a:ext cx="457200" cy="274320"/>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017"/>
          </a:solidFill>
          <a:ln w="12700">
            <a:solidFill>
              <a:srgbClr val="D4A017"/>
            </a:solidFill>
            <a:prstDash val="solid"/>
          </a:ln>
        </p:spPr>
      </p:sp>
      <p:sp>
        <p:nvSpPr>
          <p:cNvPr id="3" name="Text 1"/>
          <p:cNvSpPr/>
          <p:nvPr/>
        </p:nvSpPr>
        <p:spPr>
          <a:xfrm>
            <a:off x="731520" y="548640"/>
            <a:ext cx="5486400" cy="274320"/>
          </a:xfrm>
          <a:prstGeom prst="rect">
            <a:avLst/>
          </a:prstGeom>
          <a:noFill/>
          <a:ln/>
        </p:spPr>
        <p:txBody>
          <a:bodyPr wrap="square" lIns="0" tIns="0" rIns="0" bIns="0" rtlCol="0" anchor="ctr"/>
          <a:lstStyle/>
          <a:p>
            <a:pPr marL="0" indent="0">
              <a:buNone/>
            </a:pPr>
            <a:r>
              <a:rPr lang="en-US" sz="1200" b="1" kern="0" spc="300" dirty="0">
                <a:solidFill>
                  <a:srgbClr val="D4A017"/>
                </a:solidFill>
                <a:latin typeface="Calibri" pitchFamily="34" charset="0"/>
                <a:ea typeface="Calibri" pitchFamily="34" charset="-122"/>
                <a:cs typeface="Calibri" pitchFamily="34" charset="-120"/>
              </a:rPr>
              <a:t>MODERN PENOLOGY</a:t>
            </a:r>
            <a:endParaRPr lang="en-US" sz="1200" dirty="0"/>
          </a:p>
        </p:txBody>
      </p:sp>
      <p:sp>
        <p:nvSpPr>
          <p:cNvPr id="4" name="Text 2"/>
          <p:cNvSpPr/>
          <p:nvPr/>
        </p:nvSpPr>
        <p:spPr>
          <a:xfrm>
            <a:off x="731520" y="2103120"/>
            <a:ext cx="6217920" cy="1371600"/>
          </a:xfrm>
          <a:prstGeom prst="rect">
            <a:avLst/>
          </a:prstGeom>
          <a:noFill/>
          <a:ln/>
        </p:spPr>
        <p:txBody>
          <a:bodyPr wrap="square" lIns="0" tIns="0" rIns="0" bIns="0"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5" name="Text 3"/>
          <p:cNvSpPr/>
          <p:nvPr/>
        </p:nvSpPr>
        <p:spPr>
          <a:xfrm>
            <a:off x="731520" y="3474720"/>
            <a:ext cx="6217920" cy="548640"/>
          </a:xfrm>
          <a:prstGeom prst="rect">
            <a:avLst/>
          </a:prstGeom>
          <a:noFill/>
          <a:ln/>
        </p:spPr>
        <p:txBody>
          <a:bodyPr wrap="square" lIns="0" tIns="0" rIns="0" bIns="0" rtlCol="0" anchor="ctr"/>
          <a:lstStyle/>
          <a:p>
            <a:pPr marL="0" indent="0">
              <a:buNone/>
            </a:pPr>
            <a:r>
              <a:rPr lang="en-US" sz="2200" i="1" dirty="0">
                <a:solidFill>
                  <a:srgbClr val="C9D4E5"/>
                </a:solidFill>
                <a:latin typeface="Calibri" pitchFamily="34" charset="0"/>
                <a:ea typeface="Calibri" pitchFamily="34" charset="-122"/>
                <a:cs typeface="Calibri" pitchFamily="34" charset="-120"/>
              </a:rPr>
              <a:t>for your time and attention</a:t>
            </a:r>
            <a:endParaRPr lang="en-US" sz="2200" dirty="0"/>
          </a:p>
        </p:txBody>
      </p:sp>
      <p:sp>
        <p:nvSpPr>
          <p:cNvPr id="6" name="Shape 4"/>
          <p:cNvSpPr/>
          <p:nvPr/>
        </p:nvSpPr>
        <p:spPr>
          <a:xfrm>
            <a:off x="7315200" y="1188720"/>
            <a:ext cx="4297680" cy="4480560"/>
          </a:xfrm>
          <a:prstGeom prst="rect">
            <a:avLst/>
          </a:prstGeom>
          <a:solidFill>
            <a:srgbClr val="F6F4EF"/>
          </a:solidFill>
          <a:ln w="12700">
            <a:solidFill>
              <a:srgbClr val="F6F4EF"/>
            </a:solidFill>
            <a:prstDash val="solid"/>
          </a:ln>
        </p:spPr>
      </p:sp>
      <p:sp>
        <p:nvSpPr>
          <p:cNvPr id="7" name="Shape 5"/>
          <p:cNvSpPr/>
          <p:nvPr/>
        </p:nvSpPr>
        <p:spPr>
          <a:xfrm>
            <a:off x="7680960" y="1600200"/>
            <a:ext cx="594360" cy="594360"/>
          </a:xfrm>
          <a:prstGeom prst="ellipse">
            <a:avLst/>
          </a:prstGeom>
          <a:solidFill>
            <a:srgbClr val="D4A017"/>
          </a:solidFill>
          <a:ln w="12700">
            <a:solidFill>
              <a:srgbClr val="D4A017"/>
            </a:solidFill>
            <a:prstDash val="solid"/>
          </a:ln>
        </p:spPr>
      </p:sp>
      <p:pic>
        <p:nvPicPr>
          <p:cNvPr id="8" name="Image 0" descr="preencoded.png"/>
          <p:cNvPicPr>
            <a:picLocks noChangeAspect="1"/>
          </p:cNvPicPr>
          <p:nvPr/>
        </p:nvPicPr>
        <p:blipFill>
          <a:blip r:embed="rId3"/>
          <a:stretch>
            <a:fillRect/>
          </a:stretch>
        </p:blipFill>
        <p:spPr>
          <a:xfrm>
            <a:off x="7829550" y="1748790"/>
            <a:ext cx="297180" cy="297180"/>
          </a:xfrm>
          <a:prstGeom prst="rect">
            <a:avLst/>
          </a:prstGeom>
        </p:spPr>
      </p:pic>
      <p:sp>
        <p:nvSpPr>
          <p:cNvPr id="9" name="Text 6"/>
          <p:cNvSpPr/>
          <p:nvPr/>
        </p:nvSpPr>
        <p:spPr>
          <a:xfrm>
            <a:off x="8458200" y="1600200"/>
            <a:ext cx="3063240" cy="5943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945-283-4808</a:t>
            </a:r>
            <a:endParaRPr lang="en-US" sz="1600" dirty="0"/>
          </a:p>
        </p:txBody>
      </p:sp>
      <p:sp>
        <p:nvSpPr>
          <p:cNvPr id="10" name="Shape 7"/>
          <p:cNvSpPr/>
          <p:nvPr/>
        </p:nvSpPr>
        <p:spPr>
          <a:xfrm>
            <a:off x="7680960" y="2587752"/>
            <a:ext cx="594360" cy="594360"/>
          </a:xfrm>
          <a:prstGeom prst="ellipse">
            <a:avLst/>
          </a:prstGeom>
          <a:solidFill>
            <a:srgbClr val="D4A017"/>
          </a:solidFill>
          <a:ln w="12700">
            <a:solidFill>
              <a:srgbClr val="D4A017"/>
            </a:solidFill>
            <a:prstDash val="solid"/>
          </a:ln>
        </p:spPr>
      </p:sp>
      <p:pic>
        <p:nvPicPr>
          <p:cNvPr id="11" name="Image 1" descr="preencoded.png"/>
          <p:cNvPicPr>
            <a:picLocks noChangeAspect="1"/>
          </p:cNvPicPr>
          <p:nvPr/>
        </p:nvPicPr>
        <p:blipFill>
          <a:blip r:embed="rId4"/>
          <a:stretch>
            <a:fillRect/>
          </a:stretch>
        </p:blipFill>
        <p:spPr>
          <a:xfrm>
            <a:off x="7829550" y="2736342"/>
            <a:ext cx="297180" cy="297180"/>
          </a:xfrm>
          <a:prstGeom prst="rect">
            <a:avLst/>
          </a:prstGeom>
        </p:spPr>
      </p:pic>
      <p:sp>
        <p:nvSpPr>
          <p:cNvPr id="12" name="Text 8"/>
          <p:cNvSpPr/>
          <p:nvPr/>
        </p:nvSpPr>
        <p:spPr>
          <a:xfrm>
            <a:off x="8458200" y="2587752"/>
            <a:ext cx="3063240" cy="5943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EL LEe Sacurom</a:t>
            </a:r>
            <a:endParaRPr lang="en-US" sz="1600" dirty="0"/>
          </a:p>
        </p:txBody>
      </p:sp>
      <p:sp>
        <p:nvSpPr>
          <p:cNvPr id="13" name="Shape 9"/>
          <p:cNvSpPr/>
          <p:nvPr/>
        </p:nvSpPr>
        <p:spPr>
          <a:xfrm>
            <a:off x="7680960" y="3575304"/>
            <a:ext cx="594360" cy="594360"/>
          </a:xfrm>
          <a:prstGeom prst="ellipse">
            <a:avLst/>
          </a:prstGeom>
          <a:solidFill>
            <a:srgbClr val="D4A017"/>
          </a:solidFill>
          <a:ln w="12700">
            <a:solidFill>
              <a:srgbClr val="D4A017"/>
            </a:solidFill>
            <a:prstDash val="solid"/>
          </a:ln>
        </p:spPr>
      </p:sp>
      <p:pic>
        <p:nvPicPr>
          <p:cNvPr id="14" name="Image 2" descr="preencoded.png"/>
          <p:cNvPicPr>
            <a:picLocks noChangeAspect="1"/>
          </p:cNvPicPr>
          <p:nvPr/>
        </p:nvPicPr>
        <p:blipFill>
          <a:blip r:embed="rId5"/>
          <a:stretch>
            <a:fillRect/>
          </a:stretch>
        </p:blipFill>
        <p:spPr>
          <a:xfrm>
            <a:off x="7829550" y="3723894"/>
            <a:ext cx="297180" cy="297180"/>
          </a:xfrm>
          <a:prstGeom prst="rect">
            <a:avLst/>
          </a:prstGeom>
        </p:spPr>
      </p:pic>
      <p:sp>
        <p:nvSpPr>
          <p:cNvPr id="15" name="Text 10"/>
          <p:cNvSpPr/>
          <p:nvPr/>
        </p:nvSpPr>
        <p:spPr>
          <a:xfrm>
            <a:off x="8458200" y="3575304"/>
            <a:ext cx="3063240" cy="5943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leesacurom03@gmail.com</a:t>
            </a:r>
            <a:endParaRPr lang="en-US" sz="1600" dirty="0"/>
          </a:p>
        </p:txBody>
      </p:sp>
      <p:sp>
        <p:nvSpPr>
          <p:cNvPr id="16" name="Shape 11"/>
          <p:cNvSpPr/>
          <p:nvPr/>
        </p:nvSpPr>
        <p:spPr>
          <a:xfrm>
            <a:off x="7680960" y="4562856"/>
            <a:ext cx="594360" cy="594360"/>
          </a:xfrm>
          <a:prstGeom prst="ellipse">
            <a:avLst/>
          </a:prstGeom>
          <a:solidFill>
            <a:srgbClr val="D4A017"/>
          </a:solidFill>
          <a:ln w="12700">
            <a:solidFill>
              <a:srgbClr val="D4A017"/>
            </a:solidFill>
            <a:prstDash val="solid"/>
          </a:ln>
        </p:spPr>
      </p:sp>
      <p:pic>
        <p:nvPicPr>
          <p:cNvPr id="17" name="Image 3" descr="preencoded.png"/>
          <p:cNvPicPr>
            <a:picLocks noChangeAspect="1"/>
          </p:cNvPicPr>
          <p:nvPr/>
        </p:nvPicPr>
        <p:blipFill>
          <a:blip r:embed="rId6"/>
          <a:stretch>
            <a:fillRect/>
          </a:stretch>
        </p:blipFill>
        <p:spPr>
          <a:xfrm>
            <a:off x="7829550" y="4711446"/>
            <a:ext cx="297180" cy="297180"/>
          </a:xfrm>
          <a:prstGeom prst="rect">
            <a:avLst/>
          </a:prstGeom>
        </p:spPr>
      </p:pic>
      <p:sp>
        <p:nvSpPr>
          <p:cNvPr id="18" name="Text 12"/>
          <p:cNvSpPr/>
          <p:nvPr/>
        </p:nvSpPr>
        <p:spPr>
          <a:xfrm>
            <a:off x="8458200" y="4562856"/>
            <a:ext cx="3063240" cy="59436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Banilad, Cebu City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Philippine Correctional System: Institution-Based Corrections</dc:title>
  <dc:subject>PptxGenJS Presentation</dc:subject>
  <dc:creator>Comendador, Leou</dc:creator>
  <cp:lastModifiedBy>Comendador, Leou</cp:lastModifiedBy>
  <cp:revision>2</cp:revision>
  <dcterms:created xsi:type="dcterms:W3CDTF">2026-09-26T04:33:45Z</dcterms:created>
  <dcterms:modified xsi:type="dcterms:W3CDTF">2026-09-26T04:39:11Z</dcterms:modified>
</cp:coreProperties>
</file>