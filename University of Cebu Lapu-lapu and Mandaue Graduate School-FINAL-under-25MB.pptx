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Aptos Narrow" panose="020B0004020202020204" pitchFamily="34" charset="0"/>
      <p:regular r:id="rId28"/>
      <p:bold r:id="rId29"/>
      <p:italic r:id="rId30"/>
      <p:boldItalic r:id="rId31"/>
    </p:embeddedFont>
    <p:embeddedFont>
      <p:font typeface="Montserrat Semi-Bold" panose="020B0604020202020204" charset="0"/>
      <p:regular r:id="rId32"/>
    </p:embeddedFont>
    <p:embeddedFont>
      <p:font typeface="Montserrat Ultra-Bold" panose="020B0604020202020204" charset="0"/>
      <p:regular r:id="rId33"/>
    </p:embeddedFont>
    <p:embeddedFont>
      <p:font typeface="Open Sauce" panose="020B0604020202020204" charset="0"/>
      <p:regular r:id="rId34"/>
    </p:embeddedFont>
    <p:embeddedFont>
      <p:font typeface="Open Sauce Bold" panose="020B0604020202020204" charset="0"/>
      <p:regular r:id="rId35"/>
    </p:embeddedFont>
    <p:embeddedFont>
      <p:font typeface="Open Sauce Heavy" panose="020B0604020202020204" charset="0"/>
      <p:regular r:id="rId36"/>
    </p:embeddedFont>
    <p:embeddedFont>
      <p:font typeface="Open Sauce Light" panose="020B0604020202020204" charset="0"/>
      <p:regular r:id="rId37"/>
    </p:embeddedFont>
    <p:embeddedFont>
      <p:font typeface="Open Sauce Semi-Bold" panose="020B0604020202020204" charset="0"/>
      <p:regular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italic r:id="rId44"/>
    </p:embeddedFont>
    <p:embeddedFont>
      <p:font typeface="Poppins Semi-Bold" panose="020B0604020202020204" charset="0"/>
      <p:regular r:id="rId45"/>
    </p:embeddedFont>
    <p:embeddedFont>
      <p:font typeface="Poppins Ultra-Bold" panose="020B0604020202020204" charset="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A704B-F1FB-2BE0-B8B7-781B8EED679E}" v="11" dt="2026-09-26T04:27:58.8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ww.doj.gov.ph/agencies.html"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1977201">
            <a:off x="8635820" y="-1224769"/>
            <a:ext cx="12791303" cy="9442307"/>
          </a:xfrm>
          <a:custGeom>
            <a:avLst/>
            <a:gdLst/>
            <a:ahLst/>
            <a:cxnLst/>
            <a:rect l="l" t="t" r="r" b="b"/>
            <a:pathLst>
              <a:path w="12791303" h="9442307">
                <a:moveTo>
                  <a:pt x="0" y="0"/>
                </a:moveTo>
                <a:lnTo>
                  <a:pt x="12791303" y="0"/>
                </a:lnTo>
                <a:lnTo>
                  <a:pt x="12791303" y="9442307"/>
                </a:lnTo>
                <a:lnTo>
                  <a:pt x="0" y="9442307"/>
                </a:lnTo>
                <a:lnTo>
                  <a:pt x="0" y="0"/>
                </a:lnTo>
                <a:close/>
              </a:path>
            </a:pathLst>
          </a:custGeom>
          <a:blipFill>
            <a:blip r:embed="rId2">
              <a:alphaModFix amt="42000"/>
            </a:blip>
            <a:stretch>
              <a:fillRect/>
            </a:stretch>
          </a:blipFill>
        </p:spPr>
        <p:txBody>
          <a:bodyPr/>
          <a:lstStyle/>
          <a:p>
            <a:endParaRPr lang="en-US"/>
          </a:p>
        </p:txBody>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txBody>
          <a:bodyPr/>
          <a:lstStyle/>
          <a:p>
            <a:endParaRPr lang="en-US"/>
          </a:p>
        </p:txBody>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AutoShape 5"/>
          <p:cNvSpPr/>
          <p:nvPr/>
        </p:nvSpPr>
        <p:spPr>
          <a:xfrm>
            <a:off x="1045163" y="1480091"/>
            <a:ext cx="16214137" cy="1"/>
          </a:xfrm>
          <a:prstGeom prst="line">
            <a:avLst/>
          </a:prstGeom>
          <a:ln w="9525" cap="flat">
            <a:solidFill>
              <a:srgbClr val="7B7B7B"/>
            </a:solidFill>
            <a:prstDash val="solid"/>
            <a:headEnd type="none" w="sm" len="sm"/>
            <a:tailEnd type="none" w="sm" len="sm"/>
          </a:ln>
        </p:spPr>
        <p:txBody>
          <a:bodyPr/>
          <a:lstStyle/>
          <a:p>
            <a:endParaRPr lang="en-US"/>
          </a:p>
        </p:txBody>
      </p:sp>
      <p:sp>
        <p:nvSpPr>
          <p:cNvPr id="6" name="TextBox 6"/>
          <p:cNvSpPr txBox="1"/>
          <p:nvPr/>
        </p:nvSpPr>
        <p:spPr>
          <a:xfrm>
            <a:off x="5817323" y="1482769"/>
            <a:ext cx="7377491" cy="1053465"/>
          </a:xfrm>
          <a:prstGeom prst="rect">
            <a:avLst/>
          </a:prstGeom>
        </p:spPr>
        <p:txBody>
          <a:bodyPr lIns="0" tIns="0" rIns="0" bIns="0" rtlCol="0" anchor="t">
            <a:spAutoFit/>
          </a:bodyPr>
          <a:lstStyle/>
          <a:p>
            <a:pPr algn="ctr">
              <a:lnSpc>
                <a:spcPts val="2760"/>
              </a:lnSpc>
            </a:pPr>
            <a:r>
              <a:rPr lang="en-US" sz="2400" b="1" spc="43">
                <a:solidFill>
                  <a:srgbClr val="020C45"/>
                </a:solidFill>
                <a:latin typeface="Poppins Semi-Bold"/>
                <a:ea typeface="Poppins Semi-Bold"/>
                <a:cs typeface="Poppins Semi-Bold"/>
                <a:sym typeface="Poppins Semi-Bold"/>
              </a:rPr>
              <a:t>University of Cebu Lapu-Lapu and Mandaue</a:t>
            </a:r>
          </a:p>
          <a:p>
            <a:pPr algn="ctr">
              <a:lnSpc>
                <a:spcPts val="2760"/>
              </a:lnSpc>
            </a:pPr>
            <a:r>
              <a:rPr lang="en-US" sz="2400" b="1" spc="43">
                <a:solidFill>
                  <a:srgbClr val="020C45"/>
                </a:solidFill>
                <a:latin typeface="Poppins Semi-Bold"/>
                <a:ea typeface="Poppins Semi-Bold"/>
                <a:cs typeface="Poppins Semi-Bold"/>
                <a:sym typeface="Poppins Semi-Bold"/>
              </a:rPr>
              <a:t>Graduate School</a:t>
            </a:r>
          </a:p>
          <a:p>
            <a:pPr algn="ctr">
              <a:lnSpc>
                <a:spcPts val="2760"/>
              </a:lnSpc>
            </a:pPr>
            <a:endParaRPr lang="en-US" sz="2400" b="1" spc="43">
              <a:solidFill>
                <a:srgbClr val="020C45"/>
              </a:solidFill>
              <a:latin typeface="Poppins Semi-Bold"/>
              <a:ea typeface="Poppins Semi-Bold"/>
              <a:cs typeface="Poppins Semi-Bold"/>
              <a:sym typeface="Poppins Semi-Bold"/>
            </a:endParaRPr>
          </a:p>
        </p:txBody>
      </p:sp>
      <p:sp>
        <p:nvSpPr>
          <p:cNvPr id="7" name="TextBox 7"/>
          <p:cNvSpPr txBox="1"/>
          <p:nvPr/>
        </p:nvSpPr>
        <p:spPr>
          <a:xfrm>
            <a:off x="5817323" y="2720735"/>
            <a:ext cx="7377491" cy="747395"/>
          </a:xfrm>
          <a:prstGeom prst="rect">
            <a:avLst/>
          </a:prstGeom>
        </p:spPr>
        <p:txBody>
          <a:bodyPr lIns="0" tIns="0" rIns="0" bIns="0" rtlCol="0" anchor="t">
            <a:spAutoFit/>
          </a:bodyPr>
          <a:lstStyle/>
          <a:p>
            <a:pPr algn="ctr">
              <a:lnSpc>
                <a:spcPts val="2860"/>
              </a:lnSpc>
            </a:pPr>
            <a:r>
              <a:rPr lang="en-US" sz="2600" b="1">
                <a:solidFill>
                  <a:srgbClr val="020C45"/>
                </a:solidFill>
                <a:latin typeface="Poppins Medium"/>
                <a:ea typeface="Poppins Medium"/>
                <a:cs typeface="Poppins Medium"/>
                <a:sym typeface="Poppins Medium"/>
              </a:rPr>
              <a:t>Master of Science in Criminal Justice</a:t>
            </a:r>
          </a:p>
          <a:p>
            <a:pPr algn="ctr">
              <a:lnSpc>
                <a:spcPts val="2860"/>
              </a:lnSpc>
            </a:pPr>
            <a:r>
              <a:rPr lang="en-US" sz="2600" b="1">
                <a:solidFill>
                  <a:srgbClr val="020C45"/>
                </a:solidFill>
                <a:latin typeface="Poppins Medium"/>
                <a:ea typeface="Poppins Medium"/>
                <a:cs typeface="Poppins Medium"/>
                <a:sym typeface="Poppins Medium"/>
              </a:rPr>
              <a:t>with Specialization in Criminology</a:t>
            </a:r>
          </a:p>
        </p:txBody>
      </p:sp>
      <p:sp>
        <p:nvSpPr>
          <p:cNvPr id="8" name="TextBox 8"/>
          <p:cNvSpPr txBox="1"/>
          <p:nvPr/>
        </p:nvSpPr>
        <p:spPr>
          <a:xfrm>
            <a:off x="5817323" y="3653901"/>
            <a:ext cx="7377491" cy="574675"/>
          </a:xfrm>
          <a:prstGeom prst="rect">
            <a:avLst/>
          </a:prstGeom>
        </p:spPr>
        <p:txBody>
          <a:bodyPr lIns="0" tIns="0" rIns="0" bIns="0" rtlCol="0" anchor="t">
            <a:spAutoFit/>
          </a:bodyPr>
          <a:lstStyle/>
          <a:p>
            <a:pPr algn="ctr">
              <a:lnSpc>
                <a:spcPts val="5000"/>
              </a:lnSpc>
            </a:pPr>
            <a:r>
              <a:rPr lang="en-US" sz="2000" spc="24">
                <a:solidFill>
                  <a:srgbClr val="1C2529"/>
                </a:solidFill>
                <a:latin typeface="Poppins"/>
                <a:ea typeface="Poppins"/>
                <a:cs typeface="Poppins"/>
                <a:sym typeface="Poppins"/>
              </a:rPr>
              <a:t>A Topic Report:</a:t>
            </a:r>
          </a:p>
        </p:txBody>
      </p:sp>
      <p:sp>
        <p:nvSpPr>
          <p:cNvPr id="9" name="TextBox 9"/>
          <p:cNvSpPr txBox="1"/>
          <p:nvPr/>
        </p:nvSpPr>
        <p:spPr>
          <a:xfrm>
            <a:off x="3792959" y="5000933"/>
            <a:ext cx="11997887" cy="1264920"/>
          </a:xfrm>
          <a:prstGeom prst="rect">
            <a:avLst/>
          </a:prstGeom>
        </p:spPr>
        <p:txBody>
          <a:bodyPr lIns="0" tIns="0" rIns="0" bIns="0" rtlCol="0" anchor="t">
            <a:spAutoFit/>
          </a:bodyPr>
          <a:lstStyle/>
          <a:p>
            <a:pPr algn="l">
              <a:lnSpc>
                <a:spcPts val="5039"/>
              </a:lnSpc>
            </a:pPr>
            <a:r>
              <a:rPr lang="en-US" sz="3999" b="1" spc="159" dirty="0">
                <a:solidFill>
                  <a:srgbClr val="0A3D91"/>
                </a:solidFill>
                <a:latin typeface="Montserrat Ultra-Bold"/>
                <a:ea typeface="Montserrat Ultra-Bold"/>
                <a:cs typeface="Montserrat Ultra-Bold"/>
                <a:sym typeface="Montserrat Ultra-Bold"/>
              </a:rPr>
              <a:t>THE PHILIPPINE CORRECTIONAL SYSTEM: INSTITUTION-BASED CORRECTIONS</a:t>
            </a:r>
          </a:p>
        </p:txBody>
      </p:sp>
      <p:sp>
        <p:nvSpPr>
          <p:cNvPr id="10" name="TextBox 10"/>
          <p:cNvSpPr txBox="1"/>
          <p:nvPr/>
        </p:nvSpPr>
        <p:spPr>
          <a:xfrm>
            <a:off x="5817323" y="4435713"/>
            <a:ext cx="7377491" cy="318135"/>
          </a:xfrm>
          <a:prstGeom prst="rect">
            <a:avLst/>
          </a:prstGeom>
        </p:spPr>
        <p:txBody>
          <a:bodyPr lIns="0" tIns="0" rIns="0" bIns="0" rtlCol="0" anchor="t">
            <a:spAutoFit/>
          </a:bodyPr>
          <a:lstStyle/>
          <a:p>
            <a:pPr algn="ctr">
              <a:lnSpc>
                <a:spcPts val="2400"/>
              </a:lnSpc>
            </a:pPr>
            <a:r>
              <a:rPr lang="en-US" sz="2400" b="1" spc="38">
                <a:solidFill>
                  <a:srgbClr val="D4A017"/>
                </a:solidFill>
                <a:latin typeface="Montserrat Semi-Bold"/>
                <a:ea typeface="Montserrat Semi-Bold"/>
                <a:cs typeface="Montserrat Semi-Bold"/>
                <a:sym typeface="Montserrat Semi-Bold"/>
              </a:rPr>
              <a:t>MSCJ 109 - Modern Penology</a:t>
            </a:r>
          </a:p>
        </p:txBody>
      </p:sp>
      <p:sp>
        <p:nvSpPr>
          <p:cNvPr id="11" name="TextBox 11"/>
          <p:cNvSpPr txBox="1"/>
          <p:nvPr/>
        </p:nvSpPr>
        <p:spPr>
          <a:xfrm>
            <a:off x="5455254" y="7059765"/>
            <a:ext cx="7377491" cy="354711"/>
          </a:xfrm>
          <a:prstGeom prst="rect">
            <a:avLst/>
          </a:prstGeom>
        </p:spPr>
        <p:txBody>
          <a:bodyPr lIns="0" tIns="0" rIns="0" bIns="0" rtlCol="0" anchor="t">
            <a:spAutoFit/>
          </a:bodyPr>
          <a:lstStyle/>
          <a:p>
            <a:pPr algn="ctr">
              <a:lnSpc>
                <a:spcPts val="2771"/>
              </a:lnSpc>
            </a:pPr>
            <a:r>
              <a:rPr lang="en-US" sz="2199" b="1" spc="-123">
                <a:solidFill>
                  <a:srgbClr val="0A3D91"/>
                </a:solidFill>
                <a:latin typeface="Poppins Ultra-Bold"/>
                <a:ea typeface="Poppins Ultra-Bold"/>
                <a:cs typeface="Poppins Ultra-Bold"/>
                <a:sym typeface="Poppins Ultra-Bold"/>
              </a:rPr>
              <a:t>Presented to:</a:t>
            </a:r>
          </a:p>
        </p:txBody>
      </p:sp>
      <p:sp>
        <p:nvSpPr>
          <p:cNvPr id="12" name="TextBox 12"/>
          <p:cNvSpPr txBox="1"/>
          <p:nvPr/>
        </p:nvSpPr>
        <p:spPr>
          <a:xfrm>
            <a:off x="5455254" y="8208387"/>
            <a:ext cx="7377491" cy="354711"/>
          </a:xfrm>
          <a:prstGeom prst="rect">
            <a:avLst/>
          </a:prstGeom>
        </p:spPr>
        <p:txBody>
          <a:bodyPr lIns="0" tIns="0" rIns="0" bIns="0" rtlCol="0" anchor="t">
            <a:spAutoFit/>
          </a:bodyPr>
          <a:lstStyle/>
          <a:p>
            <a:pPr algn="ctr">
              <a:lnSpc>
                <a:spcPts val="2771"/>
              </a:lnSpc>
            </a:pPr>
            <a:r>
              <a:rPr lang="en-US" sz="2199" b="1" spc="-123">
                <a:solidFill>
                  <a:srgbClr val="0A3D91"/>
                </a:solidFill>
                <a:latin typeface="Poppins Ultra-Bold"/>
                <a:ea typeface="Poppins Ultra-Bold"/>
                <a:cs typeface="Poppins Ultra-Bold"/>
                <a:sym typeface="Poppins Ultra-Bold"/>
              </a:rPr>
              <a:t>Presented by:</a:t>
            </a:r>
          </a:p>
        </p:txBody>
      </p:sp>
      <p:sp>
        <p:nvSpPr>
          <p:cNvPr id="13" name="TextBox 13"/>
          <p:cNvSpPr txBox="1"/>
          <p:nvPr/>
        </p:nvSpPr>
        <p:spPr>
          <a:xfrm>
            <a:off x="5455254" y="7481151"/>
            <a:ext cx="7377491" cy="400812"/>
          </a:xfrm>
          <a:prstGeom prst="rect">
            <a:avLst/>
          </a:prstGeom>
        </p:spPr>
        <p:txBody>
          <a:bodyPr lIns="0" tIns="0" rIns="0" bIns="0" rtlCol="0" anchor="t">
            <a:spAutoFit/>
          </a:bodyPr>
          <a:lstStyle/>
          <a:p>
            <a:pPr algn="ctr">
              <a:lnSpc>
                <a:spcPts val="3024"/>
              </a:lnSpc>
            </a:pPr>
            <a:r>
              <a:rPr lang="en-US" sz="2400" b="1" spc="-134">
                <a:solidFill>
                  <a:srgbClr val="0A3D91"/>
                </a:solidFill>
                <a:latin typeface="Poppins Semi-Bold"/>
                <a:ea typeface="Poppins Semi-Bold"/>
                <a:cs typeface="Poppins Semi-Bold"/>
                <a:sym typeface="Poppins Semi-Bold"/>
              </a:rPr>
              <a:t>Paul Pioquinto</a:t>
            </a:r>
          </a:p>
        </p:txBody>
      </p:sp>
      <p:sp>
        <p:nvSpPr>
          <p:cNvPr id="14" name="TextBox 14"/>
          <p:cNvSpPr txBox="1"/>
          <p:nvPr/>
        </p:nvSpPr>
        <p:spPr>
          <a:xfrm>
            <a:off x="5611972" y="8639298"/>
            <a:ext cx="7377491" cy="418338"/>
          </a:xfrm>
          <a:prstGeom prst="rect">
            <a:avLst/>
          </a:prstGeom>
        </p:spPr>
        <p:txBody>
          <a:bodyPr lIns="0" tIns="0" rIns="0" bIns="0" rtlCol="0" anchor="t">
            <a:spAutoFit/>
          </a:bodyPr>
          <a:lstStyle/>
          <a:p>
            <a:pPr algn="ctr">
              <a:lnSpc>
                <a:spcPts val="3276"/>
              </a:lnSpc>
            </a:pPr>
            <a:r>
              <a:rPr lang="en-US" sz="2600" b="1" spc="-145">
                <a:solidFill>
                  <a:srgbClr val="0A3D91"/>
                </a:solidFill>
                <a:latin typeface="Poppins Semi-Bold"/>
                <a:ea typeface="Poppins Semi-Bold"/>
                <a:cs typeface="Poppins Semi-Bold"/>
                <a:sym typeface="Poppins Semi-Bold"/>
              </a:rPr>
              <a:t>Sacurom, Lovely Mae 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1925852">
            <a:off x="-2330235" y="25971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5000"/>
            </a:blip>
            <a:stretch>
              <a:fillRect/>
            </a:stretch>
          </a:blipFill>
        </p:spPr>
        <p:txBody>
          <a:bodyPr/>
          <a:lstStyle/>
          <a:p>
            <a:endParaRPr lang="en-US"/>
          </a:p>
        </p:txBody>
      </p:sp>
      <p:sp>
        <p:nvSpPr>
          <p:cNvPr id="4" name="Freeform 4"/>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4">
              <a:alphaModFix amt="25000"/>
            </a:blip>
            <a:stretch>
              <a:fillRect/>
            </a:stretch>
          </a:blipFill>
        </p:spPr>
        <p:txBody>
          <a:bodyPr/>
          <a:lstStyle/>
          <a:p>
            <a:endParaRPr lang="en-US"/>
          </a:p>
        </p:txBody>
      </p:sp>
      <p:grpSp>
        <p:nvGrpSpPr>
          <p:cNvPr id="5" name="Group 5"/>
          <p:cNvGrpSpPr/>
          <p:nvPr/>
        </p:nvGrpSpPr>
        <p:grpSpPr>
          <a:xfrm>
            <a:off x="9268640" y="-1913484"/>
            <a:ext cx="8120948" cy="14062990"/>
            <a:chOff x="0" y="0"/>
            <a:chExt cx="2138850" cy="3703833"/>
          </a:xfrm>
        </p:grpSpPr>
        <p:sp>
          <p:nvSpPr>
            <p:cNvPr id="6" name="Freeform 6"/>
            <p:cNvSpPr/>
            <p:nvPr/>
          </p:nvSpPr>
          <p:spPr>
            <a:xfrm>
              <a:off x="0" y="0"/>
              <a:ext cx="2138850" cy="3703833"/>
            </a:xfrm>
            <a:custGeom>
              <a:avLst/>
              <a:gdLst/>
              <a:ahLst/>
              <a:cxnLst/>
              <a:rect l="l" t="t" r="r" b="b"/>
              <a:pathLst>
                <a:path w="2138850" h="3703833">
                  <a:moveTo>
                    <a:pt x="38133" y="0"/>
                  </a:moveTo>
                  <a:lnTo>
                    <a:pt x="2100717" y="0"/>
                  </a:lnTo>
                  <a:cubicBezTo>
                    <a:pt x="2110831" y="0"/>
                    <a:pt x="2120530" y="4018"/>
                    <a:pt x="2127682" y="11169"/>
                  </a:cubicBezTo>
                  <a:cubicBezTo>
                    <a:pt x="2134833" y="18320"/>
                    <a:pt x="2138850" y="28020"/>
                    <a:pt x="2138850" y="38133"/>
                  </a:cubicBezTo>
                  <a:lnTo>
                    <a:pt x="2138850" y="3665700"/>
                  </a:lnTo>
                  <a:cubicBezTo>
                    <a:pt x="2138850" y="3675813"/>
                    <a:pt x="2134833" y="3685513"/>
                    <a:pt x="2127682" y="3692664"/>
                  </a:cubicBezTo>
                  <a:cubicBezTo>
                    <a:pt x="2120530" y="3699815"/>
                    <a:pt x="2110831" y="3703833"/>
                    <a:pt x="2100717" y="3703833"/>
                  </a:cubicBezTo>
                  <a:lnTo>
                    <a:pt x="38133" y="3703833"/>
                  </a:lnTo>
                  <a:cubicBezTo>
                    <a:pt x="28020" y="3703833"/>
                    <a:pt x="18320" y="3699815"/>
                    <a:pt x="11169" y="3692664"/>
                  </a:cubicBezTo>
                  <a:cubicBezTo>
                    <a:pt x="4018" y="3685513"/>
                    <a:pt x="0" y="3675813"/>
                    <a:pt x="0" y="3665700"/>
                  </a:cubicBezTo>
                  <a:lnTo>
                    <a:pt x="0" y="38133"/>
                  </a:lnTo>
                  <a:cubicBezTo>
                    <a:pt x="0" y="28020"/>
                    <a:pt x="4018" y="18320"/>
                    <a:pt x="11169" y="11169"/>
                  </a:cubicBezTo>
                  <a:cubicBezTo>
                    <a:pt x="18320" y="4018"/>
                    <a:pt x="28020" y="0"/>
                    <a:pt x="38133" y="0"/>
                  </a:cubicBezTo>
                  <a:close/>
                </a:path>
              </a:pathLst>
            </a:custGeom>
            <a:solidFill>
              <a:srgbClr val="D0D7DD"/>
            </a:solidFill>
            <a:ln w="19050" cap="rnd">
              <a:solidFill>
                <a:srgbClr val="424242"/>
              </a:solidFill>
              <a:prstDash val="solid"/>
              <a:round/>
            </a:ln>
          </p:spPr>
          <p:txBody>
            <a:bodyPr/>
            <a:lstStyle/>
            <a:p>
              <a:endParaRPr lang="en-US"/>
            </a:p>
          </p:txBody>
        </p:sp>
        <p:sp>
          <p:nvSpPr>
            <p:cNvPr id="7" name="TextBox 7"/>
            <p:cNvSpPr txBox="1"/>
            <p:nvPr/>
          </p:nvSpPr>
          <p:spPr>
            <a:xfrm>
              <a:off x="0" y="-28575"/>
              <a:ext cx="2138850" cy="3732408"/>
            </a:xfrm>
            <a:prstGeom prst="rect">
              <a:avLst/>
            </a:prstGeom>
          </p:spPr>
          <p:txBody>
            <a:bodyPr lIns="50800" tIns="50800" rIns="50800" bIns="50800" rtlCol="0" anchor="ctr"/>
            <a:lstStyle/>
            <a:p>
              <a:pPr algn="ctr">
                <a:lnSpc>
                  <a:spcPts val="2015"/>
                </a:lnSpc>
              </a:pPr>
              <a:endParaRPr/>
            </a:p>
          </p:txBody>
        </p:sp>
      </p:grpSp>
      <p:sp>
        <p:nvSpPr>
          <p:cNvPr id="8" name="TextBox 8"/>
          <p:cNvSpPr txBox="1"/>
          <p:nvPr/>
        </p:nvSpPr>
        <p:spPr>
          <a:xfrm>
            <a:off x="1028700" y="6518917"/>
            <a:ext cx="7628749" cy="3009345"/>
          </a:xfrm>
          <a:prstGeom prst="rect">
            <a:avLst/>
          </a:prstGeom>
        </p:spPr>
        <p:txBody>
          <a:bodyPr lIns="0" tIns="0" rIns="0" bIns="0" rtlCol="0" anchor="t">
            <a:spAutoFit/>
          </a:bodyPr>
          <a:lstStyle/>
          <a:p>
            <a:pPr algn="l">
              <a:lnSpc>
                <a:spcPts val="11464"/>
              </a:lnSpc>
            </a:pPr>
            <a:r>
              <a:rPr lang="en-US" sz="12196" b="1" spc="-573">
                <a:solidFill>
                  <a:srgbClr val="424242"/>
                </a:solidFill>
                <a:latin typeface="Open Sauce Heavy"/>
                <a:ea typeface="Open Sauce Heavy"/>
                <a:cs typeface="Open Sauce Heavy"/>
                <a:sym typeface="Open Sauce Heavy"/>
              </a:rPr>
              <a:t>Today’s Agenda</a:t>
            </a:r>
          </a:p>
        </p:txBody>
      </p:sp>
      <p:sp>
        <p:nvSpPr>
          <p:cNvPr id="9" name="TextBox 9"/>
          <p:cNvSpPr txBox="1"/>
          <p:nvPr/>
        </p:nvSpPr>
        <p:spPr>
          <a:xfrm>
            <a:off x="10214225" y="1341867"/>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01</a:t>
            </a:r>
          </a:p>
        </p:txBody>
      </p:sp>
      <p:sp>
        <p:nvSpPr>
          <p:cNvPr id="10" name="TextBox 10"/>
          <p:cNvSpPr txBox="1"/>
          <p:nvPr/>
        </p:nvSpPr>
        <p:spPr>
          <a:xfrm>
            <a:off x="10214225" y="2155661"/>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02</a:t>
            </a:r>
          </a:p>
        </p:txBody>
      </p:sp>
      <p:sp>
        <p:nvSpPr>
          <p:cNvPr id="11" name="TextBox 11"/>
          <p:cNvSpPr txBox="1"/>
          <p:nvPr/>
        </p:nvSpPr>
        <p:spPr>
          <a:xfrm>
            <a:off x="11409213" y="1341867"/>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Learning Objectives</a:t>
            </a:r>
          </a:p>
        </p:txBody>
      </p:sp>
      <p:sp>
        <p:nvSpPr>
          <p:cNvPr id="12" name="TextBox 12"/>
          <p:cNvSpPr txBox="1"/>
          <p:nvPr/>
        </p:nvSpPr>
        <p:spPr>
          <a:xfrm>
            <a:off x="11409213" y="2155661"/>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Introduction</a:t>
            </a:r>
          </a:p>
        </p:txBody>
      </p:sp>
      <p:sp>
        <p:nvSpPr>
          <p:cNvPr id="13" name="TextBox 13"/>
          <p:cNvSpPr txBox="1"/>
          <p:nvPr/>
        </p:nvSpPr>
        <p:spPr>
          <a:xfrm>
            <a:off x="1028700" y="582860"/>
            <a:ext cx="4693608" cy="587954"/>
          </a:xfrm>
          <a:prstGeom prst="rect">
            <a:avLst/>
          </a:prstGeom>
        </p:spPr>
        <p:txBody>
          <a:bodyPr lIns="0" tIns="0" rIns="0" bIns="0" rtlCol="0" anchor="t">
            <a:spAutoFit/>
          </a:bodyPr>
          <a:lstStyle/>
          <a:p>
            <a:pPr algn="l">
              <a:lnSpc>
                <a:spcPts val="4868"/>
              </a:lnSpc>
            </a:pPr>
            <a:r>
              <a:rPr lang="en-US" sz="3477" b="1" spc="-163">
                <a:solidFill>
                  <a:srgbClr val="424242"/>
                </a:solidFill>
                <a:latin typeface="Open Sauce Heavy"/>
                <a:ea typeface="Open Sauce Heavy"/>
                <a:cs typeface="Open Sauce Heavy"/>
                <a:sym typeface="Open Sauce Heavy"/>
              </a:rPr>
              <a:t>Modern Penology</a:t>
            </a:r>
          </a:p>
        </p:txBody>
      </p:sp>
      <p:sp>
        <p:nvSpPr>
          <p:cNvPr id="14" name="TextBox 14"/>
          <p:cNvSpPr txBox="1"/>
          <p:nvPr/>
        </p:nvSpPr>
        <p:spPr>
          <a:xfrm>
            <a:off x="10214225" y="2969455"/>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03</a:t>
            </a:r>
          </a:p>
        </p:txBody>
      </p:sp>
      <p:sp>
        <p:nvSpPr>
          <p:cNvPr id="15" name="TextBox 15"/>
          <p:cNvSpPr txBox="1"/>
          <p:nvPr/>
        </p:nvSpPr>
        <p:spPr>
          <a:xfrm>
            <a:off x="11409213" y="2969455"/>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Reflection Presentation</a:t>
            </a:r>
          </a:p>
        </p:txBody>
      </p:sp>
      <p:sp>
        <p:nvSpPr>
          <p:cNvPr id="16" name="TextBox 16"/>
          <p:cNvSpPr txBox="1"/>
          <p:nvPr/>
        </p:nvSpPr>
        <p:spPr>
          <a:xfrm>
            <a:off x="10214225" y="3783249"/>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04</a:t>
            </a:r>
          </a:p>
        </p:txBody>
      </p:sp>
      <p:sp>
        <p:nvSpPr>
          <p:cNvPr id="17" name="TextBox 17"/>
          <p:cNvSpPr txBox="1"/>
          <p:nvPr/>
        </p:nvSpPr>
        <p:spPr>
          <a:xfrm>
            <a:off x="11409213" y="3783249"/>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Strength</a:t>
            </a:r>
          </a:p>
        </p:txBody>
      </p:sp>
      <p:sp>
        <p:nvSpPr>
          <p:cNvPr id="18" name="TextBox 18"/>
          <p:cNvSpPr txBox="1"/>
          <p:nvPr/>
        </p:nvSpPr>
        <p:spPr>
          <a:xfrm>
            <a:off x="10214225" y="4597043"/>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05</a:t>
            </a:r>
          </a:p>
        </p:txBody>
      </p:sp>
      <p:sp>
        <p:nvSpPr>
          <p:cNvPr id="19" name="TextBox 19"/>
          <p:cNvSpPr txBox="1"/>
          <p:nvPr/>
        </p:nvSpPr>
        <p:spPr>
          <a:xfrm>
            <a:off x="11409213" y="4597043"/>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Weaknesses</a:t>
            </a:r>
          </a:p>
        </p:txBody>
      </p:sp>
      <p:sp>
        <p:nvSpPr>
          <p:cNvPr id="20" name="TextBox 20"/>
          <p:cNvSpPr txBox="1"/>
          <p:nvPr/>
        </p:nvSpPr>
        <p:spPr>
          <a:xfrm>
            <a:off x="10214225" y="5410838"/>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06</a:t>
            </a:r>
          </a:p>
        </p:txBody>
      </p:sp>
      <p:sp>
        <p:nvSpPr>
          <p:cNvPr id="21" name="TextBox 21"/>
          <p:cNvSpPr txBox="1"/>
          <p:nvPr/>
        </p:nvSpPr>
        <p:spPr>
          <a:xfrm>
            <a:off x="11409213" y="5410838"/>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Opportunities</a:t>
            </a:r>
          </a:p>
        </p:txBody>
      </p:sp>
      <p:sp>
        <p:nvSpPr>
          <p:cNvPr id="22" name="TextBox 22"/>
          <p:cNvSpPr txBox="1"/>
          <p:nvPr/>
        </p:nvSpPr>
        <p:spPr>
          <a:xfrm>
            <a:off x="10214225" y="6224632"/>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07</a:t>
            </a:r>
          </a:p>
        </p:txBody>
      </p:sp>
      <p:sp>
        <p:nvSpPr>
          <p:cNvPr id="23" name="TextBox 23"/>
          <p:cNvSpPr txBox="1"/>
          <p:nvPr/>
        </p:nvSpPr>
        <p:spPr>
          <a:xfrm>
            <a:off x="11409213" y="6224632"/>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Threats</a:t>
            </a:r>
          </a:p>
        </p:txBody>
      </p:sp>
      <p:sp>
        <p:nvSpPr>
          <p:cNvPr id="24" name="TextBox 24"/>
          <p:cNvSpPr txBox="1"/>
          <p:nvPr/>
        </p:nvSpPr>
        <p:spPr>
          <a:xfrm>
            <a:off x="10214225" y="7038426"/>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08</a:t>
            </a:r>
          </a:p>
        </p:txBody>
      </p:sp>
      <p:sp>
        <p:nvSpPr>
          <p:cNvPr id="25" name="TextBox 25"/>
          <p:cNvSpPr txBox="1"/>
          <p:nvPr/>
        </p:nvSpPr>
        <p:spPr>
          <a:xfrm>
            <a:off x="11409213" y="7038426"/>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Conclusion</a:t>
            </a:r>
          </a:p>
        </p:txBody>
      </p:sp>
      <p:sp>
        <p:nvSpPr>
          <p:cNvPr id="26" name="TextBox 26"/>
          <p:cNvSpPr txBox="1"/>
          <p:nvPr/>
        </p:nvSpPr>
        <p:spPr>
          <a:xfrm>
            <a:off x="10214225" y="7852220"/>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09</a:t>
            </a:r>
          </a:p>
        </p:txBody>
      </p:sp>
      <p:sp>
        <p:nvSpPr>
          <p:cNvPr id="27" name="TextBox 27"/>
          <p:cNvSpPr txBox="1"/>
          <p:nvPr/>
        </p:nvSpPr>
        <p:spPr>
          <a:xfrm>
            <a:off x="11409213" y="7852220"/>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Recommendations</a:t>
            </a:r>
          </a:p>
        </p:txBody>
      </p:sp>
      <p:sp>
        <p:nvSpPr>
          <p:cNvPr id="28" name="TextBox 28"/>
          <p:cNvSpPr txBox="1"/>
          <p:nvPr/>
        </p:nvSpPr>
        <p:spPr>
          <a:xfrm>
            <a:off x="10214225" y="8666015"/>
            <a:ext cx="930834" cy="311150"/>
          </a:xfrm>
          <a:prstGeom prst="rect">
            <a:avLst/>
          </a:prstGeom>
        </p:spPr>
        <p:txBody>
          <a:bodyPr lIns="0" tIns="0" rIns="0" bIns="0" rtlCol="0" anchor="t">
            <a:spAutoFit/>
          </a:bodyPr>
          <a:lstStyle/>
          <a:p>
            <a:pPr algn="ctr">
              <a:lnSpc>
                <a:spcPts val="2350"/>
              </a:lnSpc>
            </a:pPr>
            <a:r>
              <a:rPr lang="en-US" sz="2500" b="1" spc="-117">
                <a:solidFill>
                  <a:srgbClr val="424242"/>
                </a:solidFill>
                <a:latin typeface="Open Sauce Heavy"/>
                <a:ea typeface="Open Sauce Heavy"/>
                <a:cs typeface="Open Sauce Heavy"/>
                <a:sym typeface="Open Sauce Heavy"/>
              </a:rPr>
              <a:t>10</a:t>
            </a:r>
          </a:p>
        </p:txBody>
      </p:sp>
      <p:sp>
        <p:nvSpPr>
          <p:cNvPr id="29" name="TextBox 29"/>
          <p:cNvSpPr txBox="1"/>
          <p:nvPr/>
        </p:nvSpPr>
        <p:spPr>
          <a:xfrm>
            <a:off x="11409213" y="8666015"/>
            <a:ext cx="5466983" cy="311150"/>
          </a:xfrm>
          <a:prstGeom prst="rect">
            <a:avLst/>
          </a:prstGeom>
        </p:spPr>
        <p:txBody>
          <a:bodyPr lIns="0" tIns="0" rIns="0" bIns="0" rtlCol="0" anchor="t">
            <a:spAutoFit/>
          </a:bodyPr>
          <a:lstStyle/>
          <a:p>
            <a:pPr algn="l">
              <a:lnSpc>
                <a:spcPts val="2350"/>
              </a:lnSpc>
            </a:pPr>
            <a:r>
              <a:rPr lang="en-US" sz="2500" spc="-117">
                <a:solidFill>
                  <a:srgbClr val="424242"/>
                </a:solidFill>
                <a:latin typeface="Open Sauce"/>
                <a:ea typeface="Open Sauce"/>
                <a:cs typeface="Open Sauce"/>
                <a:sym typeface="Open Sauce"/>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2">
              <a:alphaModFix amt="20999"/>
            </a:blip>
            <a:stretch>
              <a:fillRect/>
            </a:stretch>
          </a:blipFill>
        </p:spPr>
        <p:txBody>
          <a:bodyPr/>
          <a:lstStyle/>
          <a:p>
            <a:endParaRPr lang="en-US"/>
          </a:p>
        </p:txBody>
      </p:sp>
      <p:sp>
        <p:nvSpPr>
          <p:cNvPr id="3" name="Freeform 3"/>
          <p:cNvSpPr/>
          <p:nvPr/>
        </p:nvSpPr>
        <p:spPr>
          <a:xfrm>
            <a:off x="-1964581" y="6163012"/>
            <a:ext cx="12299674" cy="5143500"/>
          </a:xfrm>
          <a:custGeom>
            <a:avLst/>
            <a:gdLst/>
            <a:ahLst/>
            <a:cxnLst/>
            <a:rect l="l" t="t" r="r" b="b"/>
            <a:pathLst>
              <a:path w="12299674" h="5143500">
                <a:moveTo>
                  <a:pt x="0" y="0"/>
                </a:moveTo>
                <a:lnTo>
                  <a:pt x="12299674" y="0"/>
                </a:lnTo>
                <a:lnTo>
                  <a:pt x="12299674" y="5143500"/>
                </a:lnTo>
                <a:lnTo>
                  <a:pt x="0" y="5143500"/>
                </a:lnTo>
                <a:lnTo>
                  <a:pt x="0" y="0"/>
                </a:lnTo>
                <a:close/>
              </a:path>
            </a:pathLst>
          </a:custGeom>
          <a:blipFill>
            <a:blip r:embed="rId3">
              <a:alphaModFix amt="10999"/>
            </a:blip>
            <a:stretch>
              <a:fillRect/>
            </a:stretch>
          </a:blipFill>
        </p:spPr>
        <p:txBody>
          <a:bodyPr/>
          <a:lstStyle/>
          <a:p>
            <a:endParaRPr lang="en-US"/>
          </a:p>
        </p:txBody>
      </p:sp>
      <p:grpSp>
        <p:nvGrpSpPr>
          <p:cNvPr id="4" name="Group 4"/>
          <p:cNvGrpSpPr/>
          <p:nvPr/>
        </p:nvGrpSpPr>
        <p:grpSpPr>
          <a:xfrm>
            <a:off x="1028700" y="4459903"/>
            <a:ext cx="16360888" cy="5294163"/>
            <a:chOff x="0" y="0"/>
            <a:chExt cx="4309041" cy="1394347"/>
          </a:xfrm>
        </p:grpSpPr>
        <p:sp>
          <p:nvSpPr>
            <p:cNvPr id="5" name="Freeform 5"/>
            <p:cNvSpPr/>
            <p:nvPr/>
          </p:nvSpPr>
          <p:spPr>
            <a:xfrm>
              <a:off x="0" y="0"/>
              <a:ext cx="4309040" cy="1394347"/>
            </a:xfrm>
            <a:custGeom>
              <a:avLst/>
              <a:gdLst/>
              <a:ahLst/>
              <a:cxnLst/>
              <a:rect l="l" t="t" r="r" b="b"/>
              <a:pathLst>
                <a:path w="4309040" h="1394347">
                  <a:moveTo>
                    <a:pt x="44007" y="0"/>
                  </a:moveTo>
                  <a:lnTo>
                    <a:pt x="4265033" y="0"/>
                  </a:lnTo>
                  <a:cubicBezTo>
                    <a:pt x="4276704" y="0"/>
                    <a:pt x="4287898" y="4636"/>
                    <a:pt x="4296151" y="12889"/>
                  </a:cubicBezTo>
                  <a:cubicBezTo>
                    <a:pt x="4304404" y="21142"/>
                    <a:pt x="4309040" y="32336"/>
                    <a:pt x="4309040" y="44007"/>
                  </a:cubicBezTo>
                  <a:lnTo>
                    <a:pt x="4309040" y="1350340"/>
                  </a:lnTo>
                  <a:cubicBezTo>
                    <a:pt x="4309040" y="1362012"/>
                    <a:pt x="4304404" y="1373205"/>
                    <a:pt x="4296151" y="1381458"/>
                  </a:cubicBezTo>
                  <a:cubicBezTo>
                    <a:pt x="4287898" y="1389711"/>
                    <a:pt x="4276704" y="1394347"/>
                    <a:pt x="4265033" y="1394347"/>
                  </a:cubicBezTo>
                  <a:lnTo>
                    <a:pt x="44007" y="1394347"/>
                  </a:lnTo>
                  <a:cubicBezTo>
                    <a:pt x="32336" y="1394347"/>
                    <a:pt x="21142" y="1389711"/>
                    <a:pt x="12889" y="1381458"/>
                  </a:cubicBezTo>
                  <a:cubicBezTo>
                    <a:pt x="4636" y="1373205"/>
                    <a:pt x="0" y="1362012"/>
                    <a:pt x="0" y="135034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txBody>
            <a:bodyPr/>
            <a:lstStyle/>
            <a:p>
              <a:endParaRPr lang="en-US"/>
            </a:p>
          </p:txBody>
        </p:sp>
        <p:sp>
          <p:nvSpPr>
            <p:cNvPr id="6" name="TextBox 6"/>
            <p:cNvSpPr txBox="1"/>
            <p:nvPr/>
          </p:nvSpPr>
          <p:spPr>
            <a:xfrm>
              <a:off x="0" y="-28575"/>
              <a:ext cx="4309041" cy="1422922"/>
            </a:xfrm>
            <a:prstGeom prst="rect">
              <a:avLst/>
            </a:prstGeom>
          </p:spPr>
          <p:txBody>
            <a:bodyPr lIns="50800" tIns="50800" rIns="50800" bIns="50800" rtlCol="0" anchor="ctr"/>
            <a:lstStyle/>
            <a:p>
              <a:pPr algn="ctr">
                <a:lnSpc>
                  <a:spcPts val="2015"/>
                </a:lnSpc>
              </a:pPr>
              <a:endParaRPr/>
            </a:p>
          </p:txBody>
        </p:sp>
      </p:grpSp>
      <p:sp>
        <p:nvSpPr>
          <p:cNvPr id="7" name="TextBox 7"/>
          <p:cNvSpPr txBox="1"/>
          <p:nvPr/>
        </p:nvSpPr>
        <p:spPr>
          <a:xfrm>
            <a:off x="1028700" y="2310636"/>
            <a:ext cx="13389009" cy="1406223"/>
          </a:xfrm>
          <a:prstGeom prst="rect">
            <a:avLst/>
          </a:prstGeom>
        </p:spPr>
        <p:txBody>
          <a:bodyPr lIns="0" tIns="0" rIns="0" bIns="0" rtlCol="0" anchor="t">
            <a:spAutoFit/>
          </a:bodyPr>
          <a:lstStyle/>
          <a:p>
            <a:pPr algn="l">
              <a:lnSpc>
                <a:spcPts val="10307"/>
              </a:lnSpc>
            </a:pPr>
            <a:r>
              <a:rPr lang="en-US" sz="10965" b="1" spc="-515">
                <a:solidFill>
                  <a:srgbClr val="FFFFFF"/>
                </a:solidFill>
                <a:latin typeface="Open Sauce Heavy"/>
                <a:ea typeface="Open Sauce Heavy"/>
                <a:cs typeface="Open Sauce Heavy"/>
                <a:sym typeface="Open Sauce Heavy"/>
              </a:rPr>
              <a:t>Learning Objectives</a:t>
            </a:r>
          </a:p>
        </p:txBody>
      </p:sp>
      <p:sp>
        <p:nvSpPr>
          <p:cNvPr id="8" name="TextBox 8"/>
          <p:cNvSpPr txBox="1"/>
          <p:nvPr/>
        </p:nvSpPr>
        <p:spPr>
          <a:xfrm>
            <a:off x="2414015" y="4769450"/>
            <a:ext cx="3520737" cy="381000"/>
          </a:xfrm>
          <a:prstGeom prst="rect">
            <a:avLst/>
          </a:prstGeom>
        </p:spPr>
        <p:txBody>
          <a:bodyPr lIns="0" tIns="0" rIns="0" bIns="0" rtlCol="0" anchor="t">
            <a:spAutoFit/>
          </a:bodyPr>
          <a:lstStyle/>
          <a:p>
            <a:pPr algn="l">
              <a:lnSpc>
                <a:spcPts val="3120"/>
              </a:lnSpc>
            </a:pPr>
            <a:r>
              <a:rPr lang="en-US" sz="2600" b="1" spc="-122">
                <a:solidFill>
                  <a:srgbClr val="FFFFFF"/>
                </a:solidFill>
                <a:latin typeface="Open Sauce Heavy"/>
                <a:ea typeface="Open Sauce Heavy"/>
                <a:cs typeface="Open Sauce Heavy"/>
                <a:sym typeface="Open Sauce Heavy"/>
              </a:rPr>
              <a:t>COGNITIVE</a:t>
            </a:r>
          </a:p>
        </p:txBody>
      </p:sp>
      <p:sp>
        <p:nvSpPr>
          <p:cNvPr id="9" name="TextBox 9"/>
          <p:cNvSpPr txBox="1"/>
          <p:nvPr/>
        </p:nvSpPr>
        <p:spPr>
          <a:xfrm>
            <a:off x="7866091" y="4771188"/>
            <a:ext cx="3520737" cy="381000"/>
          </a:xfrm>
          <a:prstGeom prst="rect">
            <a:avLst/>
          </a:prstGeom>
        </p:spPr>
        <p:txBody>
          <a:bodyPr lIns="0" tIns="0" rIns="0" bIns="0" rtlCol="0" anchor="t">
            <a:spAutoFit/>
          </a:bodyPr>
          <a:lstStyle/>
          <a:p>
            <a:pPr algn="l">
              <a:lnSpc>
                <a:spcPts val="3120"/>
              </a:lnSpc>
            </a:pPr>
            <a:r>
              <a:rPr lang="en-US" sz="2600" b="1" spc="-122">
                <a:solidFill>
                  <a:srgbClr val="FFFFFF"/>
                </a:solidFill>
                <a:latin typeface="Open Sauce Heavy"/>
                <a:ea typeface="Open Sauce Heavy"/>
                <a:cs typeface="Open Sauce Heavy"/>
                <a:sym typeface="Open Sauce Heavy"/>
              </a:rPr>
              <a:t>AFFECTIVE</a:t>
            </a:r>
          </a:p>
        </p:txBody>
      </p:sp>
      <p:sp>
        <p:nvSpPr>
          <p:cNvPr id="10" name="TextBox 10"/>
          <p:cNvSpPr txBox="1"/>
          <p:nvPr/>
        </p:nvSpPr>
        <p:spPr>
          <a:xfrm>
            <a:off x="13390739" y="4771188"/>
            <a:ext cx="3520737" cy="381000"/>
          </a:xfrm>
          <a:prstGeom prst="rect">
            <a:avLst/>
          </a:prstGeom>
        </p:spPr>
        <p:txBody>
          <a:bodyPr lIns="0" tIns="0" rIns="0" bIns="0" rtlCol="0" anchor="t">
            <a:spAutoFit/>
          </a:bodyPr>
          <a:lstStyle/>
          <a:p>
            <a:pPr algn="l">
              <a:lnSpc>
                <a:spcPts val="3120"/>
              </a:lnSpc>
            </a:pPr>
            <a:r>
              <a:rPr lang="en-US" sz="2600" b="1" spc="-122">
                <a:solidFill>
                  <a:srgbClr val="FFFFFF"/>
                </a:solidFill>
                <a:latin typeface="Open Sauce Heavy"/>
                <a:ea typeface="Open Sauce Heavy"/>
                <a:cs typeface="Open Sauce Heavy"/>
                <a:sym typeface="Open Sauce Heavy"/>
              </a:rPr>
              <a:t>PSYCHOMOTOR</a:t>
            </a:r>
          </a:p>
        </p:txBody>
      </p:sp>
      <p:sp>
        <p:nvSpPr>
          <p:cNvPr id="11" name="TextBox 11"/>
          <p:cNvSpPr txBox="1"/>
          <p:nvPr/>
        </p:nvSpPr>
        <p:spPr>
          <a:xfrm>
            <a:off x="1098691" y="646357"/>
            <a:ext cx="4474124" cy="587954"/>
          </a:xfrm>
          <a:prstGeom prst="rect">
            <a:avLst/>
          </a:prstGeom>
        </p:spPr>
        <p:txBody>
          <a:bodyPr lIns="0" tIns="0" rIns="0" bIns="0" rtlCol="0" anchor="t">
            <a:spAutoFit/>
          </a:bodyPr>
          <a:lstStyle/>
          <a:p>
            <a:pPr algn="l">
              <a:lnSpc>
                <a:spcPts val="4868"/>
              </a:lnSpc>
            </a:pPr>
            <a:r>
              <a:rPr lang="en-US" sz="3477" b="1" spc="-163">
                <a:solidFill>
                  <a:srgbClr val="D0D7DD"/>
                </a:solidFill>
                <a:latin typeface="Open Sauce Heavy"/>
                <a:ea typeface="Open Sauce Heavy"/>
                <a:cs typeface="Open Sauce Heavy"/>
                <a:sym typeface="Open Sauce Heavy"/>
              </a:rPr>
              <a:t>Modern Penology</a:t>
            </a:r>
          </a:p>
        </p:txBody>
      </p:sp>
      <p:sp>
        <p:nvSpPr>
          <p:cNvPr id="12" name="AutoShape 12"/>
          <p:cNvSpPr/>
          <p:nvPr/>
        </p:nvSpPr>
        <p:spPr>
          <a:xfrm>
            <a:off x="6307466" y="4936579"/>
            <a:ext cx="1" cy="3930176"/>
          </a:xfrm>
          <a:prstGeom prst="line">
            <a:avLst/>
          </a:prstGeom>
          <a:ln w="19050" cap="flat">
            <a:solidFill>
              <a:srgbClr val="D0D7DD"/>
            </a:solidFill>
            <a:prstDash val="solid"/>
            <a:headEnd type="none" w="sm" len="sm"/>
            <a:tailEnd type="none" w="sm" len="sm"/>
          </a:ln>
        </p:spPr>
        <p:txBody>
          <a:bodyPr/>
          <a:lstStyle/>
          <a:p>
            <a:endParaRPr lang="en-US"/>
          </a:p>
        </p:txBody>
      </p:sp>
      <p:sp>
        <p:nvSpPr>
          <p:cNvPr id="13" name="AutoShape 13"/>
          <p:cNvSpPr/>
          <p:nvPr/>
        </p:nvSpPr>
        <p:spPr>
          <a:xfrm>
            <a:off x="11822589" y="4936579"/>
            <a:ext cx="1" cy="3930176"/>
          </a:xfrm>
          <a:prstGeom prst="line">
            <a:avLst/>
          </a:prstGeom>
          <a:ln w="19050" cap="flat">
            <a:solidFill>
              <a:srgbClr val="D0D7DD"/>
            </a:solidFill>
            <a:prstDash val="solid"/>
            <a:headEnd type="none" w="sm" len="sm"/>
            <a:tailEnd type="none" w="sm" len="sm"/>
          </a:ln>
        </p:spPr>
        <p:txBody>
          <a:bodyPr/>
          <a:lstStyle/>
          <a:p>
            <a:endParaRPr lang="en-US"/>
          </a:p>
        </p:txBody>
      </p:sp>
      <p:grpSp>
        <p:nvGrpSpPr>
          <p:cNvPr id="14" name="Group 14"/>
          <p:cNvGrpSpPr/>
          <p:nvPr/>
        </p:nvGrpSpPr>
        <p:grpSpPr>
          <a:xfrm>
            <a:off x="1665015" y="4743054"/>
            <a:ext cx="387050" cy="3870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6" name="TextBox 16"/>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grpSp>
        <p:nvGrpSpPr>
          <p:cNvPr id="17" name="Group 17"/>
          <p:cNvGrpSpPr/>
          <p:nvPr/>
        </p:nvGrpSpPr>
        <p:grpSpPr>
          <a:xfrm>
            <a:off x="7117091" y="4761663"/>
            <a:ext cx="387050" cy="38705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9" name="TextBox 19"/>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grpSp>
        <p:nvGrpSpPr>
          <p:cNvPr id="20" name="Group 20"/>
          <p:cNvGrpSpPr/>
          <p:nvPr/>
        </p:nvGrpSpPr>
        <p:grpSpPr>
          <a:xfrm>
            <a:off x="12641739" y="4743054"/>
            <a:ext cx="387050" cy="38705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22" name="TextBox 22"/>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23" name="TextBox 23"/>
          <p:cNvSpPr txBox="1"/>
          <p:nvPr/>
        </p:nvSpPr>
        <p:spPr>
          <a:xfrm>
            <a:off x="1858540" y="5393061"/>
            <a:ext cx="3897288" cy="4668520"/>
          </a:xfrm>
          <a:prstGeom prst="rect">
            <a:avLst/>
          </a:prstGeom>
        </p:spPr>
        <p:txBody>
          <a:bodyPr lIns="0" tIns="0" rIns="0" bIns="0" rtlCol="0" anchor="t">
            <a:spAutoFit/>
          </a:bodyPr>
          <a:lstStyle/>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Focuses on changing criminal thinking.</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Promotes positive behavior and values.</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Improves decision-making skills.</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Encourages personal responsibility.</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Supports rehabilitation and reintegration.</a:t>
            </a:r>
          </a:p>
          <a:p>
            <a:pPr algn="l">
              <a:lnSpc>
                <a:spcPts val="3079"/>
              </a:lnSpc>
            </a:pPr>
            <a:endParaRPr lang="en-US" sz="2199" spc="-103">
              <a:solidFill>
                <a:srgbClr val="FFFFFF"/>
              </a:solidFill>
              <a:latin typeface="Open Sauce Light"/>
              <a:ea typeface="Open Sauce Light"/>
              <a:cs typeface="Open Sauce Light"/>
              <a:sym typeface="Open Sauce Light"/>
            </a:endParaRPr>
          </a:p>
          <a:p>
            <a:pPr algn="l">
              <a:lnSpc>
                <a:spcPts val="3079"/>
              </a:lnSpc>
            </a:pPr>
            <a:endParaRPr lang="en-US" sz="2199" spc="-103">
              <a:solidFill>
                <a:srgbClr val="FFFFFF"/>
              </a:solidFill>
              <a:latin typeface="Open Sauce Light"/>
              <a:ea typeface="Open Sauce Light"/>
              <a:cs typeface="Open Sauce Light"/>
              <a:sym typeface="Open Sauce Light"/>
            </a:endParaRPr>
          </a:p>
        </p:txBody>
      </p:sp>
      <p:sp>
        <p:nvSpPr>
          <p:cNvPr id="24" name="TextBox 24"/>
          <p:cNvSpPr txBox="1"/>
          <p:nvPr/>
        </p:nvSpPr>
        <p:spPr>
          <a:xfrm>
            <a:off x="7504141" y="5393061"/>
            <a:ext cx="3897288" cy="4277995"/>
          </a:xfrm>
          <a:prstGeom prst="rect">
            <a:avLst/>
          </a:prstGeom>
        </p:spPr>
        <p:txBody>
          <a:bodyPr lIns="0" tIns="0" rIns="0" bIns="0" rtlCol="0" anchor="t">
            <a:spAutoFit/>
          </a:bodyPr>
          <a:lstStyle/>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Develops positive values and attitudes</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Promotes respect for laws and society</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Builds self-discipline and responsibility</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Encourages empathy and accountability</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Supports personal and moral growth</a:t>
            </a:r>
          </a:p>
          <a:p>
            <a:pPr algn="l">
              <a:lnSpc>
                <a:spcPts val="3079"/>
              </a:lnSpc>
            </a:pPr>
            <a:endParaRPr lang="en-US" sz="2199" spc="-103">
              <a:solidFill>
                <a:srgbClr val="FFFFFF"/>
              </a:solidFill>
              <a:latin typeface="Open Sauce Light"/>
              <a:ea typeface="Open Sauce Light"/>
              <a:cs typeface="Open Sauce Light"/>
              <a:sym typeface="Open Sauce Light"/>
            </a:endParaRPr>
          </a:p>
        </p:txBody>
      </p:sp>
      <p:sp>
        <p:nvSpPr>
          <p:cNvPr id="25" name="TextBox 25"/>
          <p:cNvSpPr txBox="1"/>
          <p:nvPr/>
        </p:nvSpPr>
        <p:spPr>
          <a:xfrm>
            <a:off x="13028789" y="5393061"/>
            <a:ext cx="3897288" cy="4277995"/>
          </a:xfrm>
          <a:prstGeom prst="rect">
            <a:avLst/>
          </a:prstGeom>
        </p:spPr>
        <p:txBody>
          <a:bodyPr lIns="0" tIns="0" rIns="0" bIns="0" rtlCol="0" anchor="t">
            <a:spAutoFit/>
          </a:bodyPr>
          <a:lstStyle/>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Develops vocational and technical skills</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Enhances work habits and discipline</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Provides livelihood training</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Promotes productive use of time</a:t>
            </a:r>
          </a:p>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Prepares PDLs for employment after release</a:t>
            </a:r>
          </a:p>
          <a:p>
            <a:pPr algn="l">
              <a:lnSpc>
                <a:spcPts val="3079"/>
              </a:lnSpc>
            </a:pPr>
            <a:endParaRPr lang="en-US" sz="2199" spc="-103">
              <a:solidFill>
                <a:srgbClr val="FFFFFF"/>
              </a:solidFill>
              <a:latin typeface="Open Sauce Light"/>
              <a:ea typeface="Open Sauce Light"/>
              <a:cs typeface="Open Sauce Light"/>
              <a:sym typeface="Open Sauce Light"/>
            </a:endParaRPr>
          </a:p>
          <a:p>
            <a:pPr algn="l">
              <a:lnSpc>
                <a:spcPts val="3079"/>
              </a:lnSpc>
            </a:pPr>
            <a:endParaRPr lang="en-US" sz="2199" spc="-103">
              <a:solidFill>
                <a:srgbClr val="FFFFFF"/>
              </a:solidFill>
              <a:latin typeface="Open Sauce Light"/>
              <a:ea typeface="Open Sauce Light"/>
              <a:cs typeface="Open Sauce Light"/>
              <a:sym typeface="Open Sauce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4223" y="360273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txBody>
          <a:bodyPr/>
          <a:lstStyle/>
          <a:p>
            <a:endParaRPr lang="en-US"/>
          </a:p>
        </p:txBody>
      </p:sp>
      <p:grpSp>
        <p:nvGrpSpPr>
          <p:cNvPr id="3" name="Group 3"/>
          <p:cNvGrpSpPr/>
          <p:nvPr/>
        </p:nvGrpSpPr>
        <p:grpSpPr>
          <a:xfrm>
            <a:off x="-203669" y="-206665"/>
            <a:ext cx="18695337" cy="4744221"/>
            <a:chOff x="0" y="0"/>
            <a:chExt cx="2896397" cy="735004"/>
          </a:xfrm>
        </p:grpSpPr>
        <p:sp>
          <p:nvSpPr>
            <p:cNvPr id="4" name="Freeform 4"/>
            <p:cNvSpPr/>
            <p:nvPr/>
          </p:nvSpPr>
          <p:spPr>
            <a:xfrm>
              <a:off x="0" y="0"/>
              <a:ext cx="2896397" cy="735004"/>
            </a:xfrm>
            <a:custGeom>
              <a:avLst/>
              <a:gdLst/>
              <a:ahLst/>
              <a:cxnLst/>
              <a:rect l="l" t="t" r="r" b="b"/>
              <a:pathLst>
                <a:path w="2896397" h="735004">
                  <a:moveTo>
                    <a:pt x="0" y="0"/>
                  </a:moveTo>
                  <a:lnTo>
                    <a:pt x="2896397" y="0"/>
                  </a:lnTo>
                  <a:lnTo>
                    <a:pt x="2896397" y="735004"/>
                  </a:lnTo>
                  <a:lnTo>
                    <a:pt x="0" y="735004"/>
                  </a:lnTo>
                  <a:close/>
                </a:path>
              </a:pathLst>
            </a:custGeom>
            <a:blipFill>
              <a:blip r:embed="rId3"/>
              <a:stretch>
                <a:fillRect t="-168860" b="-294089"/>
              </a:stretch>
            </a:blipFill>
          </p:spPr>
          <p:txBody>
            <a:bodyPr/>
            <a:lstStyle/>
            <a:p>
              <a:endParaRPr lang="en-US"/>
            </a:p>
          </p:txBody>
        </p:sp>
      </p:grpSp>
      <p:grpSp>
        <p:nvGrpSpPr>
          <p:cNvPr id="5" name="Group 5"/>
          <p:cNvGrpSpPr/>
          <p:nvPr/>
        </p:nvGrpSpPr>
        <p:grpSpPr>
          <a:xfrm>
            <a:off x="894040" y="2728442"/>
            <a:ext cx="16495548" cy="6999955"/>
            <a:chOff x="0" y="0"/>
            <a:chExt cx="4344507" cy="1843609"/>
          </a:xfrm>
        </p:grpSpPr>
        <p:sp>
          <p:nvSpPr>
            <p:cNvPr id="6" name="Freeform 6"/>
            <p:cNvSpPr/>
            <p:nvPr/>
          </p:nvSpPr>
          <p:spPr>
            <a:xfrm>
              <a:off x="0" y="0"/>
              <a:ext cx="4344507" cy="1843610"/>
            </a:xfrm>
            <a:custGeom>
              <a:avLst/>
              <a:gdLst/>
              <a:ahLst/>
              <a:cxnLst/>
              <a:rect l="l" t="t" r="r" b="b"/>
              <a:pathLst>
                <a:path w="4344507" h="1843610">
                  <a:moveTo>
                    <a:pt x="43648" y="0"/>
                  </a:moveTo>
                  <a:lnTo>
                    <a:pt x="4300858" y="0"/>
                  </a:lnTo>
                  <a:cubicBezTo>
                    <a:pt x="4312435" y="0"/>
                    <a:pt x="4323537" y="4599"/>
                    <a:pt x="4331722" y="12784"/>
                  </a:cubicBezTo>
                  <a:cubicBezTo>
                    <a:pt x="4339908" y="20970"/>
                    <a:pt x="4344507" y="32072"/>
                    <a:pt x="4344507" y="43648"/>
                  </a:cubicBezTo>
                  <a:lnTo>
                    <a:pt x="4344507" y="1799961"/>
                  </a:lnTo>
                  <a:cubicBezTo>
                    <a:pt x="4344507" y="1824068"/>
                    <a:pt x="4324965" y="1843610"/>
                    <a:pt x="4300858" y="1843610"/>
                  </a:cubicBezTo>
                  <a:lnTo>
                    <a:pt x="43648" y="1843610"/>
                  </a:lnTo>
                  <a:cubicBezTo>
                    <a:pt x="19542" y="1843610"/>
                    <a:pt x="0" y="1824068"/>
                    <a:pt x="0" y="1799961"/>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7" name="TextBox 7"/>
            <p:cNvSpPr txBox="1"/>
            <p:nvPr/>
          </p:nvSpPr>
          <p:spPr>
            <a:xfrm>
              <a:off x="0" y="-28575"/>
              <a:ext cx="4344507" cy="1872184"/>
            </a:xfrm>
            <a:prstGeom prst="rect">
              <a:avLst/>
            </a:prstGeom>
          </p:spPr>
          <p:txBody>
            <a:bodyPr lIns="50800" tIns="50800" rIns="50800" bIns="50800" rtlCol="0" anchor="ctr"/>
            <a:lstStyle/>
            <a:p>
              <a:pPr algn="ctr">
                <a:lnSpc>
                  <a:spcPts val="2015"/>
                </a:lnSpc>
              </a:pPr>
              <a:endParaRPr/>
            </a:p>
          </p:txBody>
        </p:sp>
      </p:grpSp>
      <p:grpSp>
        <p:nvGrpSpPr>
          <p:cNvPr id="8" name="Group 8"/>
          <p:cNvGrpSpPr/>
          <p:nvPr/>
        </p:nvGrpSpPr>
        <p:grpSpPr>
          <a:xfrm>
            <a:off x="16486613" y="3122398"/>
            <a:ext cx="480334" cy="4803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0" name="TextBox 10"/>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11" name="TextBox 11"/>
          <p:cNvSpPr txBox="1"/>
          <p:nvPr/>
        </p:nvSpPr>
        <p:spPr>
          <a:xfrm>
            <a:off x="1601969" y="3630688"/>
            <a:ext cx="10156343" cy="1558403"/>
          </a:xfrm>
          <a:prstGeom prst="rect">
            <a:avLst/>
          </a:prstGeom>
        </p:spPr>
        <p:txBody>
          <a:bodyPr lIns="0" tIns="0" rIns="0" bIns="0" rtlCol="0" anchor="t">
            <a:spAutoFit/>
          </a:bodyPr>
          <a:lstStyle/>
          <a:p>
            <a:pPr algn="l">
              <a:lnSpc>
                <a:spcPts val="11464"/>
              </a:lnSpc>
            </a:pPr>
            <a:r>
              <a:rPr lang="en-US" sz="12196" b="1" spc="-573">
                <a:solidFill>
                  <a:srgbClr val="FFFFFF"/>
                </a:solidFill>
                <a:latin typeface="Open Sauce Heavy"/>
                <a:ea typeface="Open Sauce Heavy"/>
                <a:cs typeface="Open Sauce Heavy"/>
                <a:sym typeface="Open Sauce Heavy"/>
              </a:rPr>
              <a:t>Introduction</a:t>
            </a:r>
          </a:p>
        </p:txBody>
      </p:sp>
      <p:sp>
        <p:nvSpPr>
          <p:cNvPr id="12" name="TextBox 12"/>
          <p:cNvSpPr txBox="1"/>
          <p:nvPr/>
        </p:nvSpPr>
        <p:spPr>
          <a:xfrm>
            <a:off x="1601969" y="5425698"/>
            <a:ext cx="6549654" cy="3758565"/>
          </a:xfrm>
          <a:prstGeom prst="rect">
            <a:avLst/>
          </a:prstGeom>
        </p:spPr>
        <p:txBody>
          <a:bodyPr lIns="0" tIns="0" rIns="0" bIns="0" rtlCol="0" anchor="t">
            <a:spAutoFit/>
          </a:bodyPr>
          <a:lstStyle/>
          <a:p>
            <a:pPr marL="518157" lvl="1" indent="-259078" algn="l">
              <a:lnSpc>
                <a:spcPts val="3359"/>
              </a:lnSpc>
              <a:buFont typeface="Arial"/>
              <a:buChar char="•"/>
            </a:pPr>
            <a:r>
              <a:rPr lang="en-US" sz="2399" spc="-112">
                <a:solidFill>
                  <a:srgbClr val="FFFFFF"/>
                </a:solidFill>
                <a:latin typeface="Open Sauce Light"/>
                <a:ea typeface="Open Sauce Light"/>
                <a:cs typeface="Open Sauce Light"/>
                <a:sym typeface="Open Sauce Light"/>
              </a:rPr>
              <a:t>Institution-Based Corrections is a component of the Philippine Correctional System.</a:t>
            </a:r>
          </a:p>
          <a:p>
            <a:pPr algn="l">
              <a:lnSpc>
                <a:spcPts val="3359"/>
              </a:lnSpc>
            </a:pPr>
            <a:endParaRPr lang="en-US" sz="2399" spc="-112">
              <a:solidFill>
                <a:srgbClr val="FFFFFF"/>
              </a:solidFill>
              <a:latin typeface="Open Sauce Light"/>
              <a:ea typeface="Open Sauce Light"/>
              <a:cs typeface="Open Sauce Light"/>
              <a:sym typeface="Open Sauce Light"/>
            </a:endParaRPr>
          </a:p>
          <a:p>
            <a:pPr marL="518157" lvl="1" indent="-259078" algn="l">
              <a:lnSpc>
                <a:spcPts val="3359"/>
              </a:lnSpc>
              <a:buFont typeface="Arial"/>
              <a:buChar char="•"/>
            </a:pPr>
            <a:r>
              <a:rPr lang="en-US" sz="2399" spc="-112">
                <a:solidFill>
                  <a:srgbClr val="FFFFFF"/>
                </a:solidFill>
                <a:latin typeface="Open Sauce Light"/>
                <a:ea typeface="Open Sauce Light"/>
                <a:cs typeface="Open Sauce Light"/>
                <a:sym typeface="Open Sauce Light"/>
              </a:rPr>
              <a:t>It involves the custody, supervision, and rehabilitation of PDLs in correctional facilities.</a:t>
            </a:r>
          </a:p>
          <a:p>
            <a:pPr algn="l">
              <a:lnSpc>
                <a:spcPts val="3359"/>
              </a:lnSpc>
            </a:pPr>
            <a:endParaRPr lang="en-US" sz="2399" spc="-112">
              <a:solidFill>
                <a:srgbClr val="FFFFFF"/>
              </a:solidFill>
              <a:latin typeface="Open Sauce Light"/>
              <a:ea typeface="Open Sauce Light"/>
              <a:cs typeface="Open Sauce Light"/>
              <a:sym typeface="Open Sauce Light"/>
            </a:endParaRPr>
          </a:p>
          <a:p>
            <a:pPr marL="518157" lvl="1" indent="-259078" algn="l">
              <a:lnSpc>
                <a:spcPts val="3359"/>
              </a:lnSpc>
              <a:buFont typeface="Arial"/>
              <a:buChar char="•"/>
            </a:pPr>
            <a:r>
              <a:rPr lang="en-US" sz="2399" spc="-112">
                <a:solidFill>
                  <a:srgbClr val="FFFFFF"/>
                </a:solidFill>
                <a:latin typeface="Open Sauce Light"/>
                <a:ea typeface="Open Sauce Light"/>
                <a:cs typeface="Open Sauce Light"/>
                <a:sym typeface="Open Sauce Light"/>
              </a:rPr>
              <a:t>Managed primarily by the Bureau of Corrections (BuCor).</a:t>
            </a:r>
          </a:p>
          <a:p>
            <a:pPr algn="l">
              <a:lnSpc>
                <a:spcPts val="3359"/>
              </a:lnSpc>
            </a:pPr>
            <a:endParaRPr lang="en-US" sz="2399" spc="-112">
              <a:solidFill>
                <a:srgbClr val="FFFFFF"/>
              </a:solidFill>
              <a:latin typeface="Open Sauce Light"/>
              <a:ea typeface="Open Sauce Light"/>
              <a:cs typeface="Open Sauce Light"/>
              <a:sym typeface="Open Sauce Light"/>
            </a:endParaRPr>
          </a:p>
        </p:txBody>
      </p:sp>
      <p:sp>
        <p:nvSpPr>
          <p:cNvPr id="13" name="TextBox 13"/>
          <p:cNvSpPr txBox="1"/>
          <p:nvPr/>
        </p:nvSpPr>
        <p:spPr>
          <a:xfrm>
            <a:off x="9936958" y="5425698"/>
            <a:ext cx="6549654" cy="2501265"/>
          </a:xfrm>
          <a:prstGeom prst="rect">
            <a:avLst/>
          </a:prstGeom>
        </p:spPr>
        <p:txBody>
          <a:bodyPr lIns="0" tIns="0" rIns="0" bIns="0" rtlCol="0" anchor="t">
            <a:spAutoFit/>
          </a:bodyPr>
          <a:lstStyle/>
          <a:p>
            <a:pPr marL="518157" lvl="1" indent="-259078" algn="l">
              <a:lnSpc>
                <a:spcPts val="3359"/>
              </a:lnSpc>
              <a:buFont typeface="Arial"/>
              <a:buChar char="•"/>
            </a:pPr>
            <a:r>
              <a:rPr lang="en-US" sz="2399" spc="-112">
                <a:solidFill>
                  <a:srgbClr val="FFFFFF"/>
                </a:solidFill>
                <a:latin typeface="Open Sauce Light"/>
                <a:ea typeface="Open Sauce Light"/>
                <a:cs typeface="Open Sauce Light"/>
                <a:sym typeface="Open Sauce Light"/>
              </a:rPr>
              <a:t>Focuses on rehabilitation, reintegration, and public safety.</a:t>
            </a:r>
          </a:p>
          <a:p>
            <a:pPr algn="l">
              <a:lnSpc>
                <a:spcPts val="3359"/>
              </a:lnSpc>
            </a:pPr>
            <a:endParaRPr lang="en-US" sz="2399" spc="-112">
              <a:solidFill>
                <a:srgbClr val="FFFFFF"/>
              </a:solidFill>
              <a:latin typeface="Open Sauce Light"/>
              <a:ea typeface="Open Sauce Light"/>
              <a:cs typeface="Open Sauce Light"/>
              <a:sym typeface="Open Sauce Light"/>
            </a:endParaRPr>
          </a:p>
          <a:p>
            <a:pPr marL="518157" lvl="1" indent="-259078" algn="l">
              <a:lnSpc>
                <a:spcPts val="3359"/>
              </a:lnSpc>
              <a:buFont typeface="Arial"/>
              <a:buChar char="•"/>
            </a:pPr>
            <a:r>
              <a:rPr lang="en-US" sz="2399" spc="-112">
                <a:solidFill>
                  <a:srgbClr val="FFFFFF"/>
                </a:solidFill>
                <a:latin typeface="Open Sauce Light"/>
                <a:ea typeface="Open Sauce Light"/>
                <a:cs typeface="Open Sauce Light"/>
                <a:sym typeface="Open Sauce Light"/>
              </a:rPr>
              <a:t>Aims to transform offenders into productive members of society.</a:t>
            </a:r>
          </a:p>
          <a:p>
            <a:pPr algn="l">
              <a:lnSpc>
                <a:spcPts val="3359"/>
              </a:lnSpc>
            </a:pPr>
            <a:endParaRPr lang="en-US" sz="2399" spc="-112">
              <a:solidFill>
                <a:srgbClr val="FFFFFF"/>
              </a:solidFill>
              <a:latin typeface="Open Sauce Light"/>
              <a:ea typeface="Open Sauce Light"/>
              <a:cs typeface="Open Sauce Light"/>
              <a:sym typeface="Open Sauc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sp>
        <p:nvSpPr>
          <p:cNvPr id="3" name="AutoShape 3"/>
          <p:cNvSpPr/>
          <p:nvPr/>
        </p:nvSpPr>
        <p:spPr>
          <a:xfrm>
            <a:off x="2118663" y="4029905"/>
            <a:ext cx="17683768" cy="1"/>
          </a:xfrm>
          <a:prstGeom prst="line">
            <a:avLst/>
          </a:prstGeom>
          <a:ln w="57150" cap="flat">
            <a:solidFill>
              <a:srgbClr val="D0D7DD"/>
            </a:solidFill>
            <a:prstDash val="sysDash"/>
            <a:headEnd type="none" w="sm" len="sm"/>
            <a:tailEnd type="none" w="sm" len="sm"/>
          </a:ln>
        </p:spPr>
        <p:txBody>
          <a:bodyPr/>
          <a:lstStyle/>
          <a:p>
            <a:endParaRPr lang="en-US"/>
          </a:p>
        </p:txBody>
      </p:sp>
      <p:grpSp>
        <p:nvGrpSpPr>
          <p:cNvPr id="4" name="Group 4"/>
          <p:cNvGrpSpPr/>
          <p:nvPr/>
        </p:nvGrpSpPr>
        <p:grpSpPr>
          <a:xfrm>
            <a:off x="981077" y="3578182"/>
            <a:ext cx="2894965" cy="941546"/>
            <a:chOff x="0" y="0"/>
            <a:chExt cx="762460" cy="247979"/>
          </a:xfrm>
        </p:grpSpPr>
        <p:sp>
          <p:nvSpPr>
            <p:cNvPr id="5" name="Freeform 5"/>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6" name="TextBox 6"/>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7" name="Group 7"/>
          <p:cNvGrpSpPr/>
          <p:nvPr/>
        </p:nvGrpSpPr>
        <p:grpSpPr>
          <a:xfrm>
            <a:off x="5025140" y="3578182"/>
            <a:ext cx="2894965" cy="941546"/>
            <a:chOff x="0" y="0"/>
            <a:chExt cx="762460" cy="247979"/>
          </a:xfrm>
        </p:grpSpPr>
        <p:sp>
          <p:nvSpPr>
            <p:cNvPr id="8" name="Freeform 8"/>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9" name="TextBox 9"/>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0" name="Group 10"/>
          <p:cNvGrpSpPr/>
          <p:nvPr/>
        </p:nvGrpSpPr>
        <p:grpSpPr>
          <a:xfrm>
            <a:off x="9069203" y="3578182"/>
            <a:ext cx="2894965" cy="941546"/>
            <a:chOff x="0" y="0"/>
            <a:chExt cx="762460" cy="247979"/>
          </a:xfrm>
        </p:grpSpPr>
        <p:sp>
          <p:nvSpPr>
            <p:cNvPr id="11" name="Freeform 11"/>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12" name="TextBox 12"/>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3" name="Group 13"/>
          <p:cNvGrpSpPr/>
          <p:nvPr/>
        </p:nvGrpSpPr>
        <p:grpSpPr>
          <a:xfrm>
            <a:off x="13113265" y="3578182"/>
            <a:ext cx="2894965" cy="941546"/>
            <a:chOff x="0" y="0"/>
            <a:chExt cx="762460" cy="247979"/>
          </a:xfrm>
        </p:grpSpPr>
        <p:sp>
          <p:nvSpPr>
            <p:cNvPr id="14" name="Freeform 14"/>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15" name="TextBox 15"/>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6" name="Group 16"/>
          <p:cNvGrpSpPr/>
          <p:nvPr/>
        </p:nvGrpSpPr>
        <p:grpSpPr>
          <a:xfrm>
            <a:off x="827064" y="4796350"/>
            <a:ext cx="16562524" cy="4299914"/>
            <a:chOff x="0" y="0"/>
            <a:chExt cx="4362146" cy="1132488"/>
          </a:xfrm>
        </p:grpSpPr>
        <p:sp>
          <p:nvSpPr>
            <p:cNvPr id="17" name="Freeform 17"/>
            <p:cNvSpPr/>
            <p:nvPr/>
          </p:nvSpPr>
          <p:spPr>
            <a:xfrm>
              <a:off x="0" y="0"/>
              <a:ext cx="4362146" cy="1132488"/>
            </a:xfrm>
            <a:custGeom>
              <a:avLst/>
              <a:gdLst/>
              <a:ahLst/>
              <a:cxnLst/>
              <a:rect l="l" t="t" r="r" b="b"/>
              <a:pathLst>
                <a:path w="4362146" h="1132488">
                  <a:moveTo>
                    <a:pt x="37395" y="0"/>
                  </a:moveTo>
                  <a:lnTo>
                    <a:pt x="4324751" y="0"/>
                  </a:lnTo>
                  <a:cubicBezTo>
                    <a:pt x="4334669" y="0"/>
                    <a:pt x="4344181" y="3940"/>
                    <a:pt x="4351193" y="10953"/>
                  </a:cubicBezTo>
                  <a:cubicBezTo>
                    <a:pt x="4358206" y="17966"/>
                    <a:pt x="4362146" y="27477"/>
                    <a:pt x="4362146" y="37395"/>
                  </a:cubicBezTo>
                  <a:lnTo>
                    <a:pt x="4362146" y="1095093"/>
                  </a:lnTo>
                  <a:cubicBezTo>
                    <a:pt x="4362146" y="1105011"/>
                    <a:pt x="4358206" y="1114522"/>
                    <a:pt x="4351193" y="1121535"/>
                  </a:cubicBezTo>
                  <a:cubicBezTo>
                    <a:pt x="4344181" y="1128548"/>
                    <a:pt x="4334669" y="1132488"/>
                    <a:pt x="4324751" y="1132488"/>
                  </a:cubicBezTo>
                  <a:lnTo>
                    <a:pt x="37395" y="1132488"/>
                  </a:lnTo>
                  <a:cubicBezTo>
                    <a:pt x="27477" y="1132488"/>
                    <a:pt x="17966" y="1128548"/>
                    <a:pt x="10953" y="1121535"/>
                  </a:cubicBezTo>
                  <a:cubicBezTo>
                    <a:pt x="3940" y="1114522"/>
                    <a:pt x="0" y="1105011"/>
                    <a:pt x="0" y="1095093"/>
                  </a:cubicBezTo>
                  <a:lnTo>
                    <a:pt x="0" y="37395"/>
                  </a:lnTo>
                  <a:cubicBezTo>
                    <a:pt x="0" y="27477"/>
                    <a:pt x="3940" y="17966"/>
                    <a:pt x="10953" y="10953"/>
                  </a:cubicBezTo>
                  <a:cubicBezTo>
                    <a:pt x="17966" y="3940"/>
                    <a:pt x="27477" y="0"/>
                    <a:pt x="37395" y="0"/>
                  </a:cubicBezTo>
                  <a:close/>
                </a:path>
              </a:pathLst>
            </a:custGeom>
            <a:solidFill>
              <a:srgbClr val="424242"/>
            </a:solidFill>
            <a:ln w="19050" cap="rnd">
              <a:solidFill>
                <a:srgbClr val="D0D7DD"/>
              </a:solidFill>
              <a:prstDash val="solid"/>
              <a:round/>
            </a:ln>
          </p:spPr>
          <p:txBody>
            <a:bodyPr/>
            <a:lstStyle/>
            <a:p>
              <a:endParaRPr lang="en-US"/>
            </a:p>
          </p:txBody>
        </p:sp>
        <p:sp>
          <p:nvSpPr>
            <p:cNvPr id="18" name="TextBox 18"/>
            <p:cNvSpPr txBox="1"/>
            <p:nvPr/>
          </p:nvSpPr>
          <p:spPr>
            <a:xfrm>
              <a:off x="0" y="-28575"/>
              <a:ext cx="4362146" cy="1161063"/>
            </a:xfrm>
            <a:prstGeom prst="rect">
              <a:avLst/>
            </a:prstGeom>
          </p:spPr>
          <p:txBody>
            <a:bodyPr lIns="50800" tIns="50800" rIns="50800" bIns="50800" rtlCol="0" anchor="ctr"/>
            <a:lstStyle/>
            <a:p>
              <a:pPr algn="ctr">
                <a:lnSpc>
                  <a:spcPts val="2015"/>
                </a:lnSpc>
              </a:pPr>
              <a:endParaRPr/>
            </a:p>
          </p:txBody>
        </p:sp>
      </p:grpSp>
      <p:sp>
        <p:nvSpPr>
          <p:cNvPr id="19" name="TextBox 19"/>
          <p:cNvSpPr txBox="1"/>
          <p:nvPr/>
        </p:nvSpPr>
        <p:spPr>
          <a:xfrm>
            <a:off x="984504" y="3822810"/>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S</a:t>
            </a:r>
          </a:p>
        </p:txBody>
      </p:sp>
      <p:sp>
        <p:nvSpPr>
          <p:cNvPr id="20" name="TextBox 20"/>
          <p:cNvSpPr txBox="1"/>
          <p:nvPr/>
        </p:nvSpPr>
        <p:spPr>
          <a:xfrm>
            <a:off x="5025140" y="3822810"/>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W</a:t>
            </a:r>
          </a:p>
        </p:txBody>
      </p:sp>
      <p:sp>
        <p:nvSpPr>
          <p:cNvPr id="21" name="TextBox 21"/>
          <p:cNvSpPr txBox="1"/>
          <p:nvPr/>
        </p:nvSpPr>
        <p:spPr>
          <a:xfrm>
            <a:off x="9065776" y="3822810"/>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O</a:t>
            </a:r>
          </a:p>
        </p:txBody>
      </p:sp>
      <p:sp>
        <p:nvSpPr>
          <p:cNvPr id="22" name="TextBox 22"/>
          <p:cNvSpPr txBox="1"/>
          <p:nvPr/>
        </p:nvSpPr>
        <p:spPr>
          <a:xfrm>
            <a:off x="13106412" y="3840040"/>
            <a:ext cx="2888111" cy="513080"/>
          </a:xfrm>
          <a:prstGeom prst="rect">
            <a:avLst/>
          </a:prstGeom>
        </p:spPr>
        <p:txBody>
          <a:bodyPr lIns="0" tIns="0" rIns="0" bIns="0" rtlCol="0" anchor="t">
            <a:spAutoFit/>
          </a:bodyPr>
          <a:lstStyle/>
          <a:p>
            <a:pPr algn="ctr">
              <a:lnSpc>
                <a:spcPts val="3759"/>
              </a:lnSpc>
            </a:pPr>
            <a:r>
              <a:rPr lang="en-US" sz="3999" b="1" spc="-187">
                <a:solidFill>
                  <a:srgbClr val="424242"/>
                </a:solidFill>
                <a:latin typeface="Open Sauce Heavy"/>
                <a:ea typeface="Open Sauce Heavy"/>
                <a:cs typeface="Open Sauce Heavy"/>
                <a:sym typeface="Open Sauce Heavy"/>
              </a:rPr>
              <a:t>T</a:t>
            </a:r>
          </a:p>
        </p:txBody>
      </p:sp>
      <p:sp>
        <p:nvSpPr>
          <p:cNvPr id="23" name="TextBox 23"/>
          <p:cNvSpPr txBox="1"/>
          <p:nvPr/>
        </p:nvSpPr>
        <p:spPr>
          <a:xfrm>
            <a:off x="1028700" y="1017210"/>
            <a:ext cx="16230600" cy="1436623"/>
          </a:xfrm>
          <a:prstGeom prst="rect">
            <a:avLst/>
          </a:prstGeom>
        </p:spPr>
        <p:txBody>
          <a:bodyPr lIns="0" tIns="0" rIns="0" bIns="0" rtlCol="0" anchor="t">
            <a:spAutoFit/>
          </a:bodyPr>
          <a:lstStyle/>
          <a:p>
            <a:pPr algn="l">
              <a:lnSpc>
                <a:spcPts val="10527"/>
              </a:lnSpc>
            </a:pPr>
            <a:r>
              <a:rPr lang="en-US" sz="11199" b="1" spc="-526">
                <a:solidFill>
                  <a:srgbClr val="FFFFFF"/>
                </a:solidFill>
                <a:latin typeface="Open Sauce Heavy"/>
                <a:ea typeface="Open Sauce Heavy"/>
                <a:cs typeface="Open Sauce Heavy"/>
                <a:sym typeface="Open Sauce Heavy"/>
              </a:rPr>
              <a:t>Reflection Presentation</a:t>
            </a:r>
          </a:p>
        </p:txBody>
      </p:sp>
      <p:sp>
        <p:nvSpPr>
          <p:cNvPr id="24" name="TextBox 24"/>
          <p:cNvSpPr txBox="1"/>
          <p:nvPr/>
        </p:nvSpPr>
        <p:spPr>
          <a:xfrm>
            <a:off x="1378302" y="6154305"/>
            <a:ext cx="2743245" cy="2082165"/>
          </a:xfrm>
          <a:prstGeom prst="rect">
            <a:avLst/>
          </a:prstGeom>
        </p:spPr>
        <p:txBody>
          <a:bodyPr lIns="0" tIns="0" rIns="0" bIns="0" rtlCol="0" anchor="t">
            <a:spAutoFit/>
          </a:bodyPr>
          <a:lstStyle/>
          <a:p>
            <a:pPr algn="l">
              <a:lnSpc>
                <a:spcPts val="3359"/>
              </a:lnSpc>
            </a:pPr>
            <a:r>
              <a:rPr lang="en-US" sz="2399" spc="-112">
                <a:solidFill>
                  <a:srgbClr val="FFFFFF"/>
                </a:solidFill>
                <a:latin typeface="Open Sauce Light"/>
                <a:ea typeface="Open Sauce Light"/>
                <a:cs typeface="Open Sauce Light"/>
                <a:sym typeface="Open Sauce Light"/>
              </a:rPr>
              <a:t>Effective offender custody and rehabilitation programs</a:t>
            </a:r>
          </a:p>
          <a:p>
            <a:pPr algn="l">
              <a:lnSpc>
                <a:spcPts val="3359"/>
              </a:lnSpc>
            </a:pPr>
            <a:endParaRPr lang="en-US" sz="2399" spc="-112">
              <a:solidFill>
                <a:srgbClr val="FFFFFF"/>
              </a:solidFill>
              <a:latin typeface="Open Sauce Light"/>
              <a:ea typeface="Open Sauce Light"/>
              <a:cs typeface="Open Sauce Light"/>
              <a:sym typeface="Open Sauce Light"/>
            </a:endParaRPr>
          </a:p>
        </p:txBody>
      </p:sp>
      <p:sp>
        <p:nvSpPr>
          <p:cNvPr id="25" name="TextBox 25"/>
          <p:cNvSpPr txBox="1"/>
          <p:nvPr/>
        </p:nvSpPr>
        <p:spPr>
          <a:xfrm>
            <a:off x="5373862" y="6154305"/>
            <a:ext cx="2743245" cy="1243965"/>
          </a:xfrm>
          <a:prstGeom prst="rect">
            <a:avLst/>
          </a:prstGeom>
        </p:spPr>
        <p:txBody>
          <a:bodyPr lIns="0" tIns="0" rIns="0" bIns="0" rtlCol="0" anchor="t">
            <a:spAutoFit/>
          </a:bodyPr>
          <a:lstStyle/>
          <a:p>
            <a:pPr algn="l">
              <a:lnSpc>
                <a:spcPts val="3359"/>
              </a:lnSpc>
            </a:pPr>
            <a:r>
              <a:rPr lang="en-US" sz="2399" spc="-112">
                <a:solidFill>
                  <a:srgbClr val="FFFFFF"/>
                </a:solidFill>
                <a:latin typeface="Open Sauce Light"/>
                <a:ea typeface="Open Sauce Light"/>
                <a:cs typeface="Open Sauce Light"/>
                <a:sym typeface="Open Sauce Light"/>
              </a:rPr>
              <a:t>Overcrowding and limited resources</a:t>
            </a:r>
          </a:p>
          <a:p>
            <a:pPr algn="l">
              <a:lnSpc>
                <a:spcPts val="3359"/>
              </a:lnSpc>
            </a:pPr>
            <a:endParaRPr lang="en-US" sz="2399" spc="-112">
              <a:solidFill>
                <a:srgbClr val="FFFFFF"/>
              </a:solidFill>
              <a:latin typeface="Open Sauce Light"/>
              <a:ea typeface="Open Sauce Light"/>
              <a:cs typeface="Open Sauce Light"/>
              <a:sym typeface="Open Sauce Light"/>
            </a:endParaRPr>
          </a:p>
        </p:txBody>
      </p:sp>
      <p:sp>
        <p:nvSpPr>
          <p:cNvPr id="26" name="TextBox 26"/>
          <p:cNvSpPr txBox="1"/>
          <p:nvPr/>
        </p:nvSpPr>
        <p:spPr>
          <a:xfrm>
            <a:off x="9523230" y="6154305"/>
            <a:ext cx="2743245" cy="2501265"/>
          </a:xfrm>
          <a:prstGeom prst="rect">
            <a:avLst/>
          </a:prstGeom>
        </p:spPr>
        <p:txBody>
          <a:bodyPr lIns="0" tIns="0" rIns="0" bIns="0" rtlCol="0" anchor="t">
            <a:spAutoFit/>
          </a:bodyPr>
          <a:lstStyle/>
          <a:p>
            <a:pPr algn="l">
              <a:lnSpc>
                <a:spcPts val="3359"/>
              </a:lnSpc>
            </a:pPr>
            <a:r>
              <a:rPr lang="en-US" sz="2399" spc="-112">
                <a:solidFill>
                  <a:srgbClr val="FFFFFF"/>
                </a:solidFill>
                <a:latin typeface="Open Sauce Light"/>
                <a:ea typeface="Open Sauce Light"/>
                <a:cs typeface="Open Sauce Light"/>
                <a:sym typeface="Open Sauce Light"/>
              </a:rPr>
              <a:t>Modernization, partnerships, and expanded rehabilitation services.</a:t>
            </a:r>
          </a:p>
          <a:p>
            <a:pPr algn="l">
              <a:lnSpc>
                <a:spcPts val="3359"/>
              </a:lnSpc>
            </a:pPr>
            <a:endParaRPr lang="en-US" sz="2399" spc="-112">
              <a:solidFill>
                <a:srgbClr val="FFFFFF"/>
              </a:solidFill>
              <a:latin typeface="Open Sauce Light"/>
              <a:ea typeface="Open Sauce Light"/>
              <a:cs typeface="Open Sauce Light"/>
              <a:sym typeface="Open Sauce Light"/>
            </a:endParaRPr>
          </a:p>
        </p:txBody>
      </p:sp>
      <p:sp>
        <p:nvSpPr>
          <p:cNvPr id="27" name="TextBox 27"/>
          <p:cNvSpPr txBox="1"/>
          <p:nvPr/>
        </p:nvSpPr>
        <p:spPr>
          <a:xfrm>
            <a:off x="13525082" y="6154305"/>
            <a:ext cx="2743245" cy="2501265"/>
          </a:xfrm>
          <a:prstGeom prst="rect">
            <a:avLst/>
          </a:prstGeom>
        </p:spPr>
        <p:txBody>
          <a:bodyPr lIns="0" tIns="0" rIns="0" bIns="0" rtlCol="0" anchor="t">
            <a:spAutoFit/>
          </a:bodyPr>
          <a:lstStyle/>
          <a:p>
            <a:pPr algn="l">
              <a:lnSpc>
                <a:spcPts val="3359"/>
              </a:lnSpc>
            </a:pPr>
            <a:r>
              <a:rPr lang="en-US" sz="2400" spc="-112">
                <a:solidFill>
                  <a:srgbClr val="FFFFFF"/>
                </a:solidFill>
                <a:latin typeface="Open Sauce Light"/>
                <a:ea typeface="Open Sauce Light"/>
                <a:cs typeface="Open Sauce Light"/>
                <a:sym typeface="Open Sauce Light"/>
              </a:rPr>
              <a:t>Rising inmate population, security concerns, and social stigma.</a:t>
            </a:r>
          </a:p>
          <a:p>
            <a:pPr algn="l">
              <a:lnSpc>
                <a:spcPts val="3359"/>
              </a:lnSpc>
            </a:pPr>
            <a:endParaRPr lang="en-US" sz="2400" spc="-112">
              <a:solidFill>
                <a:srgbClr val="FFFFFF"/>
              </a:solidFill>
              <a:latin typeface="Open Sauce Light"/>
              <a:ea typeface="Open Sauce Light"/>
              <a:cs typeface="Open Sauce Light"/>
              <a:sym typeface="Open Sauce Light"/>
            </a:endParaRPr>
          </a:p>
          <a:p>
            <a:pPr algn="l">
              <a:lnSpc>
                <a:spcPts val="3359"/>
              </a:lnSpc>
            </a:pPr>
            <a:endParaRPr lang="en-US" sz="2400" spc="-112">
              <a:solidFill>
                <a:srgbClr val="FFFFFF"/>
              </a:solidFill>
              <a:latin typeface="Open Sauce Light"/>
              <a:ea typeface="Open Sauce Light"/>
              <a:cs typeface="Open Sauce Light"/>
              <a:sym typeface="Open Sauce Light"/>
            </a:endParaRPr>
          </a:p>
        </p:txBody>
      </p:sp>
      <p:sp>
        <p:nvSpPr>
          <p:cNvPr id="28" name="AutoShape 28"/>
          <p:cNvSpPr/>
          <p:nvPr/>
        </p:nvSpPr>
        <p:spPr>
          <a:xfrm flipH="1">
            <a:off x="872670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29" name="AutoShape 29"/>
          <p:cNvSpPr/>
          <p:nvPr/>
        </p:nvSpPr>
        <p:spPr>
          <a:xfrm flipH="1">
            <a:off x="473114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30" name="AutoShape 30"/>
          <p:cNvSpPr/>
          <p:nvPr/>
        </p:nvSpPr>
        <p:spPr>
          <a:xfrm>
            <a:off x="12724982"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2700000" flipH="1">
            <a:off x="-2226604" y="4850810"/>
            <a:ext cx="9290530" cy="6858100"/>
          </a:xfrm>
          <a:custGeom>
            <a:avLst/>
            <a:gdLst/>
            <a:ahLst/>
            <a:cxnLst/>
            <a:rect l="l" t="t" r="r" b="b"/>
            <a:pathLst>
              <a:path w="9290530" h="6858100">
                <a:moveTo>
                  <a:pt x="9290530" y="0"/>
                </a:moveTo>
                <a:lnTo>
                  <a:pt x="0" y="0"/>
                </a:lnTo>
                <a:lnTo>
                  <a:pt x="0" y="6858100"/>
                </a:lnTo>
                <a:lnTo>
                  <a:pt x="9290530" y="6858100"/>
                </a:lnTo>
                <a:lnTo>
                  <a:pt x="9290530" y="0"/>
                </a:lnTo>
                <a:close/>
              </a:path>
            </a:pathLst>
          </a:custGeom>
          <a:blipFill>
            <a:blip r:embed="rId2">
              <a:alphaModFix amt="24000"/>
            </a:blip>
            <a:stretch>
              <a:fillRect/>
            </a:stretch>
          </a:blipFill>
        </p:spPr>
        <p:txBody>
          <a:bodyPr/>
          <a:lstStyle/>
          <a:p>
            <a:endParaRPr lang="en-US"/>
          </a:p>
        </p:txBody>
      </p:sp>
      <p:grpSp>
        <p:nvGrpSpPr>
          <p:cNvPr id="3" name="Group 3"/>
          <p:cNvGrpSpPr/>
          <p:nvPr/>
        </p:nvGrpSpPr>
        <p:grpSpPr>
          <a:xfrm>
            <a:off x="8592054" y="970292"/>
            <a:ext cx="8797534" cy="8385207"/>
            <a:chOff x="0" y="0"/>
            <a:chExt cx="2317046" cy="2208450"/>
          </a:xfrm>
        </p:grpSpPr>
        <p:sp>
          <p:nvSpPr>
            <p:cNvPr id="4" name="Freeform 4"/>
            <p:cNvSpPr/>
            <p:nvPr/>
          </p:nvSpPr>
          <p:spPr>
            <a:xfrm>
              <a:off x="0" y="0"/>
              <a:ext cx="2317046" cy="2208450"/>
            </a:xfrm>
            <a:custGeom>
              <a:avLst/>
              <a:gdLst/>
              <a:ahLst/>
              <a:cxnLst/>
              <a:rect l="l" t="t" r="r" b="b"/>
              <a:pathLst>
                <a:path w="2317046" h="2208450">
                  <a:moveTo>
                    <a:pt x="81841" y="0"/>
                  </a:moveTo>
                  <a:lnTo>
                    <a:pt x="2235205" y="0"/>
                  </a:lnTo>
                  <a:cubicBezTo>
                    <a:pt x="2280405" y="0"/>
                    <a:pt x="2317046" y="36641"/>
                    <a:pt x="2317046" y="81841"/>
                  </a:cubicBezTo>
                  <a:lnTo>
                    <a:pt x="2317046" y="2126609"/>
                  </a:lnTo>
                  <a:cubicBezTo>
                    <a:pt x="2317046" y="2171808"/>
                    <a:pt x="2280405" y="2208450"/>
                    <a:pt x="2235205" y="2208450"/>
                  </a:cubicBezTo>
                  <a:lnTo>
                    <a:pt x="81841" y="2208450"/>
                  </a:lnTo>
                  <a:cubicBezTo>
                    <a:pt x="36641" y="2208450"/>
                    <a:pt x="0" y="2171808"/>
                    <a:pt x="0" y="2126609"/>
                  </a:cubicBezTo>
                  <a:lnTo>
                    <a:pt x="0" y="81841"/>
                  </a:lnTo>
                  <a:cubicBezTo>
                    <a:pt x="0" y="36641"/>
                    <a:pt x="36641" y="0"/>
                    <a:pt x="81841" y="0"/>
                  </a:cubicBezTo>
                  <a:close/>
                </a:path>
              </a:pathLst>
            </a:custGeom>
            <a:solidFill>
              <a:srgbClr val="D0D7DD"/>
            </a:solidFill>
            <a:ln w="19050" cap="rnd">
              <a:solidFill>
                <a:srgbClr val="424242"/>
              </a:solidFill>
              <a:prstDash val="solid"/>
              <a:round/>
            </a:ln>
          </p:spPr>
          <p:txBody>
            <a:bodyPr/>
            <a:lstStyle/>
            <a:p>
              <a:endParaRPr lang="en-US"/>
            </a:p>
          </p:txBody>
        </p:sp>
        <p:sp>
          <p:nvSpPr>
            <p:cNvPr id="5" name="TextBox 5"/>
            <p:cNvSpPr txBox="1"/>
            <p:nvPr/>
          </p:nvSpPr>
          <p:spPr>
            <a:xfrm>
              <a:off x="0" y="-28575"/>
              <a:ext cx="2317046" cy="2237025"/>
            </a:xfrm>
            <a:prstGeom prst="rect">
              <a:avLst/>
            </a:prstGeom>
          </p:spPr>
          <p:txBody>
            <a:bodyPr lIns="50800" tIns="50800" rIns="50800" bIns="50800" rtlCol="0" anchor="ctr"/>
            <a:lstStyle/>
            <a:p>
              <a:pPr algn="ctr">
                <a:lnSpc>
                  <a:spcPts val="2015"/>
                </a:lnSpc>
              </a:pPr>
              <a:endParaRPr/>
            </a:p>
          </p:txBody>
        </p:sp>
      </p:grpSp>
      <p:sp>
        <p:nvSpPr>
          <p:cNvPr id="6" name="TextBox 6"/>
          <p:cNvSpPr txBox="1"/>
          <p:nvPr/>
        </p:nvSpPr>
        <p:spPr>
          <a:xfrm>
            <a:off x="1028700" y="6945927"/>
            <a:ext cx="6880469" cy="1237997"/>
          </a:xfrm>
          <a:prstGeom prst="rect">
            <a:avLst/>
          </a:prstGeom>
        </p:spPr>
        <p:txBody>
          <a:bodyPr lIns="0" tIns="0" rIns="0" bIns="0" rtlCol="0" anchor="t">
            <a:spAutoFit/>
          </a:bodyPr>
          <a:lstStyle/>
          <a:p>
            <a:pPr algn="l">
              <a:lnSpc>
                <a:spcPts val="9212"/>
              </a:lnSpc>
            </a:pPr>
            <a:r>
              <a:rPr lang="en-US" sz="9800" b="1" spc="-460">
                <a:solidFill>
                  <a:srgbClr val="424242"/>
                </a:solidFill>
                <a:latin typeface="Open Sauce Heavy"/>
                <a:ea typeface="Open Sauce Heavy"/>
                <a:cs typeface="Open Sauce Heavy"/>
                <a:sym typeface="Open Sauce Heavy"/>
              </a:rPr>
              <a:t>Strength</a:t>
            </a:r>
          </a:p>
        </p:txBody>
      </p:sp>
      <p:sp>
        <p:nvSpPr>
          <p:cNvPr id="7" name="TextBox 7"/>
          <p:cNvSpPr txBox="1"/>
          <p:nvPr/>
        </p:nvSpPr>
        <p:spPr>
          <a:xfrm>
            <a:off x="1028700" y="642978"/>
            <a:ext cx="4633749" cy="587954"/>
          </a:xfrm>
          <a:prstGeom prst="rect">
            <a:avLst/>
          </a:prstGeom>
        </p:spPr>
        <p:txBody>
          <a:bodyPr lIns="0" tIns="0" rIns="0" bIns="0" rtlCol="0" anchor="t">
            <a:spAutoFit/>
          </a:bodyPr>
          <a:lstStyle/>
          <a:p>
            <a:pPr algn="l">
              <a:lnSpc>
                <a:spcPts val="4868"/>
              </a:lnSpc>
            </a:pPr>
            <a:r>
              <a:rPr lang="en-US" sz="3477" b="1" spc="-163">
                <a:solidFill>
                  <a:srgbClr val="424242"/>
                </a:solidFill>
                <a:latin typeface="Open Sauce Heavy"/>
                <a:ea typeface="Open Sauce Heavy"/>
                <a:cs typeface="Open Sauce Heavy"/>
                <a:sym typeface="Open Sauce Heavy"/>
              </a:rPr>
              <a:t>Modern Penology</a:t>
            </a:r>
          </a:p>
        </p:txBody>
      </p:sp>
      <p:sp>
        <p:nvSpPr>
          <p:cNvPr id="8" name="TextBox 8"/>
          <p:cNvSpPr txBox="1"/>
          <p:nvPr/>
        </p:nvSpPr>
        <p:spPr>
          <a:xfrm>
            <a:off x="11757389" y="2579982"/>
            <a:ext cx="5140506" cy="771525"/>
          </a:xfrm>
          <a:prstGeom prst="rect">
            <a:avLst/>
          </a:prstGeom>
        </p:spPr>
        <p:txBody>
          <a:bodyPr lIns="0" tIns="0" rIns="0" bIns="0" rtlCol="0" anchor="t">
            <a:spAutoFit/>
          </a:bodyPr>
          <a:lstStyle/>
          <a:p>
            <a:pPr algn="l">
              <a:lnSpc>
                <a:spcPts val="3120"/>
              </a:lnSpc>
            </a:pPr>
            <a:r>
              <a:rPr lang="en-US" sz="2600" b="1" spc="-122">
                <a:solidFill>
                  <a:srgbClr val="424242"/>
                </a:solidFill>
                <a:latin typeface="Open Sauce Heavy"/>
                <a:ea typeface="Open Sauce Heavy"/>
                <a:cs typeface="Open Sauce Heavy"/>
                <a:sym typeface="Open Sauce Heavy"/>
              </a:rPr>
              <a:t>Security and Public Protection</a:t>
            </a:r>
          </a:p>
          <a:p>
            <a:pPr algn="l">
              <a:lnSpc>
                <a:spcPts val="3120"/>
              </a:lnSpc>
            </a:pPr>
            <a:endParaRPr lang="en-US" sz="2600" b="1" spc="-122">
              <a:solidFill>
                <a:srgbClr val="424242"/>
              </a:solidFill>
              <a:latin typeface="Open Sauce Heavy"/>
              <a:ea typeface="Open Sauce Heavy"/>
              <a:cs typeface="Open Sauce Heavy"/>
              <a:sym typeface="Open Sauce Heavy"/>
            </a:endParaRPr>
          </a:p>
        </p:txBody>
      </p:sp>
      <p:sp>
        <p:nvSpPr>
          <p:cNvPr id="9" name="TextBox 9"/>
          <p:cNvSpPr txBox="1"/>
          <p:nvPr/>
        </p:nvSpPr>
        <p:spPr>
          <a:xfrm>
            <a:off x="11757389" y="4967428"/>
            <a:ext cx="5140506" cy="1162050"/>
          </a:xfrm>
          <a:prstGeom prst="rect">
            <a:avLst/>
          </a:prstGeom>
        </p:spPr>
        <p:txBody>
          <a:bodyPr lIns="0" tIns="0" rIns="0" bIns="0" rtlCol="0" anchor="t">
            <a:spAutoFit/>
          </a:bodyPr>
          <a:lstStyle/>
          <a:p>
            <a:pPr algn="l">
              <a:lnSpc>
                <a:spcPts val="3120"/>
              </a:lnSpc>
            </a:pPr>
            <a:r>
              <a:rPr lang="en-US" sz="2600" b="1" spc="-122">
                <a:solidFill>
                  <a:srgbClr val="424242"/>
                </a:solidFill>
                <a:latin typeface="Open Sauce Heavy"/>
                <a:ea typeface="Open Sauce Heavy"/>
                <a:cs typeface="Open Sauce Heavy"/>
                <a:sym typeface="Open Sauce Heavy"/>
              </a:rPr>
              <a:t>Rehabilitation and Behavior Change</a:t>
            </a:r>
          </a:p>
          <a:p>
            <a:pPr algn="l">
              <a:lnSpc>
                <a:spcPts val="3120"/>
              </a:lnSpc>
            </a:pPr>
            <a:endParaRPr lang="en-US" sz="2600" b="1" spc="-122">
              <a:solidFill>
                <a:srgbClr val="424242"/>
              </a:solidFill>
              <a:latin typeface="Open Sauce Heavy"/>
              <a:ea typeface="Open Sauce Heavy"/>
              <a:cs typeface="Open Sauce Heavy"/>
              <a:sym typeface="Open Sauce Heavy"/>
            </a:endParaRPr>
          </a:p>
        </p:txBody>
      </p:sp>
      <p:sp>
        <p:nvSpPr>
          <p:cNvPr id="10" name="TextBox 10"/>
          <p:cNvSpPr txBox="1"/>
          <p:nvPr/>
        </p:nvSpPr>
        <p:spPr>
          <a:xfrm>
            <a:off x="11757389" y="7450626"/>
            <a:ext cx="5140506" cy="1162050"/>
          </a:xfrm>
          <a:prstGeom prst="rect">
            <a:avLst/>
          </a:prstGeom>
        </p:spPr>
        <p:txBody>
          <a:bodyPr lIns="0" tIns="0" rIns="0" bIns="0" rtlCol="0" anchor="t">
            <a:spAutoFit/>
          </a:bodyPr>
          <a:lstStyle/>
          <a:p>
            <a:pPr algn="l">
              <a:lnSpc>
                <a:spcPts val="3120"/>
              </a:lnSpc>
            </a:pPr>
            <a:r>
              <a:rPr lang="en-US" sz="2600" b="1" spc="-122">
                <a:solidFill>
                  <a:srgbClr val="424242"/>
                </a:solidFill>
                <a:latin typeface="Open Sauce Heavy"/>
                <a:ea typeface="Open Sauce Heavy"/>
                <a:cs typeface="Open Sauce Heavy"/>
                <a:sym typeface="Open Sauce Heavy"/>
              </a:rPr>
              <a:t>Reintegration and Personal Development</a:t>
            </a:r>
          </a:p>
          <a:p>
            <a:pPr algn="l">
              <a:lnSpc>
                <a:spcPts val="3120"/>
              </a:lnSpc>
            </a:pPr>
            <a:endParaRPr lang="en-US" sz="2600" b="1" spc="-122">
              <a:solidFill>
                <a:srgbClr val="424242"/>
              </a:solidFill>
              <a:latin typeface="Open Sauce Heavy"/>
              <a:ea typeface="Open Sauce Heavy"/>
              <a:cs typeface="Open Sauce Heavy"/>
              <a:sym typeface="Open Sauce Heavy"/>
            </a:endParaRPr>
          </a:p>
        </p:txBody>
      </p:sp>
      <p:sp>
        <p:nvSpPr>
          <p:cNvPr id="11" name="TextBox 11"/>
          <p:cNvSpPr txBox="1"/>
          <p:nvPr/>
        </p:nvSpPr>
        <p:spPr>
          <a:xfrm>
            <a:off x="8432864" y="1959278"/>
            <a:ext cx="3016005" cy="1450958"/>
          </a:xfrm>
          <a:prstGeom prst="rect">
            <a:avLst/>
          </a:prstGeom>
        </p:spPr>
        <p:txBody>
          <a:bodyPr lIns="0" tIns="0" rIns="0" bIns="0" rtlCol="0" anchor="t">
            <a:spAutoFit/>
          </a:bodyPr>
          <a:lstStyle/>
          <a:p>
            <a:pPr algn="ctr">
              <a:lnSpc>
                <a:spcPts val="11900"/>
              </a:lnSpc>
              <a:spcBef>
                <a:spcPct val="0"/>
              </a:spcBef>
            </a:pPr>
            <a:r>
              <a:rPr lang="en-US" sz="8500" spc="-399">
                <a:solidFill>
                  <a:srgbClr val="424242"/>
                </a:solidFill>
                <a:latin typeface="Open Sauce Light"/>
                <a:ea typeface="Open Sauce Light"/>
                <a:cs typeface="Open Sauce Light"/>
                <a:sym typeface="Open Sauce Light"/>
              </a:rPr>
              <a:t>🛡️</a:t>
            </a:r>
          </a:p>
        </p:txBody>
      </p:sp>
      <p:sp>
        <p:nvSpPr>
          <p:cNvPr id="12" name="TextBox 12"/>
          <p:cNvSpPr txBox="1"/>
          <p:nvPr/>
        </p:nvSpPr>
        <p:spPr>
          <a:xfrm>
            <a:off x="9289545" y="4670549"/>
            <a:ext cx="1302643" cy="1458929"/>
          </a:xfrm>
          <a:prstGeom prst="rect">
            <a:avLst/>
          </a:prstGeom>
        </p:spPr>
        <p:txBody>
          <a:bodyPr lIns="0" tIns="0" rIns="0" bIns="0" rtlCol="0" anchor="t">
            <a:spAutoFit/>
          </a:bodyPr>
          <a:lstStyle/>
          <a:p>
            <a:pPr algn="ctr">
              <a:lnSpc>
                <a:spcPts val="11986"/>
              </a:lnSpc>
              <a:spcBef>
                <a:spcPct val="0"/>
              </a:spcBef>
            </a:pPr>
            <a:r>
              <a:rPr lang="en-US" sz="8561" spc="-402">
                <a:solidFill>
                  <a:srgbClr val="424242"/>
                </a:solidFill>
                <a:latin typeface="Open Sauce Light"/>
                <a:ea typeface="Open Sauce Light"/>
                <a:cs typeface="Open Sauce Light"/>
                <a:sym typeface="Open Sauce Light"/>
              </a:rPr>
              <a:t>🔄</a:t>
            </a:r>
          </a:p>
        </p:txBody>
      </p:sp>
      <p:sp>
        <p:nvSpPr>
          <p:cNvPr id="13" name="TextBox 13"/>
          <p:cNvSpPr txBox="1"/>
          <p:nvPr/>
        </p:nvSpPr>
        <p:spPr>
          <a:xfrm>
            <a:off x="9288404" y="6814634"/>
            <a:ext cx="1304925" cy="1477615"/>
          </a:xfrm>
          <a:prstGeom prst="rect">
            <a:avLst/>
          </a:prstGeom>
        </p:spPr>
        <p:txBody>
          <a:bodyPr lIns="0" tIns="0" rIns="0" bIns="0" rtlCol="0" anchor="t">
            <a:spAutoFit/>
          </a:bodyPr>
          <a:lstStyle/>
          <a:p>
            <a:pPr algn="ctr">
              <a:lnSpc>
                <a:spcPts val="12006"/>
              </a:lnSpc>
              <a:spcBef>
                <a:spcPct val="0"/>
              </a:spcBef>
            </a:pPr>
            <a:r>
              <a:rPr lang="en-US" sz="8576" spc="-403">
                <a:solidFill>
                  <a:srgbClr val="424242"/>
                </a:solidFill>
                <a:latin typeface="Open Sauce Light"/>
                <a:ea typeface="Open Sauce Light"/>
                <a:cs typeface="Open Sauce Light"/>
                <a:sym typeface="Open Sauce Ligh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4223" y="360273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txBody>
          <a:bodyPr/>
          <a:lstStyle/>
          <a:p>
            <a:endParaRPr lang="en-US"/>
          </a:p>
        </p:txBody>
      </p:sp>
      <p:grpSp>
        <p:nvGrpSpPr>
          <p:cNvPr id="3" name="Group 3"/>
          <p:cNvGrpSpPr/>
          <p:nvPr/>
        </p:nvGrpSpPr>
        <p:grpSpPr>
          <a:xfrm>
            <a:off x="-203669" y="-206665"/>
            <a:ext cx="18695337" cy="4744221"/>
            <a:chOff x="0" y="0"/>
            <a:chExt cx="2896397" cy="735004"/>
          </a:xfrm>
        </p:grpSpPr>
        <p:sp>
          <p:nvSpPr>
            <p:cNvPr id="4" name="Freeform 4"/>
            <p:cNvSpPr/>
            <p:nvPr/>
          </p:nvSpPr>
          <p:spPr>
            <a:xfrm>
              <a:off x="0" y="0"/>
              <a:ext cx="2896397" cy="735004"/>
            </a:xfrm>
            <a:custGeom>
              <a:avLst/>
              <a:gdLst/>
              <a:ahLst/>
              <a:cxnLst/>
              <a:rect l="l" t="t" r="r" b="b"/>
              <a:pathLst>
                <a:path w="2896397" h="735004">
                  <a:moveTo>
                    <a:pt x="0" y="0"/>
                  </a:moveTo>
                  <a:lnTo>
                    <a:pt x="2896397" y="0"/>
                  </a:lnTo>
                  <a:lnTo>
                    <a:pt x="2896397" y="735004"/>
                  </a:lnTo>
                  <a:lnTo>
                    <a:pt x="0" y="735004"/>
                  </a:lnTo>
                  <a:close/>
                </a:path>
              </a:pathLst>
            </a:custGeom>
            <a:blipFill>
              <a:blip r:embed="rId3"/>
              <a:stretch>
                <a:fillRect t="-168860" b="-294089"/>
              </a:stretch>
            </a:blipFill>
          </p:spPr>
          <p:txBody>
            <a:bodyPr/>
            <a:lstStyle/>
            <a:p>
              <a:endParaRPr lang="en-US"/>
            </a:p>
          </p:txBody>
        </p:sp>
      </p:grpSp>
      <p:grpSp>
        <p:nvGrpSpPr>
          <p:cNvPr id="5" name="Group 5"/>
          <p:cNvGrpSpPr/>
          <p:nvPr/>
        </p:nvGrpSpPr>
        <p:grpSpPr>
          <a:xfrm>
            <a:off x="894040" y="2728442"/>
            <a:ext cx="16495548" cy="6691928"/>
            <a:chOff x="0" y="0"/>
            <a:chExt cx="4344507" cy="1762483"/>
          </a:xfrm>
        </p:grpSpPr>
        <p:sp>
          <p:nvSpPr>
            <p:cNvPr id="6" name="Freeform 6"/>
            <p:cNvSpPr/>
            <p:nvPr/>
          </p:nvSpPr>
          <p:spPr>
            <a:xfrm>
              <a:off x="0" y="0"/>
              <a:ext cx="4344507" cy="1762483"/>
            </a:xfrm>
            <a:custGeom>
              <a:avLst/>
              <a:gdLst/>
              <a:ahLst/>
              <a:cxnLst/>
              <a:rect l="l" t="t" r="r" b="b"/>
              <a:pathLst>
                <a:path w="4344507" h="1762483">
                  <a:moveTo>
                    <a:pt x="43648" y="0"/>
                  </a:moveTo>
                  <a:lnTo>
                    <a:pt x="4300858" y="0"/>
                  </a:lnTo>
                  <a:cubicBezTo>
                    <a:pt x="4312435" y="0"/>
                    <a:pt x="4323537" y="4599"/>
                    <a:pt x="4331722" y="12784"/>
                  </a:cubicBezTo>
                  <a:cubicBezTo>
                    <a:pt x="4339908" y="20970"/>
                    <a:pt x="4344507" y="32072"/>
                    <a:pt x="4344507" y="43648"/>
                  </a:cubicBezTo>
                  <a:lnTo>
                    <a:pt x="4344507" y="1718835"/>
                  </a:lnTo>
                  <a:cubicBezTo>
                    <a:pt x="4344507" y="1742941"/>
                    <a:pt x="4324965" y="1762483"/>
                    <a:pt x="4300858" y="1762483"/>
                  </a:cubicBezTo>
                  <a:lnTo>
                    <a:pt x="43648" y="1762483"/>
                  </a:lnTo>
                  <a:cubicBezTo>
                    <a:pt x="32072" y="1762483"/>
                    <a:pt x="20970" y="1757885"/>
                    <a:pt x="12784" y="1749699"/>
                  </a:cubicBezTo>
                  <a:cubicBezTo>
                    <a:pt x="4599" y="1741513"/>
                    <a:pt x="0" y="1730411"/>
                    <a:pt x="0" y="1718835"/>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7" name="TextBox 7"/>
            <p:cNvSpPr txBox="1"/>
            <p:nvPr/>
          </p:nvSpPr>
          <p:spPr>
            <a:xfrm>
              <a:off x="0" y="-28575"/>
              <a:ext cx="4344507" cy="1791058"/>
            </a:xfrm>
            <a:prstGeom prst="rect">
              <a:avLst/>
            </a:prstGeom>
          </p:spPr>
          <p:txBody>
            <a:bodyPr lIns="50800" tIns="50800" rIns="50800" bIns="50800" rtlCol="0" anchor="ctr"/>
            <a:lstStyle/>
            <a:p>
              <a:pPr algn="ctr">
                <a:lnSpc>
                  <a:spcPts val="2015"/>
                </a:lnSpc>
              </a:pPr>
              <a:endParaRPr/>
            </a:p>
          </p:txBody>
        </p:sp>
      </p:grpSp>
      <p:grpSp>
        <p:nvGrpSpPr>
          <p:cNvPr id="8" name="Group 8"/>
          <p:cNvGrpSpPr/>
          <p:nvPr/>
        </p:nvGrpSpPr>
        <p:grpSpPr>
          <a:xfrm>
            <a:off x="16486613" y="3122398"/>
            <a:ext cx="480334" cy="4803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0" name="TextBox 10"/>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11" name="TextBox 11"/>
          <p:cNvSpPr txBox="1"/>
          <p:nvPr/>
        </p:nvSpPr>
        <p:spPr>
          <a:xfrm>
            <a:off x="1601969" y="3478288"/>
            <a:ext cx="10156343" cy="1483995"/>
          </a:xfrm>
          <a:prstGeom prst="rect">
            <a:avLst/>
          </a:prstGeom>
        </p:spPr>
        <p:txBody>
          <a:bodyPr lIns="0" tIns="0" rIns="0" bIns="0" rtlCol="0" anchor="t">
            <a:spAutoFit/>
          </a:bodyPr>
          <a:lstStyle/>
          <a:p>
            <a:pPr algn="l">
              <a:lnSpc>
                <a:spcPts val="5640"/>
              </a:lnSpc>
            </a:pPr>
            <a:r>
              <a:rPr lang="en-US" sz="6000" b="1" spc="-282">
                <a:solidFill>
                  <a:srgbClr val="FFFFFF"/>
                </a:solidFill>
                <a:latin typeface="Open Sauce Heavy"/>
                <a:ea typeface="Open Sauce Heavy"/>
                <a:cs typeface="Open Sauce Heavy"/>
                <a:sym typeface="Open Sauce Heavy"/>
              </a:rPr>
              <a:t>Security and Public Protection</a:t>
            </a:r>
          </a:p>
        </p:txBody>
      </p:sp>
      <p:sp>
        <p:nvSpPr>
          <p:cNvPr id="12" name="TextBox 12"/>
          <p:cNvSpPr txBox="1"/>
          <p:nvPr/>
        </p:nvSpPr>
        <p:spPr>
          <a:xfrm>
            <a:off x="1601969" y="5638558"/>
            <a:ext cx="12638011" cy="3554708"/>
          </a:xfrm>
          <a:prstGeom prst="rect">
            <a:avLst/>
          </a:prstGeom>
        </p:spPr>
        <p:txBody>
          <a:bodyPr lIns="0" tIns="0" rIns="0" bIns="0" rtlCol="0" anchor="t">
            <a:spAutoFit/>
          </a:bodyPr>
          <a:lstStyle/>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Institution-based corrections keep convicted offenders in secure facilities, preventing them from committing further crimes in the community.</a:t>
            </a:r>
          </a:p>
          <a:p>
            <a:pPr marL="550736" lvl="1" indent="-275368" algn="l">
              <a:lnSpc>
                <a:spcPts val="3571"/>
              </a:lnSpc>
              <a:buFont typeface="Arial"/>
              <a:buChar char="•"/>
            </a:pPr>
            <a:endParaRPr lang="en-US" sz="2550" spc="-119">
              <a:solidFill>
                <a:srgbClr val="FFFFFF"/>
              </a:solidFill>
              <a:latin typeface="Open Sauce Light"/>
              <a:ea typeface="Open Sauce Light"/>
              <a:cs typeface="Open Sauce Light"/>
              <a:sym typeface="Open Sauce Light"/>
            </a:endParaRPr>
          </a:p>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Correctional institutions maintain order and security through established rules, supervision, and monitoring.</a:t>
            </a:r>
          </a:p>
          <a:p>
            <a:pPr marL="550736" lvl="1" indent="-275368" algn="l">
              <a:lnSpc>
                <a:spcPts val="3571"/>
              </a:lnSpc>
              <a:buFont typeface="Arial"/>
              <a:buChar char="•"/>
            </a:pPr>
            <a:endParaRPr lang="en-US" sz="2550" spc="-119">
              <a:solidFill>
                <a:srgbClr val="FFFFFF"/>
              </a:solidFill>
              <a:latin typeface="Open Sauce Light"/>
              <a:ea typeface="Open Sauce Light"/>
              <a:cs typeface="Open Sauce Light"/>
              <a:sym typeface="Open Sauce Light"/>
            </a:endParaRPr>
          </a:p>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It helps protect citizens while offenders serve their sentence.</a:t>
            </a:r>
          </a:p>
          <a:p>
            <a:pPr algn="l">
              <a:lnSpc>
                <a:spcPts val="3571"/>
              </a:lnSpc>
            </a:pPr>
            <a:endParaRPr lang="en-US" sz="2550" spc="-119">
              <a:solidFill>
                <a:srgbClr val="FFFFFF"/>
              </a:solidFill>
              <a:latin typeface="Open Sauce Light"/>
              <a:ea typeface="Open Sauce Light"/>
              <a:cs typeface="Open Sauce Light"/>
              <a:sym typeface="Open Sauc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4223" y="360273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txBody>
          <a:bodyPr/>
          <a:lstStyle/>
          <a:p>
            <a:endParaRPr lang="en-US"/>
          </a:p>
        </p:txBody>
      </p:sp>
      <p:grpSp>
        <p:nvGrpSpPr>
          <p:cNvPr id="3" name="Group 3"/>
          <p:cNvGrpSpPr/>
          <p:nvPr/>
        </p:nvGrpSpPr>
        <p:grpSpPr>
          <a:xfrm>
            <a:off x="-203669" y="-206665"/>
            <a:ext cx="18695337" cy="4744221"/>
            <a:chOff x="0" y="0"/>
            <a:chExt cx="2896397" cy="735004"/>
          </a:xfrm>
        </p:grpSpPr>
        <p:sp>
          <p:nvSpPr>
            <p:cNvPr id="4" name="Freeform 4"/>
            <p:cNvSpPr/>
            <p:nvPr/>
          </p:nvSpPr>
          <p:spPr>
            <a:xfrm>
              <a:off x="0" y="0"/>
              <a:ext cx="2896397" cy="735004"/>
            </a:xfrm>
            <a:custGeom>
              <a:avLst/>
              <a:gdLst/>
              <a:ahLst/>
              <a:cxnLst/>
              <a:rect l="l" t="t" r="r" b="b"/>
              <a:pathLst>
                <a:path w="2896397" h="735004">
                  <a:moveTo>
                    <a:pt x="0" y="0"/>
                  </a:moveTo>
                  <a:lnTo>
                    <a:pt x="2896397" y="0"/>
                  </a:lnTo>
                  <a:lnTo>
                    <a:pt x="2896397" y="735004"/>
                  </a:lnTo>
                  <a:lnTo>
                    <a:pt x="0" y="735004"/>
                  </a:lnTo>
                  <a:close/>
                </a:path>
              </a:pathLst>
            </a:custGeom>
            <a:blipFill>
              <a:blip r:embed="rId3"/>
              <a:stretch>
                <a:fillRect t="-168860" b="-294089"/>
              </a:stretch>
            </a:blipFill>
          </p:spPr>
          <p:txBody>
            <a:bodyPr/>
            <a:lstStyle/>
            <a:p>
              <a:endParaRPr lang="en-US"/>
            </a:p>
          </p:txBody>
        </p:sp>
      </p:grpSp>
      <p:grpSp>
        <p:nvGrpSpPr>
          <p:cNvPr id="5" name="Group 5"/>
          <p:cNvGrpSpPr/>
          <p:nvPr/>
        </p:nvGrpSpPr>
        <p:grpSpPr>
          <a:xfrm>
            <a:off x="894040" y="2728442"/>
            <a:ext cx="16495548" cy="6691928"/>
            <a:chOff x="0" y="0"/>
            <a:chExt cx="4344507" cy="1762483"/>
          </a:xfrm>
        </p:grpSpPr>
        <p:sp>
          <p:nvSpPr>
            <p:cNvPr id="6" name="Freeform 6"/>
            <p:cNvSpPr/>
            <p:nvPr/>
          </p:nvSpPr>
          <p:spPr>
            <a:xfrm>
              <a:off x="0" y="0"/>
              <a:ext cx="4344507" cy="1762483"/>
            </a:xfrm>
            <a:custGeom>
              <a:avLst/>
              <a:gdLst/>
              <a:ahLst/>
              <a:cxnLst/>
              <a:rect l="l" t="t" r="r" b="b"/>
              <a:pathLst>
                <a:path w="4344507" h="1762483">
                  <a:moveTo>
                    <a:pt x="43648" y="0"/>
                  </a:moveTo>
                  <a:lnTo>
                    <a:pt x="4300858" y="0"/>
                  </a:lnTo>
                  <a:cubicBezTo>
                    <a:pt x="4312435" y="0"/>
                    <a:pt x="4323537" y="4599"/>
                    <a:pt x="4331722" y="12784"/>
                  </a:cubicBezTo>
                  <a:cubicBezTo>
                    <a:pt x="4339908" y="20970"/>
                    <a:pt x="4344507" y="32072"/>
                    <a:pt x="4344507" y="43648"/>
                  </a:cubicBezTo>
                  <a:lnTo>
                    <a:pt x="4344507" y="1718835"/>
                  </a:lnTo>
                  <a:cubicBezTo>
                    <a:pt x="4344507" y="1742941"/>
                    <a:pt x="4324965" y="1762483"/>
                    <a:pt x="4300858" y="1762483"/>
                  </a:cubicBezTo>
                  <a:lnTo>
                    <a:pt x="43648" y="1762483"/>
                  </a:lnTo>
                  <a:cubicBezTo>
                    <a:pt x="32072" y="1762483"/>
                    <a:pt x="20970" y="1757885"/>
                    <a:pt x="12784" y="1749699"/>
                  </a:cubicBezTo>
                  <a:cubicBezTo>
                    <a:pt x="4599" y="1741513"/>
                    <a:pt x="0" y="1730411"/>
                    <a:pt x="0" y="1718835"/>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7" name="TextBox 7"/>
            <p:cNvSpPr txBox="1"/>
            <p:nvPr/>
          </p:nvSpPr>
          <p:spPr>
            <a:xfrm>
              <a:off x="0" y="-28575"/>
              <a:ext cx="4344507" cy="1791058"/>
            </a:xfrm>
            <a:prstGeom prst="rect">
              <a:avLst/>
            </a:prstGeom>
          </p:spPr>
          <p:txBody>
            <a:bodyPr lIns="50800" tIns="50800" rIns="50800" bIns="50800" rtlCol="0" anchor="ctr"/>
            <a:lstStyle/>
            <a:p>
              <a:pPr algn="ctr">
                <a:lnSpc>
                  <a:spcPts val="2015"/>
                </a:lnSpc>
              </a:pPr>
              <a:endParaRPr/>
            </a:p>
          </p:txBody>
        </p:sp>
      </p:grpSp>
      <p:grpSp>
        <p:nvGrpSpPr>
          <p:cNvPr id="8" name="Group 8"/>
          <p:cNvGrpSpPr/>
          <p:nvPr/>
        </p:nvGrpSpPr>
        <p:grpSpPr>
          <a:xfrm>
            <a:off x="16486613" y="3122398"/>
            <a:ext cx="480334" cy="4803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0" name="TextBox 10"/>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11" name="TextBox 11"/>
          <p:cNvSpPr txBox="1"/>
          <p:nvPr/>
        </p:nvSpPr>
        <p:spPr>
          <a:xfrm>
            <a:off x="1601969" y="3478288"/>
            <a:ext cx="10156343" cy="2198370"/>
          </a:xfrm>
          <a:prstGeom prst="rect">
            <a:avLst/>
          </a:prstGeom>
        </p:spPr>
        <p:txBody>
          <a:bodyPr lIns="0" tIns="0" rIns="0" bIns="0" rtlCol="0" anchor="t">
            <a:spAutoFit/>
          </a:bodyPr>
          <a:lstStyle/>
          <a:p>
            <a:pPr algn="l">
              <a:lnSpc>
                <a:spcPts val="5640"/>
              </a:lnSpc>
            </a:pPr>
            <a:r>
              <a:rPr lang="en-US" sz="6000" b="1" spc="-282">
                <a:solidFill>
                  <a:srgbClr val="FFFFFF"/>
                </a:solidFill>
                <a:latin typeface="Open Sauce Heavy"/>
                <a:ea typeface="Open Sauce Heavy"/>
                <a:cs typeface="Open Sauce Heavy"/>
                <a:sym typeface="Open Sauce Heavy"/>
              </a:rPr>
              <a:t>Rehabilitation and Behavior Change</a:t>
            </a:r>
          </a:p>
          <a:p>
            <a:pPr algn="l">
              <a:lnSpc>
                <a:spcPts val="5640"/>
              </a:lnSpc>
            </a:pPr>
            <a:endParaRPr lang="en-US" sz="6000" b="1" spc="-282">
              <a:solidFill>
                <a:srgbClr val="FFFFFF"/>
              </a:solidFill>
              <a:latin typeface="Open Sauce Heavy"/>
              <a:ea typeface="Open Sauce Heavy"/>
              <a:cs typeface="Open Sauce Heavy"/>
              <a:sym typeface="Open Sauce Heavy"/>
            </a:endParaRPr>
          </a:p>
        </p:txBody>
      </p:sp>
      <p:sp>
        <p:nvSpPr>
          <p:cNvPr id="12" name="TextBox 12"/>
          <p:cNvSpPr txBox="1"/>
          <p:nvPr/>
        </p:nvSpPr>
        <p:spPr>
          <a:xfrm>
            <a:off x="1601969" y="5638558"/>
            <a:ext cx="12638011" cy="3554708"/>
          </a:xfrm>
          <a:prstGeom prst="rect">
            <a:avLst/>
          </a:prstGeom>
        </p:spPr>
        <p:txBody>
          <a:bodyPr lIns="0" tIns="0" rIns="0" bIns="0" rtlCol="0" anchor="t">
            <a:spAutoFit/>
          </a:bodyPr>
          <a:lstStyle/>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Inmates are given access to educational programs, literacy classes, vocational training, and spiritual activities</a:t>
            </a:r>
          </a:p>
          <a:p>
            <a:pPr algn="l">
              <a:lnSpc>
                <a:spcPts val="3571"/>
              </a:lnSpc>
            </a:pPr>
            <a:endParaRPr lang="en-US" sz="2550" spc="-119">
              <a:solidFill>
                <a:srgbClr val="FFFFFF"/>
              </a:solidFill>
              <a:latin typeface="Open Sauce Light"/>
              <a:ea typeface="Open Sauce Light"/>
              <a:cs typeface="Open Sauce Light"/>
              <a:sym typeface="Open Sauce Light"/>
            </a:endParaRPr>
          </a:p>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These programs help develop positive values, discipline, and work skills.</a:t>
            </a:r>
          </a:p>
          <a:p>
            <a:pPr algn="l">
              <a:lnSpc>
                <a:spcPts val="3571"/>
              </a:lnSpc>
            </a:pPr>
            <a:endParaRPr lang="en-US" sz="2550" spc="-119">
              <a:solidFill>
                <a:srgbClr val="FFFFFF"/>
              </a:solidFill>
              <a:latin typeface="Open Sauce Light"/>
              <a:ea typeface="Open Sauce Light"/>
              <a:cs typeface="Open Sauce Light"/>
              <a:sym typeface="Open Sauce Light"/>
            </a:endParaRPr>
          </a:p>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Rehabilitation reduces the likelihood of offenders returning to criminal activities after release.</a:t>
            </a:r>
          </a:p>
          <a:p>
            <a:pPr algn="l">
              <a:lnSpc>
                <a:spcPts val="3571"/>
              </a:lnSpc>
            </a:pPr>
            <a:endParaRPr lang="en-US" sz="2550" spc="-119">
              <a:solidFill>
                <a:srgbClr val="FFFFFF"/>
              </a:solidFill>
              <a:latin typeface="Open Sauce Light"/>
              <a:ea typeface="Open Sauce Light"/>
              <a:cs typeface="Open Sauce Light"/>
              <a:sym typeface="Open Sauc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4223" y="360273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txBody>
          <a:bodyPr/>
          <a:lstStyle/>
          <a:p>
            <a:endParaRPr lang="en-US"/>
          </a:p>
        </p:txBody>
      </p:sp>
      <p:grpSp>
        <p:nvGrpSpPr>
          <p:cNvPr id="3" name="Group 3"/>
          <p:cNvGrpSpPr/>
          <p:nvPr/>
        </p:nvGrpSpPr>
        <p:grpSpPr>
          <a:xfrm>
            <a:off x="-203669" y="-206665"/>
            <a:ext cx="18695337" cy="4744221"/>
            <a:chOff x="0" y="0"/>
            <a:chExt cx="2896397" cy="735004"/>
          </a:xfrm>
        </p:grpSpPr>
        <p:sp>
          <p:nvSpPr>
            <p:cNvPr id="4" name="Freeform 4"/>
            <p:cNvSpPr/>
            <p:nvPr/>
          </p:nvSpPr>
          <p:spPr>
            <a:xfrm>
              <a:off x="0" y="0"/>
              <a:ext cx="2896397" cy="735004"/>
            </a:xfrm>
            <a:custGeom>
              <a:avLst/>
              <a:gdLst/>
              <a:ahLst/>
              <a:cxnLst/>
              <a:rect l="l" t="t" r="r" b="b"/>
              <a:pathLst>
                <a:path w="2896397" h="735004">
                  <a:moveTo>
                    <a:pt x="0" y="0"/>
                  </a:moveTo>
                  <a:lnTo>
                    <a:pt x="2896397" y="0"/>
                  </a:lnTo>
                  <a:lnTo>
                    <a:pt x="2896397" y="735004"/>
                  </a:lnTo>
                  <a:lnTo>
                    <a:pt x="0" y="735004"/>
                  </a:lnTo>
                  <a:close/>
                </a:path>
              </a:pathLst>
            </a:custGeom>
            <a:blipFill>
              <a:blip r:embed="rId3"/>
              <a:stretch>
                <a:fillRect t="-168860" b="-294089"/>
              </a:stretch>
            </a:blipFill>
          </p:spPr>
          <p:txBody>
            <a:bodyPr/>
            <a:lstStyle/>
            <a:p>
              <a:endParaRPr lang="en-US"/>
            </a:p>
          </p:txBody>
        </p:sp>
      </p:grpSp>
      <p:grpSp>
        <p:nvGrpSpPr>
          <p:cNvPr id="5" name="Group 5"/>
          <p:cNvGrpSpPr/>
          <p:nvPr/>
        </p:nvGrpSpPr>
        <p:grpSpPr>
          <a:xfrm>
            <a:off x="894040" y="2728442"/>
            <a:ext cx="16495548" cy="6691928"/>
            <a:chOff x="0" y="0"/>
            <a:chExt cx="4344507" cy="1762483"/>
          </a:xfrm>
        </p:grpSpPr>
        <p:sp>
          <p:nvSpPr>
            <p:cNvPr id="6" name="Freeform 6"/>
            <p:cNvSpPr/>
            <p:nvPr/>
          </p:nvSpPr>
          <p:spPr>
            <a:xfrm>
              <a:off x="0" y="0"/>
              <a:ext cx="4344507" cy="1762483"/>
            </a:xfrm>
            <a:custGeom>
              <a:avLst/>
              <a:gdLst/>
              <a:ahLst/>
              <a:cxnLst/>
              <a:rect l="l" t="t" r="r" b="b"/>
              <a:pathLst>
                <a:path w="4344507" h="1762483">
                  <a:moveTo>
                    <a:pt x="43648" y="0"/>
                  </a:moveTo>
                  <a:lnTo>
                    <a:pt x="4300858" y="0"/>
                  </a:lnTo>
                  <a:cubicBezTo>
                    <a:pt x="4312435" y="0"/>
                    <a:pt x="4323537" y="4599"/>
                    <a:pt x="4331722" y="12784"/>
                  </a:cubicBezTo>
                  <a:cubicBezTo>
                    <a:pt x="4339908" y="20970"/>
                    <a:pt x="4344507" y="32072"/>
                    <a:pt x="4344507" y="43648"/>
                  </a:cubicBezTo>
                  <a:lnTo>
                    <a:pt x="4344507" y="1718835"/>
                  </a:lnTo>
                  <a:cubicBezTo>
                    <a:pt x="4344507" y="1742941"/>
                    <a:pt x="4324965" y="1762483"/>
                    <a:pt x="4300858" y="1762483"/>
                  </a:cubicBezTo>
                  <a:lnTo>
                    <a:pt x="43648" y="1762483"/>
                  </a:lnTo>
                  <a:cubicBezTo>
                    <a:pt x="32072" y="1762483"/>
                    <a:pt x="20970" y="1757885"/>
                    <a:pt x="12784" y="1749699"/>
                  </a:cubicBezTo>
                  <a:cubicBezTo>
                    <a:pt x="4599" y="1741513"/>
                    <a:pt x="0" y="1730411"/>
                    <a:pt x="0" y="1718835"/>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7" name="TextBox 7"/>
            <p:cNvSpPr txBox="1"/>
            <p:nvPr/>
          </p:nvSpPr>
          <p:spPr>
            <a:xfrm>
              <a:off x="0" y="-28575"/>
              <a:ext cx="4344507" cy="1791058"/>
            </a:xfrm>
            <a:prstGeom prst="rect">
              <a:avLst/>
            </a:prstGeom>
          </p:spPr>
          <p:txBody>
            <a:bodyPr lIns="50800" tIns="50800" rIns="50800" bIns="50800" rtlCol="0" anchor="ctr"/>
            <a:lstStyle/>
            <a:p>
              <a:pPr algn="ctr">
                <a:lnSpc>
                  <a:spcPts val="2015"/>
                </a:lnSpc>
              </a:pPr>
              <a:endParaRPr/>
            </a:p>
          </p:txBody>
        </p:sp>
      </p:grpSp>
      <p:grpSp>
        <p:nvGrpSpPr>
          <p:cNvPr id="8" name="Group 8"/>
          <p:cNvGrpSpPr/>
          <p:nvPr/>
        </p:nvGrpSpPr>
        <p:grpSpPr>
          <a:xfrm>
            <a:off x="16486613" y="3122398"/>
            <a:ext cx="480334" cy="4803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0" name="TextBox 10"/>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11" name="TextBox 11"/>
          <p:cNvSpPr txBox="1"/>
          <p:nvPr/>
        </p:nvSpPr>
        <p:spPr>
          <a:xfrm>
            <a:off x="1601969" y="3478288"/>
            <a:ext cx="10156343" cy="2198370"/>
          </a:xfrm>
          <a:prstGeom prst="rect">
            <a:avLst/>
          </a:prstGeom>
        </p:spPr>
        <p:txBody>
          <a:bodyPr lIns="0" tIns="0" rIns="0" bIns="0" rtlCol="0" anchor="t">
            <a:spAutoFit/>
          </a:bodyPr>
          <a:lstStyle/>
          <a:p>
            <a:pPr algn="l">
              <a:lnSpc>
                <a:spcPts val="5640"/>
              </a:lnSpc>
            </a:pPr>
            <a:r>
              <a:rPr lang="en-US" sz="6000" b="1" spc="-282">
                <a:solidFill>
                  <a:srgbClr val="FFFFFF"/>
                </a:solidFill>
                <a:latin typeface="Open Sauce Heavy"/>
                <a:ea typeface="Open Sauce Heavy"/>
                <a:cs typeface="Open Sauce Heavy"/>
                <a:sym typeface="Open Sauce Heavy"/>
              </a:rPr>
              <a:t>Reintegration and Personal Development</a:t>
            </a:r>
          </a:p>
          <a:p>
            <a:pPr algn="l">
              <a:lnSpc>
                <a:spcPts val="5640"/>
              </a:lnSpc>
            </a:pPr>
            <a:endParaRPr lang="en-US" sz="6000" b="1" spc="-282">
              <a:solidFill>
                <a:srgbClr val="FFFFFF"/>
              </a:solidFill>
              <a:latin typeface="Open Sauce Heavy"/>
              <a:ea typeface="Open Sauce Heavy"/>
              <a:cs typeface="Open Sauce Heavy"/>
              <a:sym typeface="Open Sauce Heavy"/>
            </a:endParaRPr>
          </a:p>
        </p:txBody>
      </p:sp>
      <p:sp>
        <p:nvSpPr>
          <p:cNvPr id="12" name="TextBox 12"/>
          <p:cNvSpPr txBox="1"/>
          <p:nvPr/>
        </p:nvSpPr>
        <p:spPr>
          <a:xfrm>
            <a:off x="1601969" y="5638558"/>
            <a:ext cx="12638011" cy="3554708"/>
          </a:xfrm>
          <a:prstGeom prst="rect">
            <a:avLst/>
          </a:prstGeom>
        </p:spPr>
        <p:txBody>
          <a:bodyPr lIns="0" tIns="0" rIns="0" bIns="0" rtlCol="0" anchor="t">
            <a:spAutoFit/>
          </a:bodyPr>
          <a:lstStyle/>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Correctional facilities provide livelihood and skills training that can help inmates find employment after release.</a:t>
            </a:r>
          </a:p>
          <a:p>
            <a:pPr algn="l">
              <a:lnSpc>
                <a:spcPts val="3571"/>
              </a:lnSpc>
            </a:pPr>
            <a:endParaRPr lang="en-US" sz="2550" spc="-119">
              <a:solidFill>
                <a:srgbClr val="FFFFFF"/>
              </a:solidFill>
              <a:latin typeface="Open Sauce Light"/>
              <a:ea typeface="Open Sauce Light"/>
              <a:cs typeface="Open Sauce Light"/>
              <a:sym typeface="Open Sauce Light"/>
            </a:endParaRPr>
          </a:p>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Programs encourage personal growth, responsibility, and social adjustment.</a:t>
            </a:r>
          </a:p>
          <a:p>
            <a:pPr algn="l">
              <a:lnSpc>
                <a:spcPts val="3571"/>
              </a:lnSpc>
            </a:pPr>
            <a:endParaRPr lang="en-US" sz="2550" spc="-119">
              <a:solidFill>
                <a:srgbClr val="FFFFFF"/>
              </a:solidFill>
              <a:latin typeface="Open Sauce Light"/>
              <a:ea typeface="Open Sauce Light"/>
              <a:cs typeface="Open Sauce Light"/>
              <a:sym typeface="Open Sauce Light"/>
            </a:endParaRPr>
          </a:p>
          <a:p>
            <a:pPr marL="550736" lvl="1" indent="-275368" algn="l">
              <a:lnSpc>
                <a:spcPts val="3571"/>
              </a:lnSpc>
              <a:buFont typeface="Arial"/>
              <a:buChar char="•"/>
            </a:pPr>
            <a:r>
              <a:rPr lang="en-US" sz="2550" spc="-119">
                <a:solidFill>
                  <a:srgbClr val="FFFFFF"/>
                </a:solidFill>
                <a:latin typeface="Open Sauce Light"/>
                <a:ea typeface="Open Sauce Light"/>
                <a:cs typeface="Open Sauce Light"/>
                <a:sym typeface="Open Sauce Light"/>
              </a:rPr>
              <a:t>Reintegration efforts contribute to reducing recidivism and promoting community stability.</a:t>
            </a:r>
          </a:p>
          <a:p>
            <a:pPr algn="l">
              <a:lnSpc>
                <a:spcPts val="3571"/>
              </a:lnSpc>
            </a:pPr>
            <a:endParaRPr lang="en-US" sz="2550" spc="-119">
              <a:solidFill>
                <a:srgbClr val="FFFFFF"/>
              </a:solidFill>
              <a:latin typeface="Open Sauce Light"/>
              <a:ea typeface="Open Sauce Light"/>
              <a:cs typeface="Open Sauce Light"/>
              <a:sym typeface="Open Sauce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a:off x="-1444323" y="4944233"/>
            <a:ext cx="12249089" cy="7928501"/>
          </a:xfrm>
          <a:custGeom>
            <a:avLst/>
            <a:gdLst/>
            <a:ahLst/>
            <a:cxnLst/>
            <a:rect l="l" t="t" r="r" b="b"/>
            <a:pathLst>
              <a:path w="12249089" h="7928501">
                <a:moveTo>
                  <a:pt x="0" y="0"/>
                </a:moveTo>
                <a:lnTo>
                  <a:pt x="12249089" y="0"/>
                </a:lnTo>
                <a:lnTo>
                  <a:pt x="12249089" y="7928502"/>
                </a:lnTo>
                <a:lnTo>
                  <a:pt x="0" y="7928502"/>
                </a:lnTo>
                <a:lnTo>
                  <a:pt x="0" y="0"/>
                </a:lnTo>
                <a:close/>
              </a:path>
            </a:pathLst>
          </a:custGeom>
          <a:blipFill>
            <a:blip r:embed="rId2">
              <a:alphaModFix amt="40000"/>
            </a:blip>
            <a:stretch>
              <a:fillRect/>
            </a:stretch>
          </a:blipFill>
        </p:spPr>
        <p:txBody>
          <a:bodyPr/>
          <a:lstStyle/>
          <a:p>
            <a:endParaRPr lang="en-US"/>
          </a:p>
        </p:txBody>
      </p:sp>
      <p:grpSp>
        <p:nvGrpSpPr>
          <p:cNvPr id="3" name="Group 3"/>
          <p:cNvGrpSpPr/>
          <p:nvPr/>
        </p:nvGrpSpPr>
        <p:grpSpPr>
          <a:xfrm>
            <a:off x="9963321" y="-186714"/>
            <a:ext cx="8462161" cy="10660428"/>
            <a:chOff x="0" y="0"/>
            <a:chExt cx="1311010" cy="1651579"/>
          </a:xfrm>
        </p:grpSpPr>
        <p:sp>
          <p:nvSpPr>
            <p:cNvPr id="4" name="Freeform 4"/>
            <p:cNvSpPr/>
            <p:nvPr/>
          </p:nvSpPr>
          <p:spPr>
            <a:xfrm>
              <a:off x="0" y="0"/>
              <a:ext cx="1311010" cy="1651579"/>
            </a:xfrm>
            <a:custGeom>
              <a:avLst/>
              <a:gdLst/>
              <a:ahLst/>
              <a:cxnLst/>
              <a:rect l="l" t="t" r="r" b="b"/>
              <a:pathLst>
                <a:path w="1311010" h="1651579">
                  <a:moveTo>
                    <a:pt x="0" y="0"/>
                  </a:moveTo>
                  <a:lnTo>
                    <a:pt x="1311010" y="0"/>
                  </a:lnTo>
                  <a:lnTo>
                    <a:pt x="1311010" y="1651579"/>
                  </a:lnTo>
                  <a:lnTo>
                    <a:pt x="0" y="1651579"/>
                  </a:lnTo>
                  <a:close/>
                </a:path>
              </a:pathLst>
            </a:custGeom>
            <a:blipFill>
              <a:blip r:embed="rId3" cstate="print">
                <a:extLst>
                  <a:ext uri="{28A0092B-C50C-407E-A947-70E740481C1C}">
                    <a14:useLocalDpi xmlns:a14="http://schemas.microsoft.com/office/drawing/2010/main"/>
                  </a:ext>
                </a:extLst>
              </a:blip>
              <a:stretch>
                <a:fillRect/>
              </a:stretch>
            </a:blipFill>
            <a:ln w="19050" cap="sq">
              <a:solidFill>
                <a:srgbClr val="424242"/>
              </a:solidFill>
              <a:prstDash val="solid"/>
              <a:miter/>
            </a:ln>
          </p:spPr>
          <p:txBody>
            <a:bodyPr/>
            <a:lstStyle/>
            <a:p>
              <a:endParaRPr lang="en-US"/>
            </a:p>
          </p:txBody>
        </p:sp>
      </p:grpSp>
      <p:grpSp>
        <p:nvGrpSpPr>
          <p:cNvPr id="5" name="Group 5"/>
          <p:cNvGrpSpPr/>
          <p:nvPr/>
        </p:nvGrpSpPr>
        <p:grpSpPr>
          <a:xfrm>
            <a:off x="899040" y="5542417"/>
            <a:ext cx="16489920" cy="4066328"/>
            <a:chOff x="0" y="0"/>
            <a:chExt cx="4343024" cy="1070967"/>
          </a:xfrm>
        </p:grpSpPr>
        <p:sp>
          <p:nvSpPr>
            <p:cNvPr id="6" name="Freeform 6"/>
            <p:cNvSpPr/>
            <p:nvPr/>
          </p:nvSpPr>
          <p:spPr>
            <a:xfrm>
              <a:off x="0" y="0"/>
              <a:ext cx="4343024" cy="1070967"/>
            </a:xfrm>
            <a:custGeom>
              <a:avLst/>
              <a:gdLst/>
              <a:ahLst/>
              <a:cxnLst/>
              <a:rect l="l" t="t" r="r" b="b"/>
              <a:pathLst>
                <a:path w="4343024" h="1070967">
                  <a:moveTo>
                    <a:pt x="30987" y="0"/>
                  </a:moveTo>
                  <a:lnTo>
                    <a:pt x="4312038" y="0"/>
                  </a:lnTo>
                  <a:cubicBezTo>
                    <a:pt x="4320256" y="0"/>
                    <a:pt x="4328137" y="3265"/>
                    <a:pt x="4333949" y="9076"/>
                  </a:cubicBezTo>
                  <a:cubicBezTo>
                    <a:pt x="4339760" y="14887"/>
                    <a:pt x="4343024" y="22768"/>
                    <a:pt x="4343024" y="30987"/>
                  </a:cubicBezTo>
                  <a:lnTo>
                    <a:pt x="4343024" y="1039980"/>
                  </a:lnTo>
                  <a:cubicBezTo>
                    <a:pt x="4343024" y="1048199"/>
                    <a:pt x="4339760" y="1056080"/>
                    <a:pt x="4333949" y="1061891"/>
                  </a:cubicBezTo>
                  <a:cubicBezTo>
                    <a:pt x="4328137" y="1067702"/>
                    <a:pt x="4320256" y="1070967"/>
                    <a:pt x="4312038" y="1070967"/>
                  </a:cubicBezTo>
                  <a:lnTo>
                    <a:pt x="30987" y="1070967"/>
                  </a:lnTo>
                  <a:cubicBezTo>
                    <a:pt x="22768" y="1070967"/>
                    <a:pt x="14887" y="1067702"/>
                    <a:pt x="9076" y="1061891"/>
                  </a:cubicBezTo>
                  <a:cubicBezTo>
                    <a:pt x="3265" y="1056080"/>
                    <a:pt x="0" y="1048199"/>
                    <a:pt x="0" y="1039980"/>
                  </a:cubicBezTo>
                  <a:lnTo>
                    <a:pt x="0" y="30987"/>
                  </a:lnTo>
                  <a:cubicBezTo>
                    <a:pt x="0" y="22768"/>
                    <a:pt x="3265" y="14887"/>
                    <a:pt x="9076" y="9076"/>
                  </a:cubicBezTo>
                  <a:cubicBezTo>
                    <a:pt x="14887" y="3265"/>
                    <a:pt x="22768" y="0"/>
                    <a:pt x="30987" y="0"/>
                  </a:cubicBezTo>
                  <a:close/>
                </a:path>
              </a:pathLst>
            </a:custGeom>
            <a:solidFill>
              <a:srgbClr val="D0D7DD"/>
            </a:solidFill>
            <a:ln w="19050" cap="rnd">
              <a:solidFill>
                <a:srgbClr val="424242"/>
              </a:solidFill>
              <a:prstDash val="solid"/>
              <a:round/>
            </a:ln>
          </p:spPr>
          <p:txBody>
            <a:bodyPr/>
            <a:lstStyle/>
            <a:p>
              <a:endParaRPr lang="en-US"/>
            </a:p>
          </p:txBody>
        </p:sp>
        <p:sp>
          <p:nvSpPr>
            <p:cNvPr id="7" name="TextBox 7"/>
            <p:cNvSpPr txBox="1"/>
            <p:nvPr/>
          </p:nvSpPr>
          <p:spPr>
            <a:xfrm>
              <a:off x="0" y="-28575"/>
              <a:ext cx="4343024" cy="1099542"/>
            </a:xfrm>
            <a:prstGeom prst="rect">
              <a:avLst/>
            </a:prstGeom>
          </p:spPr>
          <p:txBody>
            <a:bodyPr lIns="50800" tIns="50800" rIns="50800" bIns="50800" rtlCol="0" anchor="ctr"/>
            <a:lstStyle/>
            <a:p>
              <a:pPr algn="ctr">
                <a:lnSpc>
                  <a:spcPts val="2015"/>
                </a:lnSpc>
              </a:pPr>
              <a:endParaRPr/>
            </a:p>
          </p:txBody>
        </p:sp>
      </p:grpSp>
      <p:sp>
        <p:nvSpPr>
          <p:cNvPr id="8" name="TextBox 8"/>
          <p:cNvSpPr txBox="1"/>
          <p:nvPr/>
        </p:nvSpPr>
        <p:spPr>
          <a:xfrm>
            <a:off x="1028700" y="2154863"/>
            <a:ext cx="7799655" cy="1237997"/>
          </a:xfrm>
          <a:prstGeom prst="rect">
            <a:avLst/>
          </a:prstGeom>
        </p:spPr>
        <p:txBody>
          <a:bodyPr lIns="0" tIns="0" rIns="0" bIns="0" rtlCol="0" anchor="t">
            <a:spAutoFit/>
          </a:bodyPr>
          <a:lstStyle/>
          <a:p>
            <a:pPr algn="l">
              <a:lnSpc>
                <a:spcPts val="9212"/>
              </a:lnSpc>
            </a:pPr>
            <a:r>
              <a:rPr lang="en-US" sz="9800" b="1" spc="-460">
                <a:solidFill>
                  <a:srgbClr val="424242"/>
                </a:solidFill>
                <a:latin typeface="Open Sauce Heavy"/>
                <a:ea typeface="Open Sauce Heavy"/>
                <a:cs typeface="Open Sauce Heavy"/>
                <a:sym typeface="Open Sauce Heavy"/>
              </a:rPr>
              <a:t>Weaknesses</a:t>
            </a:r>
          </a:p>
        </p:txBody>
      </p:sp>
      <p:sp>
        <p:nvSpPr>
          <p:cNvPr id="9" name="AutoShape 9"/>
          <p:cNvSpPr/>
          <p:nvPr/>
        </p:nvSpPr>
        <p:spPr>
          <a:xfrm>
            <a:off x="6265087" y="5615124"/>
            <a:ext cx="1" cy="3293360"/>
          </a:xfrm>
          <a:prstGeom prst="line">
            <a:avLst/>
          </a:prstGeom>
          <a:ln w="19050" cap="flat">
            <a:solidFill>
              <a:srgbClr val="424242"/>
            </a:solidFill>
            <a:prstDash val="solid"/>
            <a:headEnd type="none" w="sm" len="sm"/>
            <a:tailEnd type="none" w="sm" len="sm"/>
          </a:ln>
        </p:spPr>
        <p:txBody>
          <a:bodyPr/>
          <a:lstStyle/>
          <a:p>
            <a:endParaRPr lang="en-US"/>
          </a:p>
        </p:txBody>
      </p:sp>
      <p:sp>
        <p:nvSpPr>
          <p:cNvPr id="10" name="AutoShape 10"/>
          <p:cNvSpPr/>
          <p:nvPr/>
        </p:nvSpPr>
        <p:spPr>
          <a:xfrm>
            <a:off x="11825288" y="5794330"/>
            <a:ext cx="1" cy="3293360"/>
          </a:xfrm>
          <a:prstGeom prst="line">
            <a:avLst/>
          </a:prstGeom>
          <a:ln w="19050" cap="flat">
            <a:solidFill>
              <a:srgbClr val="424242"/>
            </a:solidFill>
            <a:prstDash val="solid"/>
            <a:headEnd type="none" w="sm" len="sm"/>
            <a:tailEnd type="none" w="sm" len="sm"/>
          </a:ln>
        </p:spPr>
        <p:txBody>
          <a:bodyPr/>
          <a:lstStyle/>
          <a:p>
            <a:endParaRPr lang="en-US"/>
          </a:p>
        </p:txBody>
      </p:sp>
      <p:sp>
        <p:nvSpPr>
          <p:cNvPr id="11" name="TextBox 11"/>
          <p:cNvSpPr txBox="1"/>
          <p:nvPr/>
        </p:nvSpPr>
        <p:spPr>
          <a:xfrm>
            <a:off x="1648701" y="6754145"/>
            <a:ext cx="3640637" cy="1738122"/>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Overcrowding in Correctional Facilities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12" name="TextBox 12"/>
          <p:cNvSpPr txBox="1"/>
          <p:nvPr/>
        </p:nvSpPr>
        <p:spPr>
          <a:xfrm>
            <a:off x="7446187" y="6754145"/>
            <a:ext cx="3640637" cy="1738122"/>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Limited Resources and Facilities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13" name="TextBox 13"/>
          <p:cNvSpPr txBox="1"/>
          <p:nvPr/>
        </p:nvSpPr>
        <p:spPr>
          <a:xfrm>
            <a:off x="12568238" y="6754145"/>
            <a:ext cx="3640637" cy="1738122"/>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Challenges in Rehabilitation Programs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TextBox 2"/>
          <p:cNvSpPr txBox="1"/>
          <p:nvPr/>
        </p:nvSpPr>
        <p:spPr>
          <a:xfrm>
            <a:off x="1028700" y="1057770"/>
            <a:ext cx="16230600" cy="1406223"/>
          </a:xfrm>
          <a:prstGeom prst="rect">
            <a:avLst/>
          </a:prstGeom>
        </p:spPr>
        <p:txBody>
          <a:bodyPr lIns="0" tIns="0" rIns="0" bIns="0" rtlCol="0" anchor="t">
            <a:spAutoFit/>
          </a:bodyPr>
          <a:lstStyle/>
          <a:p>
            <a:pPr algn="l">
              <a:lnSpc>
                <a:spcPts val="10307"/>
              </a:lnSpc>
            </a:pPr>
            <a:r>
              <a:rPr lang="en-US" sz="10965" b="1" spc="-515">
                <a:solidFill>
                  <a:srgbClr val="424242"/>
                </a:solidFill>
                <a:latin typeface="Open Sauce Heavy"/>
                <a:ea typeface="Open Sauce Heavy"/>
                <a:cs typeface="Open Sauce Heavy"/>
                <a:sym typeface="Open Sauce Heavy"/>
              </a:rPr>
              <a:t>Weaknesses</a:t>
            </a:r>
          </a:p>
        </p:txBody>
      </p:sp>
      <p:grpSp>
        <p:nvGrpSpPr>
          <p:cNvPr id="3" name="Group 3"/>
          <p:cNvGrpSpPr/>
          <p:nvPr/>
        </p:nvGrpSpPr>
        <p:grpSpPr>
          <a:xfrm>
            <a:off x="1177090" y="3029848"/>
            <a:ext cx="16082210" cy="5026174"/>
            <a:chOff x="0" y="0"/>
            <a:chExt cx="4235644" cy="1323766"/>
          </a:xfrm>
        </p:grpSpPr>
        <p:sp>
          <p:nvSpPr>
            <p:cNvPr id="4" name="Freeform 4"/>
            <p:cNvSpPr/>
            <p:nvPr/>
          </p:nvSpPr>
          <p:spPr>
            <a:xfrm>
              <a:off x="0" y="0"/>
              <a:ext cx="4235644" cy="1323766"/>
            </a:xfrm>
            <a:custGeom>
              <a:avLst/>
              <a:gdLst/>
              <a:ahLst/>
              <a:cxnLst/>
              <a:rect l="l" t="t" r="r" b="b"/>
              <a:pathLst>
                <a:path w="4235644" h="1323766">
                  <a:moveTo>
                    <a:pt x="31772" y="0"/>
                  </a:moveTo>
                  <a:lnTo>
                    <a:pt x="4203872" y="0"/>
                  </a:lnTo>
                  <a:cubicBezTo>
                    <a:pt x="4212298" y="0"/>
                    <a:pt x="4220380" y="3347"/>
                    <a:pt x="4226338" y="9306"/>
                  </a:cubicBezTo>
                  <a:cubicBezTo>
                    <a:pt x="4232296" y="15264"/>
                    <a:pt x="4235644" y="23346"/>
                    <a:pt x="4235644" y="31772"/>
                  </a:cubicBezTo>
                  <a:lnTo>
                    <a:pt x="4235644" y="1291994"/>
                  </a:lnTo>
                  <a:cubicBezTo>
                    <a:pt x="4235644" y="1300420"/>
                    <a:pt x="4232296" y="1308502"/>
                    <a:pt x="4226338" y="1314460"/>
                  </a:cubicBezTo>
                  <a:cubicBezTo>
                    <a:pt x="4220380" y="1320419"/>
                    <a:pt x="4212298" y="1323766"/>
                    <a:pt x="4203872" y="1323766"/>
                  </a:cubicBezTo>
                  <a:lnTo>
                    <a:pt x="31772" y="1323766"/>
                  </a:lnTo>
                  <a:cubicBezTo>
                    <a:pt x="23346" y="1323766"/>
                    <a:pt x="15264" y="1320419"/>
                    <a:pt x="9306" y="1314460"/>
                  </a:cubicBezTo>
                  <a:cubicBezTo>
                    <a:pt x="3347" y="1308502"/>
                    <a:pt x="0" y="1300420"/>
                    <a:pt x="0" y="1291994"/>
                  </a:cubicBezTo>
                  <a:lnTo>
                    <a:pt x="0" y="31772"/>
                  </a:lnTo>
                  <a:cubicBezTo>
                    <a:pt x="0" y="23346"/>
                    <a:pt x="3347" y="15264"/>
                    <a:pt x="9306" y="9306"/>
                  </a:cubicBezTo>
                  <a:cubicBezTo>
                    <a:pt x="15264" y="3347"/>
                    <a:pt x="23346" y="0"/>
                    <a:pt x="31772"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5" name="TextBox 5"/>
            <p:cNvSpPr txBox="1"/>
            <p:nvPr/>
          </p:nvSpPr>
          <p:spPr>
            <a:xfrm>
              <a:off x="0" y="-28575"/>
              <a:ext cx="4235644" cy="1352341"/>
            </a:xfrm>
            <a:prstGeom prst="rect">
              <a:avLst/>
            </a:prstGeom>
          </p:spPr>
          <p:txBody>
            <a:bodyPr lIns="50800" tIns="50800" rIns="50800" bIns="50800" rtlCol="0" anchor="ctr"/>
            <a:lstStyle/>
            <a:p>
              <a:pPr algn="ctr">
                <a:lnSpc>
                  <a:spcPts val="2015"/>
                </a:lnSpc>
              </a:pPr>
              <a:endParaRPr/>
            </a:p>
          </p:txBody>
        </p:sp>
      </p:grpSp>
      <p:grpSp>
        <p:nvGrpSpPr>
          <p:cNvPr id="6" name="Group 6"/>
          <p:cNvGrpSpPr/>
          <p:nvPr/>
        </p:nvGrpSpPr>
        <p:grpSpPr>
          <a:xfrm>
            <a:off x="2929955" y="3127582"/>
            <a:ext cx="1154202" cy="804358"/>
            <a:chOff x="0" y="0"/>
            <a:chExt cx="303987" cy="211847"/>
          </a:xfrm>
        </p:grpSpPr>
        <p:sp>
          <p:nvSpPr>
            <p:cNvPr id="7" name="Freeform 7"/>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txBody>
            <a:bodyPr/>
            <a:lstStyle/>
            <a:p>
              <a:endParaRPr lang="en-US"/>
            </a:p>
          </p:txBody>
        </p:sp>
        <p:sp>
          <p:nvSpPr>
            <p:cNvPr id="8" name="TextBox 8"/>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sp>
        <p:nvSpPr>
          <p:cNvPr id="9" name="TextBox 9"/>
          <p:cNvSpPr txBox="1"/>
          <p:nvPr/>
        </p:nvSpPr>
        <p:spPr>
          <a:xfrm>
            <a:off x="3097293" y="3351262"/>
            <a:ext cx="819524" cy="513080"/>
          </a:xfrm>
          <a:prstGeom prst="rect">
            <a:avLst/>
          </a:prstGeom>
        </p:spPr>
        <p:txBody>
          <a:bodyPr lIns="0" tIns="0" rIns="0" bIns="0" rtlCol="0" anchor="t">
            <a:spAutoFit/>
          </a:bodyPr>
          <a:lstStyle/>
          <a:p>
            <a:pPr algn="ctr">
              <a:lnSpc>
                <a:spcPts val="3759"/>
              </a:lnSpc>
            </a:pPr>
            <a:r>
              <a:rPr lang="en-US" sz="3999" b="1" spc="-187">
                <a:solidFill>
                  <a:srgbClr val="424242"/>
                </a:solidFill>
                <a:latin typeface="Open Sauce Heavy"/>
                <a:ea typeface="Open Sauce Heavy"/>
                <a:cs typeface="Open Sauce Heavy"/>
                <a:sym typeface="Open Sauce Heavy"/>
              </a:rPr>
              <a:t>1</a:t>
            </a:r>
          </a:p>
        </p:txBody>
      </p:sp>
      <p:sp>
        <p:nvSpPr>
          <p:cNvPr id="10" name="TextBox 10"/>
          <p:cNvSpPr txBox="1"/>
          <p:nvPr/>
        </p:nvSpPr>
        <p:spPr>
          <a:xfrm>
            <a:off x="4297786" y="3351262"/>
            <a:ext cx="8922362" cy="880872"/>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Overcrowding in Correctional Facilities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11" name="TextBox 11"/>
          <p:cNvSpPr txBox="1"/>
          <p:nvPr/>
        </p:nvSpPr>
        <p:spPr>
          <a:xfrm>
            <a:off x="4084156" y="4412683"/>
            <a:ext cx="12036128" cy="3489326"/>
          </a:xfrm>
          <a:prstGeom prst="rect">
            <a:avLst/>
          </a:prstGeom>
        </p:spPr>
        <p:txBody>
          <a:bodyPr lIns="0" tIns="0" rIns="0" bIns="0" rtlCol="0" anchor="t">
            <a:spAutoFit/>
          </a:bodyPr>
          <a:lstStyle/>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Many correctional facilities house more inmates than their intended capacity.</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Overcrowding results in limited space, poor living conditions, and strained resources.</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It becomes difficult to effectively supervise and manage inmates.</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Rehabilitation programs may not reach all inmates due to the large population.</a:t>
            </a:r>
          </a:p>
          <a:p>
            <a:pPr algn="l">
              <a:lnSpc>
                <a:spcPts val="3499"/>
              </a:lnSpc>
            </a:pPr>
            <a:endParaRPr lang="en-US" sz="2499" spc="-117">
              <a:solidFill>
                <a:srgbClr val="424242"/>
              </a:solidFill>
              <a:latin typeface="Open Sauce Light"/>
              <a:ea typeface="Open Sauce Light"/>
              <a:cs typeface="Open Sauce Light"/>
              <a:sym typeface="Open Sauce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a:off x="1028700" y="2231409"/>
            <a:ext cx="16714740" cy="10818995"/>
          </a:xfrm>
          <a:custGeom>
            <a:avLst/>
            <a:gdLst/>
            <a:ahLst/>
            <a:cxnLst/>
            <a:rect l="l" t="t" r="r" b="b"/>
            <a:pathLst>
              <a:path w="16714740" h="10818995">
                <a:moveTo>
                  <a:pt x="0" y="0"/>
                </a:moveTo>
                <a:lnTo>
                  <a:pt x="16714740" y="0"/>
                </a:lnTo>
                <a:lnTo>
                  <a:pt x="16714740" y="10818995"/>
                </a:lnTo>
                <a:lnTo>
                  <a:pt x="0" y="10818995"/>
                </a:lnTo>
                <a:lnTo>
                  <a:pt x="0" y="0"/>
                </a:lnTo>
                <a:close/>
              </a:path>
            </a:pathLst>
          </a:custGeom>
          <a:blipFill>
            <a:blip r:embed="rId2">
              <a:alphaModFix amt="24000"/>
            </a:blip>
            <a:stretch>
              <a:fillRect/>
            </a:stretch>
          </a:blipFill>
        </p:spPr>
        <p:txBody>
          <a:bodyPr/>
          <a:lstStyle/>
          <a:p>
            <a:endParaRPr lang="en-US"/>
          </a:p>
        </p:txBody>
      </p:sp>
      <p:sp>
        <p:nvSpPr>
          <p:cNvPr id="3" name="TextBox 3"/>
          <p:cNvSpPr txBox="1"/>
          <p:nvPr/>
        </p:nvSpPr>
        <p:spPr>
          <a:xfrm>
            <a:off x="1028700" y="1057770"/>
            <a:ext cx="16230600" cy="1406223"/>
          </a:xfrm>
          <a:prstGeom prst="rect">
            <a:avLst/>
          </a:prstGeom>
        </p:spPr>
        <p:txBody>
          <a:bodyPr lIns="0" tIns="0" rIns="0" bIns="0" rtlCol="0" anchor="t">
            <a:spAutoFit/>
          </a:bodyPr>
          <a:lstStyle/>
          <a:p>
            <a:pPr algn="l">
              <a:lnSpc>
                <a:spcPts val="10307"/>
              </a:lnSpc>
            </a:pPr>
            <a:r>
              <a:rPr lang="en-US" sz="10965" b="1" spc="-515">
                <a:solidFill>
                  <a:srgbClr val="424242"/>
                </a:solidFill>
                <a:latin typeface="Open Sauce Heavy"/>
                <a:ea typeface="Open Sauce Heavy"/>
                <a:cs typeface="Open Sauce Heavy"/>
                <a:sym typeface="Open Sauce Heavy"/>
              </a:rPr>
              <a:t>Weaknesses</a:t>
            </a:r>
          </a:p>
        </p:txBody>
      </p:sp>
      <p:grpSp>
        <p:nvGrpSpPr>
          <p:cNvPr id="4" name="Group 4"/>
          <p:cNvGrpSpPr/>
          <p:nvPr/>
        </p:nvGrpSpPr>
        <p:grpSpPr>
          <a:xfrm>
            <a:off x="1177090" y="3010391"/>
            <a:ext cx="16082210" cy="5821909"/>
            <a:chOff x="0" y="0"/>
            <a:chExt cx="4235644" cy="1533342"/>
          </a:xfrm>
        </p:grpSpPr>
        <p:sp>
          <p:nvSpPr>
            <p:cNvPr id="5" name="Freeform 5"/>
            <p:cNvSpPr/>
            <p:nvPr/>
          </p:nvSpPr>
          <p:spPr>
            <a:xfrm>
              <a:off x="0" y="0"/>
              <a:ext cx="4235644" cy="1533342"/>
            </a:xfrm>
            <a:custGeom>
              <a:avLst/>
              <a:gdLst/>
              <a:ahLst/>
              <a:cxnLst/>
              <a:rect l="l" t="t" r="r" b="b"/>
              <a:pathLst>
                <a:path w="4235644" h="1533342">
                  <a:moveTo>
                    <a:pt x="31772" y="0"/>
                  </a:moveTo>
                  <a:lnTo>
                    <a:pt x="4203872" y="0"/>
                  </a:lnTo>
                  <a:cubicBezTo>
                    <a:pt x="4212298" y="0"/>
                    <a:pt x="4220380" y="3347"/>
                    <a:pt x="4226338" y="9306"/>
                  </a:cubicBezTo>
                  <a:cubicBezTo>
                    <a:pt x="4232296" y="15264"/>
                    <a:pt x="4235644" y="23346"/>
                    <a:pt x="4235644" y="31772"/>
                  </a:cubicBezTo>
                  <a:lnTo>
                    <a:pt x="4235644" y="1501570"/>
                  </a:lnTo>
                  <a:cubicBezTo>
                    <a:pt x="4235644" y="1519117"/>
                    <a:pt x="4221419" y="1533342"/>
                    <a:pt x="4203872" y="1533342"/>
                  </a:cubicBezTo>
                  <a:lnTo>
                    <a:pt x="31772" y="1533342"/>
                  </a:lnTo>
                  <a:cubicBezTo>
                    <a:pt x="23346" y="1533342"/>
                    <a:pt x="15264" y="1529995"/>
                    <a:pt x="9306" y="1524036"/>
                  </a:cubicBezTo>
                  <a:cubicBezTo>
                    <a:pt x="3347" y="1518078"/>
                    <a:pt x="0" y="1509996"/>
                    <a:pt x="0" y="1501570"/>
                  </a:cubicBezTo>
                  <a:lnTo>
                    <a:pt x="0" y="31772"/>
                  </a:lnTo>
                  <a:cubicBezTo>
                    <a:pt x="0" y="23346"/>
                    <a:pt x="3347" y="15264"/>
                    <a:pt x="9306" y="9306"/>
                  </a:cubicBezTo>
                  <a:cubicBezTo>
                    <a:pt x="15264" y="3347"/>
                    <a:pt x="23346" y="0"/>
                    <a:pt x="31772" y="0"/>
                  </a:cubicBezTo>
                  <a:close/>
                </a:path>
              </a:pathLst>
            </a:custGeom>
            <a:solidFill>
              <a:srgbClr val="D0D7DD"/>
            </a:solidFill>
            <a:ln w="19050" cap="rnd">
              <a:solidFill>
                <a:srgbClr val="424242"/>
              </a:solidFill>
              <a:prstDash val="solid"/>
              <a:round/>
            </a:ln>
          </p:spPr>
          <p:txBody>
            <a:bodyPr/>
            <a:lstStyle/>
            <a:p>
              <a:endParaRPr lang="en-US"/>
            </a:p>
          </p:txBody>
        </p:sp>
        <p:sp>
          <p:nvSpPr>
            <p:cNvPr id="6" name="TextBox 6"/>
            <p:cNvSpPr txBox="1"/>
            <p:nvPr/>
          </p:nvSpPr>
          <p:spPr>
            <a:xfrm>
              <a:off x="0" y="-28575"/>
              <a:ext cx="4235644" cy="1561917"/>
            </a:xfrm>
            <a:prstGeom prst="rect">
              <a:avLst/>
            </a:prstGeom>
          </p:spPr>
          <p:txBody>
            <a:bodyPr lIns="50800" tIns="50800" rIns="50800" bIns="50800" rtlCol="0" anchor="ctr"/>
            <a:lstStyle/>
            <a:p>
              <a:pPr algn="ctr">
                <a:lnSpc>
                  <a:spcPts val="2015"/>
                </a:lnSpc>
              </a:pPr>
              <a:endParaRPr/>
            </a:p>
          </p:txBody>
        </p:sp>
      </p:grpSp>
      <p:grpSp>
        <p:nvGrpSpPr>
          <p:cNvPr id="7" name="Group 7"/>
          <p:cNvGrpSpPr/>
          <p:nvPr/>
        </p:nvGrpSpPr>
        <p:grpSpPr>
          <a:xfrm>
            <a:off x="2912738" y="3127582"/>
            <a:ext cx="1154202" cy="804358"/>
            <a:chOff x="0" y="0"/>
            <a:chExt cx="303987" cy="211847"/>
          </a:xfrm>
        </p:grpSpPr>
        <p:sp>
          <p:nvSpPr>
            <p:cNvPr id="8" name="Freeform 8"/>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txBody>
            <a:bodyPr/>
            <a:lstStyle/>
            <a:p>
              <a:endParaRPr lang="en-US"/>
            </a:p>
          </p:txBody>
        </p:sp>
        <p:sp>
          <p:nvSpPr>
            <p:cNvPr id="9" name="TextBox 9"/>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sp>
        <p:nvSpPr>
          <p:cNvPr id="10" name="TextBox 10"/>
          <p:cNvSpPr txBox="1"/>
          <p:nvPr/>
        </p:nvSpPr>
        <p:spPr>
          <a:xfrm>
            <a:off x="3080077" y="3351262"/>
            <a:ext cx="819524" cy="513080"/>
          </a:xfrm>
          <a:prstGeom prst="rect">
            <a:avLst/>
          </a:prstGeom>
        </p:spPr>
        <p:txBody>
          <a:bodyPr lIns="0" tIns="0" rIns="0" bIns="0" rtlCol="0" anchor="t">
            <a:spAutoFit/>
          </a:bodyPr>
          <a:lstStyle/>
          <a:p>
            <a:pPr algn="ctr">
              <a:lnSpc>
                <a:spcPts val="3759"/>
              </a:lnSpc>
            </a:pPr>
            <a:r>
              <a:rPr lang="en-US" sz="3999" b="1" spc="-187">
                <a:solidFill>
                  <a:srgbClr val="424242"/>
                </a:solidFill>
                <a:latin typeface="Open Sauce Heavy"/>
                <a:ea typeface="Open Sauce Heavy"/>
                <a:cs typeface="Open Sauce Heavy"/>
                <a:sym typeface="Open Sauce Heavy"/>
              </a:rPr>
              <a:t>2</a:t>
            </a:r>
          </a:p>
        </p:txBody>
      </p:sp>
      <p:sp>
        <p:nvSpPr>
          <p:cNvPr id="11" name="TextBox 11"/>
          <p:cNvSpPr txBox="1"/>
          <p:nvPr/>
        </p:nvSpPr>
        <p:spPr>
          <a:xfrm>
            <a:off x="4322731" y="3351262"/>
            <a:ext cx="7741595" cy="880872"/>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Limited Resources and Facilities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12" name="TextBox 12"/>
          <p:cNvSpPr txBox="1"/>
          <p:nvPr/>
        </p:nvSpPr>
        <p:spPr>
          <a:xfrm>
            <a:off x="4066940" y="4441198"/>
            <a:ext cx="11885635" cy="3927476"/>
          </a:xfrm>
          <a:prstGeom prst="rect">
            <a:avLst/>
          </a:prstGeom>
        </p:spPr>
        <p:txBody>
          <a:bodyPr lIns="0" tIns="0" rIns="0" bIns="0" rtlCol="0" anchor="t">
            <a:spAutoFit/>
          </a:bodyPr>
          <a:lstStyle/>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Some correctional facilities face shortages in personnel, equipment, and rehabilitation resources.</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Aging buildings require maintenance and modernization.</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Limited budgets can affect healthcare, education, and vocational training programs.</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Staff may experience increased workload due to the high inmate population.</a:t>
            </a:r>
          </a:p>
          <a:p>
            <a:pPr algn="l">
              <a:lnSpc>
                <a:spcPts val="3499"/>
              </a:lnSpc>
            </a:pPr>
            <a:endParaRPr lang="en-US" sz="2499" spc="-117">
              <a:solidFill>
                <a:srgbClr val="424242"/>
              </a:solidFill>
              <a:latin typeface="Open Sauce Light"/>
              <a:ea typeface="Open Sauce Light"/>
              <a:cs typeface="Open Sauce Light"/>
              <a:sym typeface="Open Sauce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grpSp>
        <p:nvGrpSpPr>
          <p:cNvPr id="3" name="Group 3"/>
          <p:cNvGrpSpPr/>
          <p:nvPr/>
        </p:nvGrpSpPr>
        <p:grpSpPr>
          <a:xfrm>
            <a:off x="9378212" y="3427139"/>
            <a:ext cx="8011376" cy="5993231"/>
            <a:chOff x="0" y="0"/>
            <a:chExt cx="2109992" cy="1578464"/>
          </a:xfrm>
        </p:grpSpPr>
        <p:sp>
          <p:nvSpPr>
            <p:cNvPr id="4" name="Freeform 4"/>
            <p:cNvSpPr/>
            <p:nvPr/>
          </p:nvSpPr>
          <p:spPr>
            <a:xfrm>
              <a:off x="0" y="0"/>
              <a:ext cx="2109992" cy="1578464"/>
            </a:xfrm>
            <a:custGeom>
              <a:avLst/>
              <a:gdLst/>
              <a:ahLst/>
              <a:cxnLst/>
              <a:rect l="l" t="t" r="r" b="b"/>
              <a:pathLst>
                <a:path w="2109992" h="1578464">
                  <a:moveTo>
                    <a:pt x="77309" y="0"/>
                  </a:moveTo>
                  <a:lnTo>
                    <a:pt x="2032683" y="0"/>
                  </a:lnTo>
                  <a:cubicBezTo>
                    <a:pt x="2053186" y="0"/>
                    <a:pt x="2072850" y="8145"/>
                    <a:pt x="2087349" y="22643"/>
                  </a:cubicBezTo>
                  <a:cubicBezTo>
                    <a:pt x="2101847" y="37142"/>
                    <a:pt x="2109992" y="56806"/>
                    <a:pt x="2109992" y="77309"/>
                  </a:cubicBezTo>
                  <a:lnTo>
                    <a:pt x="2109992" y="1501155"/>
                  </a:lnTo>
                  <a:cubicBezTo>
                    <a:pt x="2109992" y="1521659"/>
                    <a:pt x="2101847" y="1541322"/>
                    <a:pt x="2087349" y="1555821"/>
                  </a:cubicBezTo>
                  <a:cubicBezTo>
                    <a:pt x="2072850" y="1570319"/>
                    <a:pt x="2053186" y="1578464"/>
                    <a:pt x="2032683" y="1578464"/>
                  </a:cubicBezTo>
                  <a:lnTo>
                    <a:pt x="77309" y="1578464"/>
                  </a:lnTo>
                  <a:cubicBezTo>
                    <a:pt x="56806" y="1578464"/>
                    <a:pt x="37142" y="1570319"/>
                    <a:pt x="22643" y="1555821"/>
                  </a:cubicBezTo>
                  <a:cubicBezTo>
                    <a:pt x="8145" y="1541322"/>
                    <a:pt x="0" y="1521659"/>
                    <a:pt x="0" y="1501155"/>
                  </a:cubicBezTo>
                  <a:lnTo>
                    <a:pt x="0" y="77309"/>
                  </a:lnTo>
                  <a:cubicBezTo>
                    <a:pt x="0" y="56806"/>
                    <a:pt x="8145" y="37142"/>
                    <a:pt x="22643" y="22643"/>
                  </a:cubicBezTo>
                  <a:cubicBezTo>
                    <a:pt x="37142" y="8145"/>
                    <a:pt x="56806" y="0"/>
                    <a:pt x="77309" y="0"/>
                  </a:cubicBezTo>
                  <a:close/>
                </a:path>
              </a:pathLst>
            </a:custGeom>
            <a:solidFill>
              <a:srgbClr val="424242"/>
            </a:solidFill>
            <a:ln w="19050" cap="rnd">
              <a:solidFill>
                <a:srgbClr val="D0D7DD"/>
              </a:solidFill>
              <a:prstDash val="solid"/>
              <a:round/>
            </a:ln>
          </p:spPr>
          <p:txBody>
            <a:bodyPr/>
            <a:lstStyle/>
            <a:p>
              <a:endParaRPr lang="en-US"/>
            </a:p>
          </p:txBody>
        </p:sp>
        <p:sp>
          <p:nvSpPr>
            <p:cNvPr id="5" name="TextBox 5"/>
            <p:cNvSpPr txBox="1"/>
            <p:nvPr/>
          </p:nvSpPr>
          <p:spPr>
            <a:xfrm>
              <a:off x="0" y="-28575"/>
              <a:ext cx="2109992" cy="1607039"/>
            </a:xfrm>
            <a:prstGeom prst="rect">
              <a:avLst/>
            </a:prstGeom>
          </p:spPr>
          <p:txBody>
            <a:bodyPr lIns="50800" tIns="50800" rIns="50800" bIns="50800" rtlCol="0" anchor="ctr"/>
            <a:lstStyle/>
            <a:p>
              <a:pPr algn="ctr">
                <a:lnSpc>
                  <a:spcPts val="2015"/>
                </a:lnSpc>
              </a:pPr>
              <a:endParaRPr/>
            </a:p>
          </p:txBody>
        </p:sp>
      </p:grpSp>
      <p:sp>
        <p:nvSpPr>
          <p:cNvPr id="6" name="TextBox 6"/>
          <p:cNvSpPr txBox="1"/>
          <p:nvPr/>
        </p:nvSpPr>
        <p:spPr>
          <a:xfrm>
            <a:off x="223978" y="1247775"/>
            <a:ext cx="17840044" cy="3276997"/>
          </a:xfrm>
          <a:prstGeom prst="rect">
            <a:avLst/>
          </a:prstGeom>
        </p:spPr>
        <p:txBody>
          <a:bodyPr lIns="0" tIns="0" rIns="0" bIns="0" rtlCol="0" anchor="t">
            <a:spAutoFit/>
          </a:bodyPr>
          <a:lstStyle/>
          <a:p>
            <a:pPr algn="ctr">
              <a:lnSpc>
                <a:spcPts val="8456"/>
              </a:lnSpc>
            </a:pPr>
            <a:r>
              <a:rPr lang="en-US" sz="8996" b="1" spc="-422" dirty="0">
                <a:solidFill>
                  <a:srgbClr val="FFFFFF"/>
                </a:solidFill>
                <a:latin typeface="Open Sauce Heavy"/>
                <a:ea typeface="Open Sauce Heavy"/>
                <a:cs typeface="Open Sauce Heavy"/>
                <a:sym typeface="Open Sauce Heavy"/>
              </a:rPr>
              <a:t>Five-Year Improvement in Staffing</a:t>
            </a:r>
          </a:p>
          <a:p>
            <a:pPr algn="ctr">
              <a:lnSpc>
                <a:spcPts val="8456"/>
              </a:lnSpc>
            </a:pPr>
            <a:endParaRPr lang="en-US" sz="8996" b="1" spc="-422" dirty="0">
              <a:solidFill>
                <a:srgbClr val="FFFFFF"/>
              </a:solidFill>
              <a:latin typeface="Open Sauce Heavy"/>
              <a:ea typeface="Open Sauce Heavy"/>
              <a:cs typeface="Open Sauce Heavy"/>
              <a:sym typeface="Open Sauce Heavy"/>
            </a:endParaRPr>
          </a:p>
          <a:p>
            <a:pPr algn="ctr">
              <a:lnSpc>
                <a:spcPts val="8456"/>
              </a:lnSpc>
            </a:pPr>
            <a:endParaRPr lang="en-US" sz="8996" b="1" spc="-422" dirty="0">
              <a:solidFill>
                <a:srgbClr val="FFFFFF"/>
              </a:solidFill>
              <a:latin typeface="Open Sauce Heavy"/>
              <a:ea typeface="Open Sauce Heavy"/>
              <a:cs typeface="Open Sauce Heavy"/>
              <a:sym typeface="Open Sauce Heavy"/>
            </a:endParaRPr>
          </a:p>
        </p:txBody>
      </p:sp>
      <p:pic>
        <p:nvPicPr>
          <p:cNvPr id="7" name="Picture 7"/>
          <p:cNvPicPr>
            <a:picLocks noChangeAspect="1"/>
          </p:cNvPicPr>
          <p:nvPr/>
        </p:nvPicPr>
        <p:blipFill>
          <a:blip r:embed="rId3"/>
          <a:stretch>
            <a:fillRect/>
          </a:stretch>
        </p:blipFill>
        <p:spPr>
          <a:xfrm>
            <a:off x="9904306" y="3333366"/>
            <a:ext cx="6284704" cy="6212559"/>
          </a:xfrm>
          <a:prstGeom prst="rect">
            <a:avLst/>
          </a:prstGeom>
        </p:spPr>
      </p:pic>
      <p:graphicFrame>
        <p:nvGraphicFramePr>
          <p:cNvPr id="8" name="Table 7">
            <a:extLst>
              <a:ext uri="{FF2B5EF4-FFF2-40B4-BE49-F238E27FC236}">
                <a16:creationId xmlns:a16="http://schemas.microsoft.com/office/drawing/2014/main" id="{27D0D9A4-DD4E-B547-F99F-77EADD4EC8BE}"/>
              </a:ext>
            </a:extLst>
          </p:cNvPr>
          <p:cNvGraphicFramePr>
            <a:graphicFrameLocks noGrp="1"/>
          </p:cNvGraphicFramePr>
          <p:nvPr>
            <p:extLst>
              <p:ext uri="{D42A27DB-BD31-4B8C-83A1-F6EECF244321}">
                <p14:modId xmlns:p14="http://schemas.microsoft.com/office/powerpoint/2010/main" val="3301743103"/>
              </p:ext>
            </p:extLst>
          </p:nvPr>
        </p:nvGraphicFramePr>
        <p:xfrm>
          <a:off x="686909" y="3490261"/>
          <a:ext cx="8011376" cy="6101727"/>
        </p:xfrm>
        <a:graphic>
          <a:graphicData uri="http://schemas.openxmlformats.org/drawingml/2006/table">
            <a:tbl>
              <a:tblPr>
                <a:tableStyleId>{5C22544A-7EE6-4342-B048-85BDC9FD1C3A}</a:tableStyleId>
              </a:tblPr>
              <a:tblGrid>
                <a:gridCol w="2491891">
                  <a:extLst>
                    <a:ext uri="{9D8B030D-6E8A-4147-A177-3AD203B41FA5}">
                      <a16:colId xmlns:a16="http://schemas.microsoft.com/office/drawing/2014/main" val="453530562"/>
                    </a:ext>
                  </a:extLst>
                </a:gridCol>
                <a:gridCol w="5519485">
                  <a:extLst>
                    <a:ext uri="{9D8B030D-6E8A-4147-A177-3AD203B41FA5}">
                      <a16:colId xmlns:a16="http://schemas.microsoft.com/office/drawing/2014/main" val="1134066740"/>
                    </a:ext>
                  </a:extLst>
                </a:gridCol>
              </a:tblGrid>
              <a:tr h="997162">
                <a:tc>
                  <a:txBody>
                    <a:bodyPr/>
                    <a:lstStyle/>
                    <a:p>
                      <a:pPr algn="ctr" fontAlgn="ctr">
                        <a:buNone/>
                      </a:pPr>
                      <a:r>
                        <a:rPr lang="en-US" sz="2600" b="1" u="none" strike="noStrike" dirty="0">
                          <a:effectLst/>
                        </a:rPr>
                        <a:t>Year</a:t>
                      </a:r>
                      <a:endParaRPr lang="en-US" sz="2600" b="1" i="0" u="none" strike="noStrike" dirty="0">
                        <a:solidFill>
                          <a:srgbClr val="FFFFFF"/>
                        </a:solidFill>
                        <a:effectLst/>
                        <a:latin typeface="Aptos Narrow" panose="020B0004020202020204" pitchFamily="34" charset="0"/>
                      </a:endParaRPr>
                    </a:p>
                  </a:txBody>
                  <a:tcPr marL="6350" marR="6350" marT="6350" marB="0" anchor="ctr"/>
                </a:tc>
                <a:tc>
                  <a:txBody>
                    <a:bodyPr/>
                    <a:lstStyle/>
                    <a:p>
                      <a:pPr algn="ctr" fontAlgn="ctr">
                        <a:buNone/>
                      </a:pPr>
                      <a:r>
                        <a:rPr lang="en-US" sz="2600" b="1" u="none" strike="noStrike" dirty="0">
                          <a:effectLst/>
                        </a:rPr>
                        <a:t>Officer-to-PDL Ratio</a:t>
                      </a:r>
                      <a:endParaRPr lang="en-US" sz="2600" b="1" i="0" u="none" strike="noStrike" dirty="0">
                        <a:solidFill>
                          <a:srgbClr val="FFFFFF"/>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138894086"/>
                  </a:ext>
                </a:extLst>
              </a:tr>
              <a:tr h="997162">
                <a:tc>
                  <a:txBody>
                    <a:bodyPr/>
                    <a:lstStyle/>
                    <a:p>
                      <a:pPr algn="ctr" fontAlgn="ctr">
                        <a:buNone/>
                      </a:pPr>
                      <a:r>
                        <a:rPr lang="en-US" sz="2400" b="1" u="none" strike="noStrike" dirty="0">
                          <a:effectLst/>
                        </a:rPr>
                        <a:t>2021</a:t>
                      </a:r>
                      <a:endParaRPr lang="en-US" sz="24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US" sz="2400" b="1" u="none" strike="noStrike" dirty="0">
                          <a:effectLst/>
                        </a:rPr>
                        <a:t>1:40</a:t>
                      </a:r>
                      <a:endParaRPr lang="en-US" sz="24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213186017"/>
                  </a:ext>
                </a:extLst>
              </a:tr>
              <a:tr h="1062018">
                <a:tc>
                  <a:txBody>
                    <a:bodyPr/>
                    <a:lstStyle/>
                    <a:p>
                      <a:pPr algn="ctr" fontAlgn="ctr">
                        <a:buNone/>
                      </a:pPr>
                      <a:r>
                        <a:rPr lang="en-US" sz="2400" b="1" u="none" strike="noStrike" dirty="0">
                          <a:effectLst/>
                        </a:rPr>
                        <a:t>2022</a:t>
                      </a:r>
                      <a:endParaRPr lang="en-US" sz="24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US" sz="2400" b="1" u="none" strike="noStrike" dirty="0">
                          <a:effectLst/>
                        </a:rPr>
                        <a:t>1:29</a:t>
                      </a:r>
                      <a:endParaRPr lang="en-US" sz="24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1113533"/>
                  </a:ext>
                </a:extLst>
              </a:tr>
              <a:tr h="1051061">
                <a:tc>
                  <a:txBody>
                    <a:bodyPr/>
                    <a:lstStyle/>
                    <a:p>
                      <a:pPr algn="ctr" fontAlgn="ctr">
                        <a:buNone/>
                      </a:pPr>
                      <a:r>
                        <a:rPr lang="en-US" sz="2400" b="1" u="none" strike="noStrike">
                          <a:effectLst/>
                        </a:rPr>
                        <a:t>2023</a:t>
                      </a:r>
                      <a:endParaRPr lang="en-US" sz="24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US" sz="2400" b="1" u="none" strike="noStrike" dirty="0">
                          <a:effectLst/>
                        </a:rPr>
                        <a:t>1:26</a:t>
                      </a:r>
                      <a:endParaRPr lang="en-US" sz="24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816657017"/>
                  </a:ext>
                </a:extLst>
              </a:tr>
              <a:tr h="997162">
                <a:tc>
                  <a:txBody>
                    <a:bodyPr/>
                    <a:lstStyle/>
                    <a:p>
                      <a:pPr algn="ctr" fontAlgn="ctr">
                        <a:buNone/>
                      </a:pPr>
                      <a:r>
                        <a:rPr lang="en-US" sz="2400" b="1" u="none" strike="noStrike">
                          <a:effectLst/>
                        </a:rPr>
                        <a:t>2024</a:t>
                      </a:r>
                      <a:endParaRPr lang="en-US" sz="24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US" sz="2400" b="1" u="none" strike="noStrike" dirty="0">
                          <a:effectLst/>
                        </a:rPr>
                        <a:t>1:24</a:t>
                      </a:r>
                      <a:endParaRPr lang="en-US" sz="24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515098413"/>
                  </a:ext>
                </a:extLst>
              </a:tr>
              <a:tr h="997162">
                <a:tc>
                  <a:txBody>
                    <a:bodyPr/>
                    <a:lstStyle/>
                    <a:p>
                      <a:pPr algn="ctr" fontAlgn="ctr">
                        <a:buNone/>
                      </a:pPr>
                      <a:r>
                        <a:rPr lang="en-US" sz="2400" b="1" u="none" strike="noStrike">
                          <a:effectLst/>
                        </a:rPr>
                        <a:t>2025</a:t>
                      </a:r>
                      <a:endParaRPr lang="en-US" sz="24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US" sz="2400" b="1" u="none" strike="noStrike" dirty="0">
                          <a:effectLst/>
                        </a:rPr>
                        <a:t>1:20</a:t>
                      </a:r>
                      <a:endParaRPr lang="en-US" sz="24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91317036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TextBox 2"/>
          <p:cNvSpPr txBox="1"/>
          <p:nvPr/>
        </p:nvSpPr>
        <p:spPr>
          <a:xfrm>
            <a:off x="1028700" y="1057770"/>
            <a:ext cx="16230600" cy="1406223"/>
          </a:xfrm>
          <a:prstGeom prst="rect">
            <a:avLst/>
          </a:prstGeom>
        </p:spPr>
        <p:txBody>
          <a:bodyPr lIns="0" tIns="0" rIns="0" bIns="0" rtlCol="0" anchor="t">
            <a:spAutoFit/>
          </a:bodyPr>
          <a:lstStyle/>
          <a:p>
            <a:pPr algn="l">
              <a:lnSpc>
                <a:spcPts val="10307"/>
              </a:lnSpc>
            </a:pPr>
            <a:r>
              <a:rPr lang="en-US" sz="10965" b="1" spc="-515">
                <a:solidFill>
                  <a:srgbClr val="424242"/>
                </a:solidFill>
                <a:latin typeface="Open Sauce Heavy"/>
                <a:ea typeface="Open Sauce Heavy"/>
                <a:cs typeface="Open Sauce Heavy"/>
                <a:sym typeface="Open Sauce Heavy"/>
              </a:rPr>
              <a:t>Weaknesses</a:t>
            </a:r>
          </a:p>
        </p:txBody>
      </p:sp>
      <p:grpSp>
        <p:nvGrpSpPr>
          <p:cNvPr id="3" name="Group 3"/>
          <p:cNvGrpSpPr/>
          <p:nvPr/>
        </p:nvGrpSpPr>
        <p:grpSpPr>
          <a:xfrm>
            <a:off x="1177090" y="3029848"/>
            <a:ext cx="16082210" cy="5026174"/>
            <a:chOff x="0" y="0"/>
            <a:chExt cx="4235644" cy="1323766"/>
          </a:xfrm>
        </p:grpSpPr>
        <p:sp>
          <p:nvSpPr>
            <p:cNvPr id="4" name="Freeform 4"/>
            <p:cNvSpPr/>
            <p:nvPr/>
          </p:nvSpPr>
          <p:spPr>
            <a:xfrm>
              <a:off x="0" y="0"/>
              <a:ext cx="4235644" cy="1323766"/>
            </a:xfrm>
            <a:custGeom>
              <a:avLst/>
              <a:gdLst/>
              <a:ahLst/>
              <a:cxnLst/>
              <a:rect l="l" t="t" r="r" b="b"/>
              <a:pathLst>
                <a:path w="4235644" h="1323766">
                  <a:moveTo>
                    <a:pt x="31772" y="0"/>
                  </a:moveTo>
                  <a:lnTo>
                    <a:pt x="4203872" y="0"/>
                  </a:lnTo>
                  <a:cubicBezTo>
                    <a:pt x="4212298" y="0"/>
                    <a:pt x="4220380" y="3347"/>
                    <a:pt x="4226338" y="9306"/>
                  </a:cubicBezTo>
                  <a:cubicBezTo>
                    <a:pt x="4232296" y="15264"/>
                    <a:pt x="4235644" y="23346"/>
                    <a:pt x="4235644" y="31772"/>
                  </a:cubicBezTo>
                  <a:lnTo>
                    <a:pt x="4235644" y="1291994"/>
                  </a:lnTo>
                  <a:cubicBezTo>
                    <a:pt x="4235644" y="1300420"/>
                    <a:pt x="4232296" y="1308502"/>
                    <a:pt x="4226338" y="1314460"/>
                  </a:cubicBezTo>
                  <a:cubicBezTo>
                    <a:pt x="4220380" y="1320419"/>
                    <a:pt x="4212298" y="1323766"/>
                    <a:pt x="4203872" y="1323766"/>
                  </a:cubicBezTo>
                  <a:lnTo>
                    <a:pt x="31772" y="1323766"/>
                  </a:lnTo>
                  <a:cubicBezTo>
                    <a:pt x="23346" y="1323766"/>
                    <a:pt x="15264" y="1320419"/>
                    <a:pt x="9306" y="1314460"/>
                  </a:cubicBezTo>
                  <a:cubicBezTo>
                    <a:pt x="3347" y="1308502"/>
                    <a:pt x="0" y="1300420"/>
                    <a:pt x="0" y="1291994"/>
                  </a:cubicBezTo>
                  <a:lnTo>
                    <a:pt x="0" y="31772"/>
                  </a:lnTo>
                  <a:cubicBezTo>
                    <a:pt x="0" y="23346"/>
                    <a:pt x="3347" y="15264"/>
                    <a:pt x="9306" y="9306"/>
                  </a:cubicBezTo>
                  <a:cubicBezTo>
                    <a:pt x="15264" y="3347"/>
                    <a:pt x="23346" y="0"/>
                    <a:pt x="31772"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5" name="TextBox 5"/>
            <p:cNvSpPr txBox="1"/>
            <p:nvPr/>
          </p:nvSpPr>
          <p:spPr>
            <a:xfrm>
              <a:off x="0" y="-28575"/>
              <a:ext cx="4235644" cy="1352341"/>
            </a:xfrm>
            <a:prstGeom prst="rect">
              <a:avLst/>
            </a:prstGeom>
          </p:spPr>
          <p:txBody>
            <a:bodyPr lIns="50800" tIns="50800" rIns="50800" bIns="50800" rtlCol="0" anchor="ctr"/>
            <a:lstStyle/>
            <a:p>
              <a:pPr algn="ctr">
                <a:lnSpc>
                  <a:spcPts val="2015"/>
                </a:lnSpc>
              </a:pPr>
              <a:endParaRPr/>
            </a:p>
          </p:txBody>
        </p:sp>
      </p:grpSp>
      <p:grpSp>
        <p:nvGrpSpPr>
          <p:cNvPr id="6" name="Group 6"/>
          <p:cNvGrpSpPr/>
          <p:nvPr/>
        </p:nvGrpSpPr>
        <p:grpSpPr>
          <a:xfrm>
            <a:off x="2929955" y="3127582"/>
            <a:ext cx="1154202" cy="804358"/>
            <a:chOff x="0" y="0"/>
            <a:chExt cx="303987" cy="211847"/>
          </a:xfrm>
        </p:grpSpPr>
        <p:sp>
          <p:nvSpPr>
            <p:cNvPr id="7" name="Freeform 7"/>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txBody>
            <a:bodyPr/>
            <a:lstStyle/>
            <a:p>
              <a:endParaRPr lang="en-US"/>
            </a:p>
          </p:txBody>
        </p:sp>
        <p:sp>
          <p:nvSpPr>
            <p:cNvPr id="8" name="TextBox 8"/>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sp>
        <p:nvSpPr>
          <p:cNvPr id="9" name="TextBox 9"/>
          <p:cNvSpPr txBox="1"/>
          <p:nvPr/>
        </p:nvSpPr>
        <p:spPr>
          <a:xfrm>
            <a:off x="3097293" y="3351262"/>
            <a:ext cx="819524" cy="513080"/>
          </a:xfrm>
          <a:prstGeom prst="rect">
            <a:avLst/>
          </a:prstGeom>
        </p:spPr>
        <p:txBody>
          <a:bodyPr lIns="0" tIns="0" rIns="0" bIns="0" rtlCol="0" anchor="t">
            <a:spAutoFit/>
          </a:bodyPr>
          <a:lstStyle/>
          <a:p>
            <a:pPr algn="ctr">
              <a:lnSpc>
                <a:spcPts val="3759"/>
              </a:lnSpc>
            </a:pPr>
            <a:r>
              <a:rPr lang="en-US" sz="3999" b="1" spc="-187">
                <a:solidFill>
                  <a:srgbClr val="424242"/>
                </a:solidFill>
                <a:latin typeface="Open Sauce Heavy"/>
                <a:ea typeface="Open Sauce Heavy"/>
                <a:cs typeface="Open Sauce Heavy"/>
                <a:sym typeface="Open Sauce Heavy"/>
              </a:rPr>
              <a:t>3</a:t>
            </a:r>
          </a:p>
        </p:txBody>
      </p:sp>
      <p:sp>
        <p:nvSpPr>
          <p:cNvPr id="10" name="TextBox 10"/>
          <p:cNvSpPr txBox="1"/>
          <p:nvPr/>
        </p:nvSpPr>
        <p:spPr>
          <a:xfrm>
            <a:off x="4297786" y="3351262"/>
            <a:ext cx="8922362" cy="880872"/>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Challenges in Rehabilitation Programs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11" name="TextBox 11"/>
          <p:cNvSpPr txBox="1"/>
          <p:nvPr/>
        </p:nvSpPr>
        <p:spPr>
          <a:xfrm>
            <a:off x="4032818" y="4207332"/>
            <a:ext cx="12036128" cy="3489326"/>
          </a:xfrm>
          <a:prstGeom prst="rect">
            <a:avLst/>
          </a:prstGeom>
        </p:spPr>
        <p:txBody>
          <a:bodyPr lIns="0" tIns="0" rIns="0" bIns="0" rtlCol="0" anchor="t">
            <a:spAutoFit/>
          </a:bodyPr>
          <a:lstStyle/>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Not all inmates can participate in educational and vocational programs.</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Rehabilitation activities may vary depending on facility capacity and resources.</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Some inmates may leave prison without sufficient preparation for reintegration.</a:t>
            </a:r>
          </a:p>
          <a:p>
            <a:pPr algn="l">
              <a:lnSpc>
                <a:spcPts val="3499"/>
              </a:lnSpc>
            </a:pPr>
            <a:endParaRPr lang="en-US" sz="2499" spc="-117">
              <a:solidFill>
                <a:srgbClr val="424242"/>
              </a:solidFill>
              <a:latin typeface="Open Sauce Light"/>
              <a:ea typeface="Open Sauce Light"/>
              <a:cs typeface="Open Sauce Light"/>
              <a:sym typeface="Open Sauce Light"/>
            </a:endParaRPr>
          </a:p>
          <a:p>
            <a:pPr marL="539745" lvl="1" indent="-269872" algn="l">
              <a:lnSpc>
                <a:spcPts val="3499"/>
              </a:lnSpc>
              <a:buFont typeface="Arial"/>
              <a:buChar char="•"/>
            </a:pPr>
            <a:r>
              <a:rPr lang="en-US" sz="2499" spc="-117">
                <a:solidFill>
                  <a:srgbClr val="424242"/>
                </a:solidFill>
                <a:latin typeface="Open Sauce Light"/>
                <a:ea typeface="Open Sauce Light"/>
                <a:cs typeface="Open Sauce Light"/>
                <a:sym typeface="Open Sauce Light"/>
              </a:rPr>
              <a:t>This can contribute to repeat offenses or difficulties in adapting to society.</a:t>
            </a:r>
          </a:p>
          <a:p>
            <a:pPr algn="l">
              <a:lnSpc>
                <a:spcPts val="3499"/>
              </a:lnSpc>
            </a:pPr>
            <a:endParaRPr lang="en-US" sz="2499" spc="-117">
              <a:solidFill>
                <a:srgbClr val="424242"/>
              </a:solidFill>
              <a:latin typeface="Open Sauce Light"/>
              <a:ea typeface="Open Sauce Light"/>
              <a:cs typeface="Open Sauce Light"/>
              <a:sym typeface="Open Sauce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2" cstate="email">
              <a:alphaModFix amt="20999"/>
              <a:extLst>
                <a:ext uri="{28A0092B-C50C-407E-A947-70E740481C1C}">
                  <a14:useLocalDpi xmlns:a14="http://schemas.microsoft.com/office/drawing/2010/main"/>
                </a:ext>
              </a:extLst>
            </a:blip>
            <a:stretch>
              <a:fillRect/>
            </a:stretch>
          </a:blipFill>
        </p:spPr>
        <p:txBody>
          <a:bodyPr/>
          <a:lstStyle/>
          <a:p>
            <a:endParaRPr lang="en-US"/>
          </a:p>
        </p:txBody>
      </p:sp>
      <p:sp>
        <p:nvSpPr>
          <p:cNvPr id="3" name="Freeform 3"/>
          <p:cNvSpPr/>
          <p:nvPr/>
        </p:nvSpPr>
        <p:spPr>
          <a:xfrm>
            <a:off x="-1964581" y="6163012"/>
            <a:ext cx="12299674" cy="5143500"/>
          </a:xfrm>
          <a:custGeom>
            <a:avLst/>
            <a:gdLst/>
            <a:ahLst/>
            <a:cxnLst/>
            <a:rect l="l" t="t" r="r" b="b"/>
            <a:pathLst>
              <a:path w="12299674" h="5143500">
                <a:moveTo>
                  <a:pt x="0" y="0"/>
                </a:moveTo>
                <a:lnTo>
                  <a:pt x="12299674" y="0"/>
                </a:lnTo>
                <a:lnTo>
                  <a:pt x="12299674" y="5143500"/>
                </a:lnTo>
                <a:lnTo>
                  <a:pt x="0" y="5143500"/>
                </a:lnTo>
                <a:lnTo>
                  <a:pt x="0" y="0"/>
                </a:lnTo>
                <a:close/>
              </a:path>
            </a:pathLst>
          </a:custGeom>
          <a:blipFill>
            <a:blip r:embed="rId3">
              <a:alphaModFix amt="10999"/>
            </a:blip>
            <a:stretch>
              <a:fillRect/>
            </a:stretch>
          </a:blipFill>
        </p:spPr>
        <p:txBody>
          <a:bodyPr/>
          <a:lstStyle/>
          <a:p>
            <a:endParaRPr lang="en-US"/>
          </a:p>
        </p:txBody>
      </p:sp>
      <p:grpSp>
        <p:nvGrpSpPr>
          <p:cNvPr id="4" name="Group 4"/>
          <p:cNvGrpSpPr/>
          <p:nvPr/>
        </p:nvGrpSpPr>
        <p:grpSpPr>
          <a:xfrm>
            <a:off x="1028700" y="4459903"/>
            <a:ext cx="16360888" cy="4960467"/>
            <a:chOff x="0" y="0"/>
            <a:chExt cx="4309041" cy="1306461"/>
          </a:xfrm>
        </p:grpSpPr>
        <p:sp>
          <p:nvSpPr>
            <p:cNvPr id="5" name="Freeform 5"/>
            <p:cNvSpPr/>
            <p:nvPr/>
          </p:nvSpPr>
          <p:spPr>
            <a:xfrm>
              <a:off x="0" y="0"/>
              <a:ext cx="4309040" cy="1306461"/>
            </a:xfrm>
            <a:custGeom>
              <a:avLst/>
              <a:gdLst/>
              <a:ahLst/>
              <a:cxnLst/>
              <a:rect l="l" t="t" r="r" b="b"/>
              <a:pathLst>
                <a:path w="4309040" h="1306461">
                  <a:moveTo>
                    <a:pt x="44007" y="0"/>
                  </a:moveTo>
                  <a:lnTo>
                    <a:pt x="4265033" y="0"/>
                  </a:lnTo>
                  <a:cubicBezTo>
                    <a:pt x="4276704" y="0"/>
                    <a:pt x="4287898" y="4636"/>
                    <a:pt x="4296151" y="12889"/>
                  </a:cubicBezTo>
                  <a:cubicBezTo>
                    <a:pt x="4304404" y="21142"/>
                    <a:pt x="4309040" y="32336"/>
                    <a:pt x="4309040" y="44007"/>
                  </a:cubicBezTo>
                  <a:lnTo>
                    <a:pt x="4309040" y="1262453"/>
                  </a:lnTo>
                  <a:cubicBezTo>
                    <a:pt x="4309040" y="1274125"/>
                    <a:pt x="4304404" y="1285318"/>
                    <a:pt x="4296151" y="1293571"/>
                  </a:cubicBezTo>
                  <a:cubicBezTo>
                    <a:pt x="4287898" y="1301824"/>
                    <a:pt x="4276704" y="1306461"/>
                    <a:pt x="4265033" y="1306461"/>
                  </a:cubicBezTo>
                  <a:lnTo>
                    <a:pt x="44007" y="1306461"/>
                  </a:lnTo>
                  <a:cubicBezTo>
                    <a:pt x="32336" y="1306461"/>
                    <a:pt x="21142" y="1301824"/>
                    <a:pt x="12889" y="1293571"/>
                  </a:cubicBezTo>
                  <a:cubicBezTo>
                    <a:pt x="4636" y="1285318"/>
                    <a:pt x="0" y="1274125"/>
                    <a:pt x="0" y="1262453"/>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txBody>
            <a:bodyPr/>
            <a:lstStyle/>
            <a:p>
              <a:endParaRPr lang="en-US"/>
            </a:p>
          </p:txBody>
        </p:sp>
        <p:sp>
          <p:nvSpPr>
            <p:cNvPr id="6" name="TextBox 6"/>
            <p:cNvSpPr txBox="1"/>
            <p:nvPr/>
          </p:nvSpPr>
          <p:spPr>
            <a:xfrm>
              <a:off x="0" y="-28575"/>
              <a:ext cx="4309041" cy="1335036"/>
            </a:xfrm>
            <a:prstGeom prst="rect">
              <a:avLst/>
            </a:prstGeom>
          </p:spPr>
          <p:txBody>
            <a:bodyPr lIns="50800" tIns="50800" rIns="50800" bIns="50800" rtlCol="0" anchor="ctr"/>
            <a:lstStyle/>
            <a:p>
              <a:pPr algn="ctr">
                <a:lnSpc>
                  <a:spcPts val="2015"/>
                </a:lnSpc>
              </a:pPr>
              <a:endParaRPr/>
            </a:p>
          </p:txBody>
        </p:sp>
      </p:grpSp>
      <p:sp>
        <p:nvSpPr>
          <p:cNvPr id="7" name="TextBox 7"/>
          <p:cNvSpPr txBox="1"/>
          <p:nvPr/>
        </p:nvSpPr>
        <p:spPr>
          <a:xfrm>
            <a:off x="1028700" y="2301809"/>
            <a:ext cx="13389009" cy="1406223"/>
          </a:xfrm>
          <a:prstGeom prst="rect">
            <a:avLst/>
          </a:prstGeom>
        </p:spPr>
        <p:txBody>
          <a:bodyPr lIns="0" tIns="0" rIns="0" bIns="0" rtlCol="0" anchor="t">
            <a:spAutoFit/>
          </a:bodyPr>
          <a:lstStyle/>
          <a:p>
            <a:pPr algn="l">
              <a:lnSpc>
                <a:spcPts val="10307"/>
              </a:lnSpc>
            </a:pPr>
            <a:r>
              <a:rPr lang="en-US" sz="10965" b="1" spc="-515">
                <a:solidFill>
                  <a:srgbClr val="FFFFFF"/>
                </a:solidFill>
                <a:latin typeface="Open Sauce Heavy"/>
                <a:ea typeface="Open Sauce Heavy"/>
                <a:cs typeface="Open Sauce Heavy"/>
                <a:sym typeface="Open Sauce Heavy"/>
              </a:rPr>
              <a:t>Opportunities</a:t>
            </a:r>
          </a:p>
        </p:txBody>
      </p:sp>
      <p:sp>
        <p:nvSpPr>
          <p:cNvPr id="8" name="TextBox 8"/>
          <p:cNvSpPr txBox="1"/>
          <p:nvPr/>
        </p:nvSpPr>
        <p:spPr>
          <a:xfrm>
            <a:off x="2249184" y="5981136"/>
            <a:ext cx="3477257" cy="2295525"/>
          </a:xfrm>
          <a:prstGeom prst="rect">
            <a:avLst/>
          </a:prstGeom>
        </p:spPr>
        <p:txBody>
          <a:bodyPr lIns="0" tIns="0" rIns="0" bIns="0" rtlCol="0" anchor="t">
            <a:spAutoFit/>
          </a:bodyPr>
          <a:lstStyle/>
          <a:p>
            <a:pPr algn="l">
              <a:lnSpc>
                <a:spcPts val="3600"/>
              </a:lnSpc>
            </a:pPr>
            <a:r>
              <a:rPr lang="en-US" sz="3000" b="1" spc="-141">
                <a:solidFill>
                  <a:srgbClr val="FFFFFF"/>
                </a:solidFill>
                <a:latin typeface="Open Sauce Heavy"/>
                <a:ea typeface="Open Sauce Heavy"/>
                <a:cs typeface="Open Sauce Heavy"/>
                <a:sym typeface="Open Sauce Heavy"/>
              </a:rPr>
              <a:t>MODERNIZATION OF CORRECTIONAL FACILITIES</a:t>
            </a:r>
          </a:p>
          <a:p>
            <a:pPr algn="l">
              <a:lnSpc>
                <a:spcPts val="3600"/>
              </a:lnSpc>
            </a:pPr>
            <a:endParaRPr lang="en-US" sz="3000" b="1" spc="-141">
              <a:solidFill>
                <a:srgbClr val="FFFFFF"/>
              </a:solidFill>
              <a:latin typeface="Open Sauce Heavy"/>
              <a:ea typeface="Open Sauce Heavy"/>
              <a:cs typeface="Open Sauce Heavy"/>
              <a:sym typeface="Open Sauce Heavy"/>
            </a:endParaRPr>
          </a:p>
        </p:txBody>
      </p:sp>
      <p:sp>
        <p:nvSpPr>
          <p:cNvPr id="9" name="TextBox 9"/>
          <p:cNvSpPr txBox="1"/>
          <p:nvPr/>
        </p:nvSpPr>
        <p:spPr>
          <a:xfrm>
            <a:off x="7723205" y="6209736"/>
            <a:ext cx="3520737" cy="1838325"/>
          </a:xfrm>
          <a:prstGeom prst="rect">
            <a:avLst/>
          </a:prstGeom>
        </p:spPr>
        <p:txBody>
          <a:bodyPr lIns="0" tIns="0" rIns="0" bIns="0" rtlCol="0" anchor="t">
            <a:spAutoFit/>
          </a:bodyPr>
          <a:lstStyle/>
          <a:p>
            <a:pPr algn="l">
              <a:lnSpc>
                <a:spcPts val="3600"/>
              </a:lnSpc>
            </a:pPr>
            <a:r>
              <a:rPr lang="en-US" sz="3000" b="1" spc="-141">
                <a:solidFill>
                  <a:srgbClr val="FFFFFF"/>
                </a:solidFill>
                <a:latin typeface="Open Sauce Heavy"/>
                <a:ea typeface="Open Sauce Heavy"/>
                <a:cs typeface="Open Sauce Heavy"/>
                <a:sym typeface="Open Sauce Heavy"/>
              </a:rPr>
              <a:t>EXPANSION OF REHABILITATION PROGRAMS</a:t>
            </a:r>
          </a:p>
          <a:p>
            <a:pPr algn="l">
              <a:lnSpc>
                <a:spcPts val="3600"/>
              </a:lnSpc>
            </a:pPr>
            <a:endParaRPr lang="en-US" sz="3000" b="1" spc="-141">
              <a:solidFill>
                <a:srgbClr val="FFFFFF"/>
              </a:solidFill>
              <a:latin typeface="Open Sauce Heavy"/>
              <a:ea typeface="Open Sauce Heavy"/>
              <a:cs typeface="Open Sauce Heavy"/>
              <a:sym typeface="Open Sauce Heavy"/>
            </a:endParaRPr>
          </a:p>
        </p:txBody>
      </p:sp>
      <p:sp>
        <p:nvSpPr>
          <p:cNvPr id="10" name="TextBox 10"/>
          <p:cNvSpPr txBox="1"/>
          <p:nvPr/>
        </p:nvSpPr>
        <p:spPr>
          <a:xfrm>
            <a:off x="13238339" y="6016211"/>
            <a:ext cx="3520737" cy="1838325"/>
          </a:xfrm>
          <a:prstGeom prst="rect">
            <a:avLst/>
          </a:prstGeom>
        </p:spPr>
        <p:txBody>
          <a:bodyPr lIns="0" tIns="0" rIns="0" bIns="0" rtlCol="0" anchor="t">
            <a:spAutoFit/>
          </a:bodyPr>
          <a:lstStyle/>
          <a:p>
            <a:pPr algn="l">
              <a:lnSpc>
                <a:spcPts val="3600"/>
              </a:lnSpc>
            </a:pPr>
            <a:r>
              <a:rPr lang="en-US" sz="3000" b="1" spc="-141">
                <a:solidFill>
                  <a:srgbClr val="FFFFFF"/>
                </a:solidFill>
                <a:latin typeface="Open Sauce Heavy"/>
                <a:ea typeface="Open Sauce Heavy"/>
                <a:cs typeface="Open Sauce Heavy"/>
                <a:sym typeface="Open Sauce Heavy"/>
              </a:rPr>
              <a:t>PARTNERSHIPS AND COMMUNITY SUPPORT</a:t>
            </a:r>
          </a:p>
          <a:p>
            <a:pPr algn="l">
              <a:lnSpc>
                <a:spcPts val="3600"/>
              </a:lnSpc>
            </a:pPr>
            <a:endParaRPr lang="en-US" sz="3000" b="1" spc="-141">
              <a:solidFill>
                <a:srgbClr val="FFFFFF"/>
              </a:solidFill>
              <a:latin typeface="Open Sauce Heavy"/>
              <a:ea typeface="Open Sauce Heavy"/>
              <a:cs typeface="Open Sauce Heavy"/>
              <a:sym typeface="Open Sauce Heavy"/>
            </a:endParaRPr>
          </a:p>
        </p:txBody>
      </p:sp>
      <p:sp>
        <p:nvSpPr>
          <p:cNvPr id="11" name="TextBox 11"/>
          <p:cNvSpPr txBox="1"/>
          <p:nvPr/>
        </p:nvSpPr>
        <p:spPr>
          <a:xfrm>
            <a:off x="1028700" y="650408"/>
            <a:ext cx="4474124" cy="587954"/>
          </a:xfrm>
          <a:prstGeom prst="rect">
            <a:avLst/>
          </a:prstGeom>
        </p:spPr>
        <p:txBody>
          <a:bodyPr lIns="0" tIns="0" rIns="0" bIns="0" rtlCol="0" anchor="t">
            <a:spAutoFit/>
          </a:bodyPr>
          <a:lstStyle/>
          <a:p>
            <a:pPr algn="l">
              <a:lnSpc>
                <a:spcPts val="4868"/>
              </a:lnSpc>
            </a:pPr>
            <a:r>
              <a:rPr lang="en-US" sz="3477" b="1" spc="-163">
                <a:solidFill>
                  <a:srgbClr val="D0D7DD"/>
                </a:solidFill>
                <a:latin typeface="Open Sauce Heavy"/>
                <a:ea typeface="Open Sauce Heavy"/>
                <a:cs typeface="Open Sauce Heavy"/>
                <a:sym typeface="Open Sauce Heavy"/>
              </a:rPr>
              <a:t>Modern Penology</a:t>
            </a:r>
          </a:p>
        </p:txBody>
      </p:sp>
      <p:sp>
        <p:nvSpPr>
          <p:cNvPr id="12" name="AutoShape 12"/>
          <p:cNvSpPr/>
          <p:nvPr/>
        </p:nvSpPr>
        <p:spPr>
          <a:xfrm>
            <a:off x="6307466" y="4936579"/>
            <a:ext cx="1" cy="3930176"/>
          </a:xfrm>
          <a:prstGeom prst="line">
            <a:avLst/>
          </a:prstGeom>
          <a:ln w="19050" cap="flat">
            <a:solidFill>
              <a:srgbClr val="D0D7DD"/>
            </a:solidFill>
            <a:prstDash val="solid"/>
            <a:headEnd type="none" w="sm" len="sm"/>
            <a:tailEnd type="none" w="sm" len="sm"/>
          </a:ln>
        </p:spPr>
        <p:txBody>
          <a:bodyPr/>
          <a:lstStyle/>
          <a:p>
            <a:endParaRPr lang="en-US"/>
          </a:p>
        </p:txBody>
      </p:sp>
      <p:sp>
        <p:nvSpPr>
          <p:cNvPr id="13" name="AutoShape 13"/>
          <p:cNvSpPr/>
          <p:nvPr/>
        </p:nvSpPr>
        <p:spPr>
          <a:xfrm>
            <a:off x="11822589" y="4936579"/>
            <a:ext cx="1" cy="3930176"/>
          </a:xfrm>
          <a:prstGeom prst="line">
            <a:avLst/>
          </a:prstGeom>
          <a:ln w="19050" cap="flat">
            <a:solidFill>
              <a:srgbClr val="D0D7DD"/>
            </a:solidFill>
            <a:prstDash val="solid"/>
            <a:headEnd type="none" w="sm" len="sm"/>
            <a:tailEnd type="none" w="sm" len="sm"/>
          </a:ln>
        </p:spPr>
        <p:txBody>
          <a:bodyPr/>
          <a:lstStyle/>
          <a:p>
            <a:endParaRPr lang="en-US"/>
          </a:p>
        </p:txBody>
      </p:sp>
      <p:grpSp>
        <p:nvGrpSpPr>
          <p:cNvPr id="14" name="Group 14"/>
          <p:cNvGrpSpPr/>
          <p:nvPr/>
        </p:nvGrpSpPr>
        <p:grpSpPr>
          <a:xfrm>
            <a:off x="1288476" y="6746611"/>
            <a:ext cx="387050" cy="3870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6" name="TextBox 16"/>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grpSp>
        <p:nvGrpSpPr>
          <p:cNvPr id="17" name="Group 17"/>
          <p:cNvGrpSpPr/>
          <p:nvPr/>
        </p:nvGrpSpPr>
        <p:grpSpPr>
          <a:xfrm>
            <a:off x="6719666" y="6746611"/>
            <a:ext cx="387050" cy="38705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9" name="TextBox 19"/>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grpSp>
        <p:nvGrpSpPr>
          <p:cNvPr id="20" name="Group 20"/>
          <p:cNvGrpSpPr/>
          <p:nvPr/>
        </p:nvGrpSpPr>
        <p:grpSpPr>
          <a:xfrm>
            <a:off x="12232164" y="6746611"/>
            <a:ext cx="387050" cy="38705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22" name="TextBox 22"/>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744741" y="-1712143"/>
            <a:ext cx="13720908" cy="8881170"/>
          </a:xfrm>
          <a:custGeom>
            <a:avLst/>
            <a:gdLst/>
            <a:ahLst/>
            <a:cxnLst/>
            <a:rect l="l" t="t" r="r" b="b"/>
            <a:pathLst>
              <a:path w="13720908" h="8881170">
                <a:moveTo>
                  <a:pt x="0" y="0"/>
                </a:moveTo>
                <a:lnTo>
                  <a:pt x="13720908" y="0"/>
                </a:lnTo>
                <a:lnTo>
                  <a:pt x="13720908" y="8881170"/>
                </a:lnTo>
                <a:lnTo>
                  <a:pt x="0" y="8881170"/>
                </a:lnTo>
                <a:lnTo>
                  <a:pt x="0" y="0"/>
                </a:lnTo>
                <a:close/>
              </a:path>
            </a:pathLst>
          </a:custGeom>
          <a:blipFill>
            <a:blip r:embed="rId2" cstate="email">
              <a:alphaModFix amt="24000"/>
              <a:extLst>
                <a:ext uri="{28A0092B-C50C-407E-A947-70E740481C1C}">
                  <a14:useLocalDpi xmlns:a14="http://schemas.microsoft.com/office/drawing/2010/main"/>
                </a:ext>
              </a:extLst>
            </a:blip>
            <a:stretch>
              <a:fillRect/>
            </a:stretch>
          </a:blipFill>
        </p:spPr>
        <p:txBody>
          <a:bodyPr/>
          <a:lstStyle/>
          <a:p>
            <a:endParaRPr lang="en-US"/>
          </a:p>
        </p:txBody>
      </p:sp>
      <p:sp>
        <p:nvSpPr>
          <p:cNvPr id="3" name="Freeform 3"/>
          <p:cNvSpPr/>
          <p:nvPr/>
        </p:nvSpPr>
        <p:spPr>
          <a:xfrm>
            <a:off x="-5966414" y="3338967"/>
            <a:ext cx="13720908" cy="8881170"/>
          </a:xfrm>
          <a:custGeom>
            <a:avLst/>
            <a:gdLst/>
            <a:ahLst/>
            <a:cxnLst/>
            <a:rect l="l" t="t" r="r" b="b"/>
            <a:pathLst>
              <a:path w="13720908" h="8881170">
                <a:moveTo>
                  <a:pt x="0" y="0"/>
                </a:moveTo>
                <a:lnTo>
                  <a:pt x="13720908" y="0"/>
                </a:lnTo>
                <a:lnTo>
                  <a:pt x="13720908" y="8881169"/>
                </a:lnTo>
                <a:lnTo>
                  <a:pt x="0" y="8881169"/>
                </a:lnTo>
                <a:lnTo>
                  <a:pt x="0" y="0"/>
                </a:lnTo>
                <a:close/>
              </a:path>
            </a:pathLst>
          </a:custGeom>
          <a:blipFill>
            <a:blip r:embed="rId3">
              <a:alphaModFix amt="24000"/>
            </a:blip>
            <a:stretch>
              <a:fillRect/>
            </a:stretch>
          </a:blipFill>
        </p:spPr>
        <p:txBody>
          <a:bodyPr/>
          <a:lstStyle/>
          <a:p>
            <a:endParaRPr lang="en-US"/>
          </a:p>
        </p:txBody>
      </p:sp>
      <p:grpSp>
        <p:nvGrpSpPr>
          <p:cNvPr id="4" name="Group 4"/>
          <p:cNvGrpSpPr/>
          <p:nvPr/>
        </p:nvGrpSpPr>
        <p:grpSpPr>
          <a:xfrm>
            <a:off x="1028700" y="707067"/>
            <a:ext cx="16495548" cy="8551233"/>
            <a:chOff x="0" y="0"/>
            <a:chExt cx="4344507" cy="2252176"/>
          </a:xfrm>
        </p:grpSpPr>
        <p:sp>
          <p:nvSpPr>
            <p:cNvPr id="5" name="Freeform 5"/>
            <p:cNvSpPr/>
            <p:nvPr/>
          </p:nvSpPr>
          <p:spPr>
            <a:xfrm>
              <a:off x="0" y="0"/>
              <a:ext cx="4344507" cy="2252176"/>
            </a:xfrm>
            <a:custGeom>
              <a:avLst/>
              <a:gdLst/>
              <a:ahLst/>
              <a:cxnLst/>
              <a:rect l="l" t="t" r="r" b="b"/>
              <a:pathLst>
                <a:path w="4344507" h="2252176">
                  <a:moveTo>
                    <a:pt x="43648" y="0"/>
                  </a:moveTo>
                  <a:lnTo>
                    <a:pt x="4300858" y="0"/>
                  </a:lnTo>
                  <a:cubicBezTo>
                    <a:pt x="4312435" y="0"/>
                    <a:pt x="4323537" y="4599"/>
                    <a:pt x="4331722" y="12784"/>
                  </a:cubicBezTo>
                  <a:cubicBezTo>
                    <a:pt x="4339908" y="20970"/>
                    <a:pt x="4344507" y="32072"/>
                    <a:pt x="4344507" y="43648"/>
                  </a:cubicBezTo>
                  <a:lnTo>
                    <a:pt x="4344507" y="2208528"/>
                  </a:lnTo>
                  <a:cubicBezTo>
                    <a:pt x="4344507" y="2232635"/>
                    <a:pt x="4324965" y="2252176"/>
                    <a:pt x="4300858" y="2252176"/>
                  </a:cubicBezTo>
                  <a:lnTo>
                    <a:pt x="43648" y="2252176"/>
                  </a:lnTo>
                  <a:cubicBezTo>
                    <a:pt x="19542" y="2252176"/>
                    <a:pt x="0" y="2232635"/>
                    <a:pt x="0" y="2208528"/>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6" name="TextBox 6"/>
            <p:cNvSpPr txBox="1"/>
            <p:nvPr/>
          </p:nvSpPr>
          <p:spPr>
            <a:xfrm>
              <a:off x="0" y="-28575"/>
              <a:ext cx="4344507" cy="2280751"/>
            </a:xfrm>
            <a:prstGeom prst="rect">
              <a:avLst/>
            </a:prstGeom>
          </p:spPr>
          <p:txBody>
            <a:bodyPr lIns="50800" tIns="50800" rIns="50800" bIns="50800" rtlCol="0" anchor="ctr"/>
            <a:lstStyle/>
            <a:p>
              <a:pPr algn="ctr">
                <a:lnSpc>
                  <a:spcPts val="2015"/>
                </a:lnSpc>
              </a:pPr>
              <a:endParaRPr/>
            </a:p>
          </p:txBody>
        </p:sp>
      </p:grpSp>
      <p:sp>
        <p:nvSpPr>
          <p:cNvPr id="7" name="AutoShape 7"/>
          <p:cNvSpPr/>
          <p:nvPr/>
        </p:nvSpPr>
        <p:spPr>
          <a:xfrm>
            <a:off x="1648404" y="3348492"/>
            <a:ext cx="9997421" cy="1"/>
          </a:xfrm>
          <a:prstGeom prst="line">
            <a:avLst/>
          </a:prstGeom>
          <a:ln w="19050" cap="flat">
            <a:solidFill>
              <a:srgbClr val="D0D7DD"/>
            </a:solidFill>
            <a:prstDash val="solid"/>
            <a:headEnd type="none" w="sm" len="sm"/>
            <a:tailEnd type="none" w="sm" len="sm"/>
          </a:ln>
        </p:spPr>
        <p:txBody>
          <a:bodyPr/>
          <a:lstStyle/>
          <a:p>
            <a:endParaRPr lang="en-US"/>
          </a:p>
        </p:txBody>
      </p:sp>
      <p:sp>
        <p:nvSpPr>
          <p:cNvPr id="8" name="TextBox 8"/>
          <p:cNvSpPr txBox="1"/>
          <p:nvPr/>
        </p:nvSpPr>
        <p:spPr>
          <a:xfrm>
            <a:off x="1648404" y="1435859"/>
            <a:ext cx="10028250" cy="2198370"/>
          </a:xfrm>
          <a:prstGeom prst="rect">
            <a:avLst/>
          </a:prstGeom>
        </p:spPr>
        <p:txBody>
          <a:bodyPr lIns="0" tIns="0" rIns="0" bIns="0" rtlCol="0" anchor="t">
            <a:spAutoFit/>
          </a:bodyPr>
          <a:lstStyle/>
          <a:p>
            <a:pPr algn="l">
              <a:lnSpc>
                <a:spcPts val="5640"/>
              </a:lnSpc>
            </a:pPr>
            <a:r>
              <a:rPr lang="en-US" sz="6000" b="1" spc="-282">
                <a:solidFill>
                  <a:srgbClr val="FFFFFF"/>
                </a:solidFill>
                <a:latin typeface="Open Sauce Heavy"/>
                <a:ea typeface="Open Sauce Heavy"/>
                <a:cs typeface="Open Sauce Heavy"/>
                <a:sym typeface="Open Sauce Heavy"/>
              </a:rPr>
              <a:t>Modernization of Correctional Facilities</a:t>
            </a:r>
          </a:p>
          <a:p>
            <a:pPr algn="l">
              <a:lnSpc>
                <a:spcPts val="5640"/>
              </a:lnSpc>
            </a:pPr>
            <a:endParaRPr lang="en-US" sz="6000" b="1" spc="-282">
              <a:solidFill>
                <a:srgbClr val="FFFFFF"/>
              </a:solidFill>
              <a:latin typeface="Open Sauce Heavy"/>
              <a:ea typeface="Open Sauce Heavy"/>
              <a:cs typeface="Open Sauce Heavy"/>
              <a:sym typeface="Open Sauce Heavy"/>
            </a:endParaRPr>
          </a:p>
        </p:txBody>
      </p:sp>
      <p:sp>
        <p:nvSpPr>
          <p:cNvPr id="9" name="TextBox 9"/>
          <p:cNvSpPr txBox="1"/>
          <p:nvPr/>
        </p:nvSpPr>
        <p:spPr>
          <a:xfrm>
            <a:off x="1648404" y="3897935"/>
            <a:ext cx="6485946" cy="12439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Modernize prison facilities to improve living conditions and security.</a:t>
            </a:r>
          </a:p>
          <a:p>
            <a:pPr algn="l">
              <a:lnSpc>
                <a:spcPts val="3359"/>
              </a:lnSpc>
            </a:pPr>
            <a:endParaRPr lang="en-US" sz="2400" spc="-112">
              <a:solidFill>
                <a:srgbClr val="FFFFFF"/>
              </a:solidFill>
              <a:latin typeface="Open Sauce Light"/>
              <a:ea typeface="Open Sauce Light"/>
              <a:cs typeface="Open Sauce Light"/>
              <a:sym typeface="Open Sauce Light"/>
            </a:endParaRPr>
          </a:p>
        </p:txBody>
      </p:sp>
      <p:sp>
        <p:nvSpPr>
          <p:cNvPr id="10" name="TextBox 10"/>
          <p:cNvSpPr txBox="1"/>
          <p:nvPr/>
        </p:nvSpPr>
        <p:spPr>
          <a:xfrm>
            <a:off x="1648404" y="5109515"/>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Adopt digital record management systems for efficient inmate monitoring.</a:t>
            </a:r>
          </a:p>
        </p:txBody>
      </p:sp>
      <p:sp>
        <p:nvSpPr>
          <p:cNvPr id="11" name="TextBox 11"/>
          <p:cNvSpPr txBox="1"/>
          <p:nvPr/>
        </p:nvSpPr>
        <p:spPr>
          <a:xfrm>
            <a:off x="1648404" y="6321095"/>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Improve healthcare, sanitation, and housing within correctional institutions.</a:t>
            </a:r>
          </a:p>
        </p:txBody>
      </p:sp>
      <p:sp>
        <p:nvSpPr>
          <p:cNvPr id="12" name="TextBox 12"/>
          <p:cNvSpPr txBox="1"/>
          <p:nvPr/>
        </p:nvSpPr>
        <p:spPr>
          <a:xfrm>
            <a:off x="1648404" y="7532675"/>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Enhance safety for both inmates and correctional personnel.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744741" y="-1712143"/>
            <a:ext cx="13720908" cy="8881170"/>
          </a:xfrm>
          <a:custGeom>
            <a:avLst/>
            <a:gdLst/>
            <a:ahLst/>
            <a:cxnLst/>
            <a:rect l="l" t="t" r="r" b="b"/>
            <a:pathLst>
              <a:path w="13720908" h="8881170">
                <a:moveTo>
                  <a:pt x="0" y="0"/>
                </a:moveTo>
                <a:lnTo>
                  <a:pt x="13720908" y="0"/>
                </a:lnTo>
                <a:lnTo>
                  <a:pt x="13720908" y="8881170"/>
                </a:lnTo>
                <a:lnTo>
                  <a:pt x="0" y="8881170"/>
                </a:lnTo>
                <a:lnTo>
                  <a:pt x="0" y="0"/>
                </a:lnTo>
                <a:close/>
              </a:path>
            </a:pathLst>
          </a:custGeom>
          <a:blipFill>
            <a:blip r:embed="rId2" cstate="email">
              <a:alphaModFix amt="24000"/>
              <a:extLst>
                <a:ext uri="{28A0092B-C50C-407E-A947-70E740481C1C}">
                  <a14:useLocalDpi xmlns:a14="http://schemas.microsoft.com/office/drawing/2010/main"/>
                </a:ext>
              </a:extLst>
            </a:blip>
            <a:stretch>
              <a:fillRect/>
            </a:stretch>
          </a:blipFill>
        </p:spPr>
        <p:txBody>
          <a:bodyPr/>
          <a:lstStyle/>
          <a:p>
            <a:endParaRPr lang="en-US"/>
          </a:p>
        </p:txBody>
      </p:sp>
      <p:sp>
        <p:nvSpPr>
          <p:cNvPr id="3" name="Freeform 3"/>
          <p:cNvSpPr/>
          <p:nvPr/>
        </p:nvSpPr>
        <p:spPr>
          <a:xfrm>
            <a:off x="-5966414" y="3338967"/>
            <a:ext cx="13720908" cy="8881170"/>
          </a:xfrm>
          <a:custGeom>
            <a:avLst/>
            <a:gdLst/>
            <a:ahLst/>
            <a:cxnLst/>
            <a:rect l="l" t="t" r="r" b="b"/>
            <a:pathLst>
              <a:path w="13720908" h="8881170">
                <a:moveTo>
                  <a:pt x="0" y="0"/>
                </a:moveTo>
                <a:lnTo>
                  <a:pt x="13720908" y="0"/>
                </a:lnTo>
                <a:lnTo>
                  <a:pt x="13720908" y="8881169"/>
                </a:lnTo>
                <a:lnTo>
                  <a:pt x="0" y="8881169"/>
                </a:lnTo>
                <a:lnTo>
                  <a:pt x="0" y="0"/>
                </a:lnTo>
                <a:close/>
              </a:path>
            </a:pathLst>
          </a:custGeom>
          <a:blipFill>
            <a:blip r:embed="rId3">
              <a:alphaModFix amt="24000"/>
            </a:blip>
            <a:stretch>
              <a:fillRect/>
            </a:stretch>
          </a:blipFill>
        </p:spPr>
        <p:txBody>
          <a:bodyPr/>
          <a:lstStyle/>
          <a:p>
            <a:endParaRPr lang="en-US"/>
          </a:p>
        </p:txBody>
      </p:sp>
      <p:grpSp>
        <p:nvGrpSpPr>
          <p:cNvPr id="4" name="Group 4"/>
          <p:cNvGrpSpPr/>
          <p:nvPr/>
        </p:nvGrpSpPr>
        <p:grpSpPr>
          <a:xfrm>
            <a:off x="1028700" y="707067"/>
            <a:ext cx="16495548" cy="8551233"/>
            <a:chOff x="0" y="0"/>
            <a:chExt cx="4344507" cy="2252176"/>
          </a:xfrm>
        </p:grpSpPr>
        <p:sp>
          <p:nvSpPr>
            <p:cNvPr id="5" name="Freeform 5"/>
            <p:cNvSpPr/>
            <p:nvPr/>
          </p:nvSpPr>
          <p:spPr>
            <a:xfrm>
              <a:off x="0" y="0"/>
              <a:ext cx="4344507" cy="2252176"/>
            </a:xfrm>
            <a:custGeom>
              <a:avLst/>
              <a:gdLst/>
              <a:ahLst/>
              <a:cxnLst/>
              <a:rect l="l" t="t" r="r" b="b"/>
              <a:pathLst>
                <a:path w="4344507" h="2252176">
                  <a:moveTo>
                    <a:pt x="43648" y="0"/>
                  </a:moveTo>
                  <a:lnTo>
                    <a:pt x="4300858" y="0"/>
                  </a:lnTo>
                  <a:cubicBezTo>
                    <a:pt x="4312435" y="0"/>
                    <a:pt x="4323537" y="4599"/>
                    <a:pt x="4331722" y="12784"/>
                  </a:cubicBezTo>
                  <a:cubicBezTo>
                    <a:pt x="4339908" y="20970"/>
                    <a:pt x="4344507" y="32072"/>
                    <a:pt x="4344507" y="43648"/>
                  </a:cubicBezTo>
                  <a:lnTo>
                    <a:pt x="4344507" y="2208528"/>
                  </a:lnTo>
                  <a:cubicBezTo>
                    <a:pt x="4344507" y="2232635"/>
                    <a:pt x="4324965" y="2252176"/>
                    <a:pt x="4300858" y="2252176"/>
                  </a:cubicBezTo>
                  <a:lnTo>
                    <a:pt x="43648" y="2252176"/>
                  </a:lnTo>
                  <a:cubicBezTo>
                    <a:pt x="19542" y="2252176"/>
                    <a:pt x="0" y="2232635"/>
                    <a:pt x="0" y="2208528"/>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6" name="TextBox 6"/>
            <p:cNvSpPr txBox="1"/>
            <p:nvPr/>
          </p:nvSpPr>
          <p:spPr>
            <a:xfrm>
              <a:off x="0" y="-28575"/>
              <a:ext cx="4344507" cy="2280751"/>
            </a:xfrm>
            <a:prstGeom prst="rect">
              <a:avLst/>
            </a:prstGeom>
          </p:spPr>
          <p:txBody>
            <a:bodyPr lIns="50800" tIns="50800" rIns="50800" bIns="50800" rtlCol="0" anchor="ctr"/>
            <a:lstStyle/>
            <a:p>
              <a:pPr algn="ctr">
                <a:lnSpc>
                  <a:spcPts val="2015"/>
                </a:lnSpc>
              </a:pPr>
              <a:endParaRPr/>
            </a:p>
          </p:txBody>
        </p:sp>
      </p:grpSp>
      <p:sp>
        <p:nvSpPr>
          <p:cNvPr id="7" name="AutoShape 7"/>
          <p:cNvSpPr/>
          <p:nvPr/>
        </p:nvSpPr>
        <p:spPr>
          <a:xfrm>
            <a:off x="1648404" y="3348492"/>
            <a:ext cx="9997421" cy="1"/>
          </a:xfrm>
          <a:prstGeom prst="line">
            <a:avLst/>
          </a:prstGeom>
          <a:ln w="19050" cap="flat">
            <a:solidFill>
              <a:srgbClr val="D0D7DD"/>
            </a:solidFill>
            <a:prstDash val="solid"/>
            <a:headEnd type="none" w="sm" len="sm"/>
            <a:tailEnd type="none" w="sm" len="sm"/>
          </a:ln>
        </p:spPr>
        <p:txBody>
          <a:bodyPr/>
          <a:lstStyle/>
          <a:p>
            <a:endParaRPr lang="en-US"/>
          </a:p>
        </p:txBody>
      </p:sp>
      <p:sp>
        <p:nvSpPr>
          <p:cNvPr id="8" name="TextBox 8"/>
          <p:cNvSpPr txBox="1"/>
          <p:nvPr/>
        </p:nvSpPr>
        <p:spPr>
          <a:xfrm>
            <a:off x="1648404" y="1435859"/>
            <a:ext cx="10028250" cy="2198370"/>
          </a:xfrm>
          <a:prstGeom prst="rect">
            <a:avLst/>
          </a:prstGeom>
        </p:spPr>
        <p:txBody>
          <a:bodyPr lIns="0" tIns="0" rIns="0" bIns="0" rtlCol="0" anchor="t">
            <a:spAutoFit/>
          </a:bodyPr>
          <a:lstStyle/>
          <a:p>
            <a:pPr algn="l">
              <a:lnSpc>
                <a:spcPts val="5640"/>
              </a:lnSpc>
            </a:pPr>
            <a:r>
              <a:rPr lang="en-US" sz="6000" b="1" spc="-282">
                <a:solidFill>
                  <a:srgbClr val="FFFFFF"/>
                </a:solidFill>
                <a:latin typeface="Open Sauce Heavy"/>
                <a:ea typeface="Open Sauce Heavy"/>
                <a:cs typeface="Open Sauce Heavy"/>
                <a:sym typeface="Open Sauce Heavy"/>
              </a:rPr>
              <a:t>Expansion of Rehabilitation Programs</a:t>
            </a:r>
          </a:p>
          <a:p>
            <a:pPr algn="l">
              <a:lnSpc>
                <a:spcPts val="5640"/>
              </a:lnSpc>
            </a:pPr>
            <a:endParaRPr lang="en-US" sz="6000" b="1" spc="-282">
              <a:solidFill>
                <a:srgbClr val="FFFFFF"/>
              </a:solidFill>
              <a:latin typeface="Open Sauce Heavy"/>
              <a:ea typeface="Open Sauce Heavy"/>
              <a:cs typeface="Open Sauce Heavy"/>
              <a:sym typeface="Open Sauce Heavy"/>
            </a:endParaRPr>
          </a:p>
        </p:txBody>
      </p:sp>
      <p:sp>
        <p:nvSpPr>
          <p:cNvPr id="9" name="TextBox 9"/>
          <p:cNvSpPr txBox="1"/>
          <p:nvPr/>
        </p:nvSpPr>
        <p:spPr>
          <a:xfrm>
            <a:off x="1648404" y="3897935"/>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Expand educational and vocational training programs.</a:t>
            </a:r>
          </a:p>
        </p:txBody>
      </p:sp>
      <p:sp>
        <p:nvSpPr>
          <p:cNvPr id="10" name="TextBox 10"/>
          <p:cNvSpPr txBox="1"/>
          <p:nvPr/>
        </p:nvSpPr>
        <p:spPr>
          <a:xfrm>
            <a:off x="1648404" y="4989500"/>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Offer more livelihood opportunities and skills certification.</a:t>
            </a:r>
          </a:p>
        </p:txBody>
      </p:sp>
      <p:sp>
        <p:nvSpPr>
          <p:cNvPr id="11" name="TextBox 11"/>
          <p:cNvSpPr txBox="1"/>
          <p:nvPr/>
        </p:nvSpPr>
        <p:spPr>
          <a:xfrm>
            <a:off x="1648404" y="6081065"/>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Increase access to counseling, mental health, and behavioral interventions.</a:t>
            </a:r>
          </a:p>
        </p:txBody>
      </p:sp>
      <p:sp>
        <p:nvSpPr>
          <p:cNvPr id="12" name="TextBox 12"/>
          <p:cNvSpPr txBox="1"/>
          <p:nvPr/>
        </p:nvSpPr>
        <p:spPr>
          <a:xfrm>
            <a:off x="1648404" y="7343307"/>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Equip inmates with skills needed for employment after release.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a:off x="6744741" y="-1712143"/>
            <a:ext cx="13720908" cy="8881170"/>
          </a:xfrm>
          <a:custGeom>
            <a:avLst/>
            <a:gdLst/>
            <a:ahLst/>
            <a:cxnLst/>
            <a:rect l="l" t="t" r="r" b="b"/>
            <a:pathLst>
              <a:path w="13720908" h="8881170">
                <a:moveTo>
                  <a:pt x="0" y="0"/>
                </a:moveTo>
                <a:lnTo>
                  <a:pt x="13720908" y="0"/>
                </a:lnTo>
                <a:lnTo>
                  <a:pt x="13720908" y="8881170"/>
                </a:lnTo>
                <a:lnTo>
                  <a:pt x="0" y="8881170"/>
                </a:lnTo>
                <a:lnTo>
                  <a:pt x="0" y="0"/>
                </a:lnTo>
                <a:close/>
              </a:path>
            </a:pathLst>
          </a:custGeom>
          <a:blipFill>
            <a:blip r:embed="rId2">
              <a:alphaModFix amt="24000"/>
            </a:blip>
            <a:stretch>
              <a:fillRect/>
            </a:stretch>
          </a:blipFill>
        </p:spPr>
        <p:txBody>
          <a:bodyPr/>
          <a:lstStyle/>
          <a:p>
            <a:endParaRPr lang="en-US"/>
          </a:p>
        </p:txBody>
      </p:sp>
      <p:sp>
        <p:nvSpPr>
          <p:cNvPr id="3" name="Freeform 3"/>
          <p:cNvSpPr/>
          <p:nvPr/>
        </p:nvSpPr>
        <p:spPr>
          <a:xfrm>
            <a:off x="-5966414" y="3338967"/>
            <a:ext cx="13720908" cy="8881170"/>
          </a:xfrm>
          <a:custGeom>
            <a:avLst/>
            <a:gdLst/>
            <a:ahLst/>
            <a:cxnLst/>
            <a:rect l="l" t="t" r="r" b="b"/>
            <a:pathLst>
              <a:path w="13720908" h="8881170">
                <a:moveTo>
                  <a:pt x="0" y="0"/>
                </a:moveTo>
                <a:lnTo>
                  <a:pt x="13720908" y="0"/>
                </a:lnTo>
                <a:lnTo>
                  <a:pt x="13720908" y="8881169"/>
                </a:lnTo>
                <a:lnTo>
                  <a:pt x="0" y="8881169"/>
                </a:lnTo>
                <a:lnTo>
                  <a:pt x="0" y="0"/>
                </a:lnTo>
                <a:close/>
              </a:path>
            </a:pathLst>
          </a:custGeom>
          <a:blipFill>
            <a:blip r:embed="rId2">
              <a:alphaModFix amt="24000"/>
            </a:blip>
            <a:stretch>
              <a:fillRect/>
            </a:stretch>
          </a:blipFill>
        </p:spPr>
        <p:txBody>
          <a:bodyPr/>
          <a:lstStyle/>
          <a:p>
            <a:endParaRPr lang="en-US"/>
          </a:p>
        </p:txBody>
      </p:sp>
      <p:grpSp>
        <p:nvGrpSpPr>
          <p:cNvPr id="4" name="Group 4"/>
          <p:cNvGrpSpPr/>
          <p:nvPr/>
        </p:nvGrpSpPr>
        <p:grpSpPr>
          <a:xfrm>
            <a:off x="1028700" y="707067"/>
            <a:ext cx="16495548" cy="8551233"/>
            <a:chOff x="0" y="0"/>
            <a:chExt cx="4344507" cy="2252176"/>
          </a:xfrm>
        </p:grpSpPr>
        <p:sp>
          <p:nvSpPr>
            <p:cNvPr id="5" name="Freeform 5"/>
            <p:cNvSpPr/>
            <p:nvPr/>
          </p:nvSpPr>
          <p:spPr>
            <a:xfrm>
              <a:off x="0" y="0"/>
              <a:ext cx="4344507" cy="2252176"/>
            </a:xfrm>
            <a:custGeom>
              <a:avLst/>
              <a:gdLst/>
              <a:ahLst/>
              <a:cxnLst/>
              <a:rect l="l" t="t" r="r" b="b"/>
              <a:pathLst>
                <a:path w="4344507" h="2252176">
                  <a:moveTo>
                    <a:pt x="43648" y="0"/>
                  </a:moveTo>
                  <a:lnTo>
                    <a:pt x="4300858" y="0"/>
                  </a:lnTo>
                  <a:cubicBezTo>
                    <a:pt x="4312435" y="0"/>
                    <a:pt x="4323537" y="4599"/>
                    <a:pt x="4331722" y="12784"/>
                  </a:cubicBezTo>
                  <a:cubicBezTo>
                    <a:pt x="4339908" y="20970"/>
                    <a:pt x="4344507" y="32072"/>
                    <a:pt x="4344507" y="43648"/>
                  </a:cubicBezTo>
                  <a:lnTo>
                    <a:pt x="4344507" y="2208528"/>
                  </a:lnTo>
                  <a:cubicBezTo>
                    <a:pt x="4344507" y="2232635"/>
                    <a:pt x="4324965" y="2252176"/>
                    <a:pt x="4300858" y="2252176"/>
                  </a:cubicBezTo>
                  <a:lnTo>
                    <a:pt x="43648" y="2252176"/>
                  </a:lnTo>
                  <a:cubicBezTo>
                    <a:pt x="19542" y="2252176"/>
                    <a:pt x="0" y="2232635"/>
                    <a:pt x="0" y="2208528"/>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6" name="TextBox 6"/>
            <p:cNvSpPr txBox="1"/>
            <p:nvPr/>
          </p:nvSpPr>
          <p:spPr>
            <a:xfrm>
              <a:off x="0" y="-28575"/>
              <a:ext cx="4344507" cy="2280751"/>
            </a:xfrm>
            <a:prstGeom prst="rect">
              <a:avLst/>
            </a:prstGeom>
          </p:spPr>
          <p:txBody>
            <a:bodyPr lIns="50800" tIns="50800" rIns="50800" bIns="50800" rtlCol="0" anchor="ctr"/>
            <a:lstStyle/>
            <a:p>
              <a:pPr algn="ctr">
                <a:lnSpc>
                  <a:spcPts val="2015"/>
                </a:lnSpc>
              </a:pPr>
              <a:endParaRPr/>
            </a:p>
          </p:txBody>
        </p:sp>
      </p:grpSp>
      <p:sp>
        <p:nvSpPr>
          <p:cNvPr id="7" name="AutoShape 7"/>
          <p:cNvSpPr/>
          <p:nvPr/>
        </p:nvSpPr>
        <p:spPr>
          <a:xfrm>
            <a:off x="1648404" y="3348492"/>
            <a:ext cx="9997421" cy="1"/>
          </a:xfrm>
          <a:prstGeom prst="line">
            <a:avLst/>
          </a:prstGeom>
          <a:ln w="19050" cap="flat">
            <a:solidFill>
              <a:srgbClr val="D0D7DD"/>
            </a:solidFill>
            <a:prstDash val="solid"/>
            <a:headEnd type="none" w="sm" len="sm"/>
            <a:tailEnd type="none" w="sm" len="sm"/>
          </a:ln>
        </p:spPr>
        <p:txBody>
          <a:bodyPr/>
          <a:lstStyle/>
          <a:p>
            <a:endParaRPr lang="en-US"/>
          </a:p>
        </p:txBody>
      </p:sp>
      <p:sp>
        <p:nvSpPr>
          <p:cNvPr id="8" name="TextBox 8"/>
          <p:cNvSpPr txBox="1"/>
          <p:nvPr/>
        </p:nvSpPr>
        <p:spPr>
          <a:xfrm>
            <a:off x="1648404" y="1435859"/>
            <a:ext cx="10028250" cy="2198370"/>
          </a:xfrm>
          <a:prstGeom prst="rect">
            <a:avLst/>
          </a:prstGeom>
        </p:spPr>
        <p:txBody>
          <a:bodyPr lIns="0" tIns="0" rIns="0" bIns="0" rtlCol="0" anchor="t">
            <a:spAutoFit/>
          </a:bodyPr>
          <a:lstStyle/>
          <a:p>
            <a:pPr algn="l">
              <a:lnSpc>
                <a:spcPts val="5640"/>
              </a:lnSpc>
            </a:pPr>
            <a:r>
              <a:rPr lang="en-US" sz="6000" b="1" spc="-282">
                <a:solidFill>
                  <a:srgbClr val="FFFFFF"/>
                </a:solidFill>
                <a:latin typeface="Open Sauce Heavy"/>
                <a:ea typeface="Open Sauce Heavy"/>
                <a:cs typeface="Open Sauce Heavy"/>
                <a:sym typeface="Open Sauce Heavy"/>
              </a:rPr>
              <a:t>Partnerships and Community Support</a:t>
            </a:r>
          </a:p>
          <a:p>
            <a:pPr algn="l">
              <a:lnSpc>
                <a:spcPts val="5640"/>
              </a:lnSpc>
            </a:pPr>
            <a:endParaRPr lang="en-US" sz="6000" b="1" spc="-282">
              <a:solidFill>
                <a:srgbClr val="FFFFFF"/>
              </a:solidFill>
              <a:latin typeface="Open Sauce Heavy"/>
              <a:ea typeface="Open Sauce Heavy"/>
              <a:cs typeface="Open Sauce Heavy"/>
              <a:sym typeface="Open Sauce Heavy"/>
            </a:endParaRPr>
          </a:p>
        </p:txBody>
      </p:sp>
      <p:sp>
        <p:nvSpPr>
          <p:cNvPr id="9" name="TextBox 9"/>
          <p:cNvSpPr txBox="1"/>
          <p:nvPr/>
        </p:nvSpPr>
        <p:spPr>
          <a:xfrm>
            <a:off x="1648404" y="3897935"/>
            <a:ext cx="6485946"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112">
                <a:solidFill>
                  <a:srgbClr val="FFFFFF"/>
                </a:solidFill>
                <a:latin typeface="Open Sauce Light"/>
                <a:ea typeface="Open Sauce Light"/>
                <a:cs typeface="Open Sauce Light"/>
                <a:sym typeface="Open Sauce Light"/>
              </a:rPr>
              <a:t>Partner with NGOs, educational institutions, and private organizations.</a:t>
            </a:r>
          </a:p>
        </p:txBody>
      </p:sp>
      <p:sp>
        <p:nvSpPr>
          <p:cNvPr id="10" name="TextBox 10"/>
          <p:cNvSpPr txBox="1"/>
          <p:nvPr/>
        </p:nvSpPr>
        <p:spPr>
          <a:xfrm>
            <a:off x="1648404" y="5119040"/>
            <a:ext cx="6485946" cy="763270"/>
          </a:xfrm>
          <a:prstGeom prst="rect">
            <a:avLst/>
          </a:prstGeom>
        </p:spPr>
        <p:txBody>
          <a:bodyPr lIns="0" tIns="0" rIns="0" bIns="0" rtlCol="0" anchor="t">
            <a:spAutoFit/>
          </a:bodyPr>
          <a:lstStyle/>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Develop employment opportunities for former inmates.</a:t>
            </a:r>
          </a:p>
        </p:txBody>
      </p:sp>
      <p:sp>
        <p:nvSpPr>
          <p:cNvPr id="11" name="TextBox 11"/>
          <p:cNvSpPr txBox="1"/>
          <p:nvPr/>
        </p:nvSpPr>
        <p:spPr>
          <a:xfrm>
            <a:off x="1648404" y="6330620"/>
            <a:ext cx="6485946" cy="763270"/>
          </a:xfrm>
          <a:prstGeom prst="rect">
            <a:avLst/>
          </a:prstGeom>
        </p:spPr>
        <p:txBody>
          <a:bodyPr lIns="0" tIns="0" rIns="0" bIns="0" rtlCol="0" anchor="t">
            <a:spAutoFit/>
          </a:bodyPr>
          <a:lstStyle/>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Encourage community-based reintegration programs.</a:t>
            </a:r>
          </a:p>
        </p:txBody>
      </p:sp>
      <p:sp>
        <p:nvSpPr>
          <p:cNvPr id="12" name="TextBox 12"/>
          <p:cNvSpPr txBox="1"/>
          <p:nvPr/>
        </p:nvSpPr>
        <p:spPr>
          <a:xfrm>
            <a:off x="1648404" y="7542200"/>
            <a:ext cx="6485946" cy="763270"/>
          </a:xfrm>
          <a:prstGeom prst="rect">
            <a:avLst/>
          </a:prstGeom>
        </p:spPr>
        <p:txBody>
          <a:bodyPr lIns="0" tIns="0" rIns="0" bIns="0" rtlCol="0" anchor="t">
            <a:spAutoFit/>
          </a:bodyPr>
          <a:lstStyle/>
          <a:p>
            <a:pPr marL="474979" lvl="1" indent="-237490" algn="l">
              <a:lnSpc>
                <a:spcPts val="3079"/>
              </a:lnSpc>
              <a:buFont typeface="Arial"/>
              <a:buChar char="•"/>
            </a:pPr>
            <a:r>
              <a:rPr lang="en-US" sz="2199" spc="-103">
                <a:solidFill>
                  <a:srgbClr val="FFFFFF"/>
                </a:solidFill>
                <a:latin typeface="Open Sauce Light"/>
                <a:ea typeface="Open Sauce Light"/>
                <a:cs typeface="Open Sauce Light"/>
                <a:sym typeface="Open Sauce Light"/>
              </a:rPr>
              <a:t>Promote public awareness to reduce stigma against ex-offenders.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a:off x="786630" y="1632294"/>
            <a:ext cx="16714740" cy="10818995"/>
          </a:xfrm>
          <a:custGeom>
            <a:avLst/>
            <a:gdLst/>
            <a:ahLst/>
            <a:cxnLst/>
            <a:rect l="l" t="t" r="r" b="b"/>
            <a:pathLst>
              <a:path w="16714740" h="10818995">
                <a:moveTo>
                  <a:pt x="0" y="0"/>
                </a:moveTo>
                <a:lnTo>
                  <a:pt x="16714740" y="0"/>
                </a:lnTo>
                <a:lnTo>
                  <a:pt x="16714740" y="10818995"/>
                </a:lnTo>
                <a:lnTo>
                  <a:pt x="0" y="10818995"/>
                </a:lnTo>
                <a:lnTo>
                  <a:pt x="0" y="0"/>
                </a:lnTo>
                <a:close/>
              </a:path>
            </a:pathLst>
          </a:custGeom>
          <a:blipFill>
            <a:blip r:embed="rId2">
              <a:alphaModFix amt="24000"/>
            </a:blip>
            <a:stretch>
              <a:fillRect/>
            </a:stretch>
          </a:blipFill>
        </p:spPr>
        <p:txBody>
          <a:bodyPr/>
          <a:lstStyle/>
          <a:p>
            <a:endParaRPr lang="en-US"/>
          </a:p>
        </p:txBody>
      </p:sp>
      <p:sp>
        <p:nvSpPr>
          <p:cNvPr id="3" name="TextBox 3"/>
          <p:cNvSpPr txBox="1"/>
          <p:nvPr/>
        </p:nvSpPr>
        <p:spPr>
          <a:xfrm>
            <a:off x="6244783" y="779206"/>
            <a:ext cx="6040059" cy="1406223"/>
          </a:xfrm>
          <a:prstGeom prst="rect">
            <a:avLst/>
          </a:prstGeom>
        </p:spPr>
        <p:txBody>
          <a:bodyPr lIns="0" tIns="0" rIns="0" bIns="0" rtlCol="0" anchor="t">
            <a:spAutoFit/>
          </a:bodyPr>
          <a:lstStyle/>
          <a:p>
            <a:pPr algn="l">
              <a:lnSpc>
                <a:spcPts val="10307"/>
              </a:lnSpc>
            </a:pPr>
            <a:r>
              <a:rPr lang="en-US" sz="10965" b="1" spc="-515">
                <a:solidFill>
                  <a:srgbClr val="424242"/>
                </a:solidFill>
                <a:latin typeface="Open Sauce Heavy"/>
                <a:ea typeface="Open Sauce Heavy"/>
                <a:cs typeface="Open Sauce Heavy"/>
                <a:sym typeface="Open Sauce Heavy"/>
              </a:rPr>
              <a:t>Threats</a:t>
            </a:r>
          </a:p>
        </p:txBody>
      </p:sp>
      <p:grpSp>
        <p:nvGrpSpPr>
          <p:cNvPr id="4" name="Group 4"/>
          <p:cNvGrpSpPr/>
          <p:nvPr/>
        </p:nvGrpSpPr>
        <p:grpSpPr>
          <a:xfrm>
            <a:off x="1028700" y="3061729"/>
            <a:ext cx="7428904" cy="2998333"/>
            <a:chOff x="0" y="0"/>
            <a:chExt cx="1956584" cy="789684"/>
          </a:xfrm>
        </p:grpSpPr>
        <p:sp>
          <p:nvSpPr>
            <p:cNvPr id="5" name="Freeform 5"/>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6" name="TextBox 6"/>
            <p:cNvSpPr txBox="1"/>
            <p:nvPr/>
          </p:nvSpPr>
          <p:spPr>
            <a:xfrm>
              <a:off x="0" y="-28575"/>
              <a:ext cx="1956584" cy="818259"/>
            </a:xfrm>
            <a:prstGeom prst="rect">
              <a:avLst/>
            </a:prstGeom>
          </p:spPr>
          <p:txBody>
            <a:bodyPr lIns="50800" tIns="50800" rIns="50800" bIns="50800" rtlCol="0" anchor="ctr"/>
            <a:lstStyle/>
            <a:p>
              <a:pPr algn="ctr">
                <a:lnSpc>
                  <a:spcPts val="2015"/>
                </a:lnSpc>
              </a:pPr>
              <a:endParaRPr/>
            </a:p>
          </p:txBody>
        </p:sp>
      </p:grpSp>
      <p:grpSp>
        <p:nvGrpSpPr>
          <p:cNvPr id="7" name="Group 7"/>
          <p:cNvGrpSpPr/>
          <p:nvPr/>
        </p:nvGrpSpPr>
        <p:grpSpPr>
          <a:xfrm>
            <a:off x="1177090" y="4023012"/>
            <a:ext cx="1154202" cy="804358"/>
            <a:chOff x="0" y="0"/>
            <a:chExt cx="303987" cy="211847"/>
          </a:xfrm>
        </p:grpSpPr>
        <p:sp>
          <p:nvSpPr>
            <p:cNvPr id="8" name="Freeform 8"/>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txBody>
            <a:bodyPr/>
            <a:lstStyle/>
            <a:p>
              <a:endParaRPr lang="en-US"/>
            </a:p>
          </p:txBody>
        </p:sp>
        <p:sp>
          <p:nvSpPr>
            <p:cNvPr id="9" name="TextBox 9"/>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grpSp>
        <p:nvGrpSpPr>
          <p:cNvPr id="10" name="Group 10"/>
          <p:cNvGrpSpPr/>
          <p:nvPr/>
        </p:nvGrpSpPr>
        <p:grpSpPr>
          <a:xfrm>
            <a:off x="5429548" y="6933885"/>
            <a:ext cx="7428904" cy="2998333"/>
            <a:chOff x="0" y="0"/>
            <a:chExt cx="1956584" cy="789684"/>
          </a:xfrm>
        </p:grpSpPr>
        <p:sp>
          <p:nvSpPr>
            <p:cNvPr id="11" name="Freeform 11"/>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12" name="TextBox 12"/>
            <p:cNvSpPr txBox="1"/>
            <p:nvPr/>
          </p:nvSpPr>
          <p:spPr>
            <a:xfrm>
              <a:off x="0" y="-28575"/>
              <a:ext cx="1956584" cy="818259"/>
            </a:xfrm>
            <a:prstGeom prst="rect">
              <a:avLst/>
            </a:prstGeom>
          </p:spPr>
          <p:txBody>
            <a:bodyPr lIns="50800" tIns="50800" rIns="50800" bIns="50800" rtlCol="0" anchor="ctr"/>
            <a:lstStyle/>
            <a:p>
              <a:pPr marL="0" lvl="0" indent="0" algn="ctr">
                <a:lnSpc>
                  <a:spcPts val="2015"/>
                </a:lnSpc>
                <a:spcBef>
                  <a:spcPct val="0"/>
                </a:spcBef>
              </a:pPr>
              <a:endParaRPr/>
            </a:p>
          </p:txBody>
        </p:sp>
      </p:grpSp>
      <p:grpSp>
        <p:nvGrpSpPr>
          <p:cNvPr id="13" name="Group 13"/>
          <p:cNvGrpSpPr/>
          <p:nvPr/>
        </p:nvGrpSpPr>
        <p:grpSpPr>
          <a:xfrm>
            <a:off x="9830396" y="3061729"/>
            <a:ext cx="7428904" cy="2998333"/>
            <a:chOff x="0" y="0"/>
            <a:chExt cx="1956584" cy="789684"/>
          </a:xfrm>
        </p:grpSpPr>
        <p:sp>
          <p:nvSpPr>
            <p:cNvPr id="14" name="Freeform 14"/>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15" name="TextBox 15"/>
            <p:cNvSpPr txBox="1"/>
            <p:nvPr/>
          </p:nvSpPr>
          <p:spPr>
            <a:xfrm>
              <a:off x="0" y="-28575"/>
              <a:ext cx="1956584" cy="818259"/>
            </a:xfrm>
            <a:prstGeom prst="rect">
              <a:avLst/>
            </a:prstGeom>
          </p:spPr>
          <p:txBody>
            <a:bodyPr lIns="50800" tIns="50800" rIns="50800" bIns="50800" rtlCol="0" anchor="ctr"/>
            <a:lstStyle/>
            <a:p>
              <a:pPr marL="0" lvl="0" indent="0" algn="ctr">
                <a:lnSpc>
                  <a:spcPts val="2015"/>
                </a:lnSpc>
                <a:spcBef>
                  <a:spcPct val="0"/>
                </a:spcBef>
              </a:pPr>
              <a:endParaRPr/>
            </a:p>
          </p:txBody>
        </p:sp>
      </p:grpSp>
      <p:grpSp>
        <p:nvGrpSpPr>
          <p:cNvPr id="16" name="Group 16"/>
          <p:cNvGrpSpPr/>
          <p:nvPr/>
        </p:nvGrpSpPr>
        <p:grpSpPr>
          <a:xfrm>
            <a:off x="9986187" y="4023012"/>
            <a:ext cx="1154202" cy="804358"/>
            <a:chOff x="0" y="0"/>
            <a:chExt cx="303987" cy="211847"/>
          </a:xfrm>
        </p:grpSpPr>
        <p:sp>
          <p:nvSpPr>
            <p:cNvPr id="17" name="Freeform 17"/>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txBody>
            <a:bodyPr/>
            <a:lstStyle/>
            <a:p>
              <a:endParaRPr lang="en-US"/>
            </a:p>
          </p:txBody>
        </p:sp>
        <p:sp>
          <p:nvSpPr>
            <p:cNvPr id="18" name="TextBox 18"/>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grpSp>
        <p:nvGrpSpPr>
          <p:cNvPr id="19" name="Group 19"/>
          <p:cNvGrpSpPr/>
          <p:nvPr/>
        </p:nvGrpSpPr>
        <p:grpSpPr>
          <a:xfrm>
            <a:off x="5667683" y="7921873"/>
            <a:ext cx="1154202" cy="804358"/>
            <a:chOff x="0" y="0"/>
            <a:chExt cx="303987" cy="211847"/>
          </a:xfrm>
        </p:grpSpPr>
        <p:sp>
          <p:nvSpPr>
            <p:cNvPr id="20" name="Freeform 20"/>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txBody>
            <a:bodyPr/>
            <a:lstStyle/>
            <a:p>
              <a:endParaRPr lang="en-US"/>
            </a:p>
          </p:txBody>
        </p:sp>
        <p:sp>
          <p:nvSpPr>
            <p:cNvPr id="21" name="TextBox 21"/>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sp>
        <p:nvSpPr>
          <p:cNvPr id="22" name="TextBox 22"/>
          <p:cNvSpPr txBox="1"/>
          <p:nvPr/>
        </p:nvSpPr>
        <p:spPr>
          <a:xfrm>
            <a:off x="10153526" y="4246692"/>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02</a:t>
            </a:r>
          </a:p>
        </p:txBody>
      </p:sp>
      <p:sp>
        <p:nvSpPr>
          <p:cNvPr id="23" name="TextBox 23"/>
          <p:cNvSpPr txBox="1"/>
          <p:nvPr/>
        </p:nvSpPr>
        <p:spPr>
          <a:xfrm>
            <a:off x="5835021" y="8145554"/>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03</a:t>
            </a:r>
          </a:p>
        </p:txBody>
      </p:sp>
      <p:sp>
        <p:nvSpPr>
          <p:cNvPr id="24" name="TextBox 24"/>
          <p:cNvSpPr txBox="1"/>
          <p:nvPr/>
        </p:nvSpPr>
        <p:spPr>
          <a:xfrm>
            <a:off x="11473764" y="4091815"/>
            <a:ext cx="4815344" cy="1309497"/>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Security Risks and Prison Violence</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25" name="TextBox 25"/>
          <p:cNvSpPr txBox="1"/>
          <p:nvPr/>
        </p:nvSpPr>
        <p:spPr>
          <a:xfrm>
            <a:off x="7217373" y="7841237"/>
            <a:ext cx="4815344" cy="1309497"/>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Social Stigma and Reintegration Barriers</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
        <p:nvSpPr>
          <p:cNvPr id="26" name="TextBox 26"/>
          <p:cNvSpPr txBox="1"/>
          <p:nvPr/>
        </p:nvSpPr>
        <p:spPr>
          <a:xfrm>
            <a:off x="1344429" y="4246692"/>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01</a:t>
            </a:r>
          </a:p>
        </p:txBody>
      </p:sp>
      <p:sp>
        <p:nvSpPr>
          <p:cNvPr id="27" name="TextBox 27"/>
          <p:cNvSpPr txBox="1"/>
          <p:nvPr/>
        </p:nvSpPr>
        <p:spPr>
          <a:xfrm>
            <a:off x="2664420" y="4091815"/>
            <a:ext cx="4157464" cy="1309497"/>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sym typeface="Open Sauce Heavy"/>
              </a:rPr>
              <a:t>Increasing Inmate Population</a:t>
            </a:r>
          </a:p>
          <a:p>
            <a:pPr algn="l">
              <a:lnSpc>
                <a:spcPts val="3383"/>
              </a:lnSpc>
            </a:pPr>
            <a:endParaRPr lang="en-US" sz="3600" b="1" spc="-169">
              <a:solidFill>
                <a:srgbClr val="424242"/>
              </a:solidFill>
              <a:latin typeface="Open Sauce Heavy"/>
              <a:ea typeface="Open Sauce Heavy"/>
              <a:cs typeface="Open Sauce Heavy"/>
              <a:sym typeface="Open Sauce Heavy"/>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grpSp>
        <p:nvGrpSpPr>
          <p:cNvPr id="3" name="Group 3"/>
          <p:cNvGrpSpPr/>
          <p:nvPr/>
        </p:nvGrpSpPr>
        <p:grpSpPr>
          <a:xfrm>
            <a:off x="7279224" y="3860540"/>
            <a:ext cx="2894965" cy="941546"/>
            <a:chOff x="0" y="0"/>
            <a:chExt cx="762460" cy="247979"/>
          </a:xfrm>
        </p:grpSpPr>
        <p:sp>
          <p:nvSpPr>
            <p:cNvPr id="4" name="Freeform 4"/>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5" name="TextBox 5"/>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6" name="Group 6"/>
          <p:cNvGrpSpPr/>
          <p:nvPr/>
        </p:nvGrpSpPr>
        <p:grpSpPr>
          <a:xfrm>
            <a:off x="896226" y="4802086"/>
            <a:ext cx="16495548" cy="4547013"/>
            <a:chOff x="0" y="0"/>
            <a:chExt cx="4344507" cy="1197567"/>
          </a:xfrm>
        </p:grpSpPr>
        <p:sp>
          <p:nvSpPr>
            <p:cNvPr id="7" name="Freeform 7"/>
            <p:cNvSpPr/>
            <p:nvPr/>
          </p:nvSpPr>
          <p:spPr>
            <a:xfrm>
              <a:off x="0" y="0"/>
              <a:ext cx="4344507" cy="1197567"/>
            </a:xfrm>
            <a:custGeom>
              <a:avLst/>
              <a:gdLst/>
              <a:ahLst/>
              <a:cxnLst/>
              <a:rect l="l" t="t" r="r" b="b"/>
              <a:pathLst>
                <a:path w="4344507" h="1197567">
                  <a:moveTo>
                    <a:pt x="30976" y="0"/>
                  </a:moveTo>
                  <a:lnTo>
                    <a:pt x="4313531" y="0"/>
                  </a:lnTo>
                  <a:cubicBezTo>
                    <a:pt x="4321746" y="0"/>
                    <a:pt x="4329625" y="3264"/>
                    <a:pt x="4335434" y="9073"/>
                  </a:cubicBezTo>
                  <a:cubicBezTo>
                    <a:pt x="4341243" y="14882"/>
                    <a:pt x="4344507" y="22761"/>
                    <a:pt x="4344507" y="30976"/>
                  </a:cubicBezTo>
                  <a:lnTo>
                    <a:pt x="4344507" y="1166591"/>
                  </a:lnTo>
                  <a:cubicBezTo>
                    <a:pt x="4344507" y="1174807"/>
                    <a:pt x="4341243" y="1182685"/>
                    <a:pt x="4335434" y="1188495"/>
                  </a:cubicBezTo>
                  <a:cubicBezTo>
                    <a:pt x="4329625" y="1194304"/>
                    <a:pt x="4321746" y="1197567"/>
                    <a:pt x="4313531" y="1197567"/>
                  </a:cubicBezTo>
                  <a:lnTo>
                    <a:pt x="30976" y="1197567"/>
                  </a:lnTo>
                  <a:cubicBezTo>
                    <a:pt x="22761" y="1197567"/>
                    <a:pt x="14882" y="1194304"/>
                    <a:pt x="9073" y="1188495"/>
                  </a:cubicBezTo>
                  <a:cubicBezTo>
                    <a:pt x="3264" y="1182685"/>
                    <a:pt x="0" y="1174807"/>
                    <a:pt x="0" y="1166591"/>
                  </a:cubicBezTo>
                  <a:lnTo>
                    <a:pt x="0" y="30976"/>
                  </a:lnTo>
                  <a:cubicBezTo>
                    <a:pt x="0" y="22761"/>
                    <a:pt x="3264" y="14882"/>
                    <a:pt x="9073" y="9073"/>
                  </a:cubicBezTo>
                  <a:cubicBezTo>
                    <a:pt x="14882" y="3264"/>
                    <a:pt x="22761" y="0"/>
                    <a:pt x="30976" y="0"/>
                  </a:cubicBezTo>
                  <a:close/>
                </a:path>
              </a:pathLst>
            </a:custGeom>
            <a:solidFill>
              <a:srgbClr val="D0D7DD"/>
            </a:solidFill>
            <a:ln w="19050" cap="rnd">
              <a:solidFill>
                <a:srgbClr val="424242"/>
              </a:solidFill>
              <a:prstDash val="solid"/>
              <a:round/>
            </a:ln>
          </p:spPr>
          <p:txBody>
            <a:bodyPr/>
            <a:lstStyle/>
            <a:p>
              <a:endParaRPr lang="en-US"/>
            </a:p>
          </p:txBody>
        </p:sp>
        <p:sp>
          <p:nvSpPr>
            <p:cNvPr id="8" name="TextBox 8"/>
            <p:cNvSpPr txBox="1"/>
            <p:nvPr/>
          </p:nvSpPr>
          <p:spPr>
            <a:xfrm>
              <a:off x="0" y="-28575"/>
              <a:ext cx="4344507" cy="1226142"/>
            </a:xfrm>
            <a:prstGeom prst="rect">
              <a:avLst/>
            </a:prstGeom>
          </p:spPr>
          <p:txBody>
            <a:bodyPr lIns="50800" tIns="50800" rIns="50800" bIns="50800" rtlCol="0" anchor="ctr"/>
            <a:lstStyle/>
            <a:p>
              <a:pPr marL="0" lvl="0" indent="0" algn="ctr">
                <a:lnSpc>
                  <a:spcPts val="2015"/>
                </a:lnSpc>
                <a:spcBef>
                  <a:spcPct val="0"/>
                </a:spcBef>
              </a:pPr>
              <a:endParaRPr/>
            </a:p>
          </p:txBody>
        </p:sp>
      </p:grpSp>
      <p:sp>
        <p:nvSpPr>
          <p:cNvPr id="9" name="TextBox 9"/>
          <p:cNvSpPr txBox="1"/>
          <p:nvPr/>
        </p:nvSpPr>
        <p:spPr>
          <a:xfrm>
            <a:off x="7279224" y="4105167"/>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01</a:t>
            </a:r>
          </a:p>
        </p:txBody>
      </p:sp>
      <p:sp>
        <p:nvSpPr>
          <p:cNvPr id="10" name="TextBox 10"/>
          <p:cNvSpPr txBox="1"/>
          <p:nvPr/>
        </p:nvSpPr>
        <p:spPr>
          <a:xfrm>
            <a:off x="1028700" y="998160"/>
            <a:ext cx="15717223" cy="3654424"/>
          </a:xfrm>
          <a:prstGeom prst="rect">
            <a:avLst/>
          </a:prstGeom>
        </p:spPr>
        <p:txBody>
          <a:bodyPr lIns="0" tIns="0" rIns="0" bIns="0" rtlCol="0" anchor="t">
            <a:spAutoFit/>
          </a:bodyPr>
          <a:lstStyle/>
          <a:p>
            <a:pPr algn="l">
              <a:lnSpc>
                <a:spcPts val="9399"/>
              </a:lnSpc>
            </a:pPr>
            <a:r>
              <a:rPr lang="en-US" sz="9999" b="1" spc="-469">
                <a:solidFill>
                  <a:srgbClr val="000000"/>
                </a:solidFill>
                <a:latin typeface="Open Sauce Heavy"/>
                <a:ea typeface="Open Sauce Heavy"/>
                <a:cs typeface="Open Sauce Heavy"/>
                <a:sym typeface="Open Sauce Heavy"/>
              </a:rPr>
              <a:t>Increasing Inmate Population</a:t>
            </a:r>
          </a:p>
          <a:p>
            <a:pPr algn="l">
              <a:lnSpc>
                <a:spcPts val="9399"/>
              </a:lnSpc>
            </a:pPr>
            <a:endParaRPr lang="en-US" sz="9999" b="1" spc="-469">
              <a:solidFill>
                <a:srgbClr val="000000"/>
              </a:solidFill>
              <a:latin typeface="Open Sauce Heavy"/>
              <a:ea typeface="Open Sauce Heavy"/>
              <a:cs typeface="Open Sauce Heavy"/>
              <a:sym typeface="Open Sauce Heavy"/>
            </a:endParaRPr>
          </a:p>
        </p:txBody>
      </p:sp>
      <p:sp>
        <p:nvSpPr>
          <p:cNvPr id="11" name="TextBox 11"/>
          <p:cNvSpPr txBox="1"/>
          <p:nvPr/>
        </p:nvSpPr>
        <p:spPr>
          <a:xfrm>
            <a:off x="1592499" y="5623762"/>
            <a:ext cx="3138649" cy="25012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Rising crime rates and court convictions may increase the number of inmates.</a:t>
            </a:r>
          </a:p>
        </p:txBody>
      </p:sp>
      <p:sp>
        <p:nvSpPr>
          <p:cNvPr id="12" name="TextBox 12"/>
          <p:cNvSpPr txBox="1"/>
          <p:nvPr/>
        </p:nvSpPr>
        <p:spPr>
          <a:xfrm>
            <a:off x="5297662" y="5623762"/>
            <a:ext cx="2743245" cy="20821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Facilities may become more congested than their intended capacity.</a:t>
            </a:r>
          </a:p>
        </p:txBody>
      </p:sp>
      <p:sp>
        <p:nvSpPr>
          <p:cNvPr id="13" name="TextBox 13"/>
          <p:cNvSpPr txBox="1"/>
          <p:nvPr/>
        </p:nvSpPr>
        <p:spPr>
          <a:xfrm>
            <a:off x="9288682" y="5623762"/>
            <a:ext cx="2743245" cy="20821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Overcrowding can strain correctional resources and services.</a:t>
            </a:r>
          </a:p>
        </p:txBody>
      </p:sp>
      <p:sp>
        <p:nvSpPr>
          <p:cNvPr id="14" name="TextBox 14"/>
          <p:cNvSpPr txBox="1"/>
          <p:nvPr/>
        </p:nvSpPr>
        <p:spPr>
          <a:xfrm>
            <a:off x="13286957" y="5623762"/>
            <a:ext cx="2743245" cy="20821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It may reduce the effectiveness of rehabilitation programs.</a:t>
            </a:r>
          </a:p>
        </p:txBody>
      </p:sp>
      <p:sp>
        <p:nvSpPr>
          <p:cNvPr id="15" name="AutoShape 15"/>
          <p:cNvSpPr/>
          <p:nvPr/>
        </p:nvSpPr>
        <p:spPr>
          <a:xfrm flipH="1">
            <a:off x="872670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16" name="AutoShape 16"/>
          <p:cNvSpPr/>
          <p:nvPr/>
        </p:nvSpPr>
        <p:spPr>
          <a:xfrm flipH="1">
            <a:off x="473114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17" name="AutoShape 17"/>
          <p:cNvSpPr/>
          <p:nvPr/>
        </p:nvSpPr>
        <p:spPr>
          <a:xfrm>
            <a:off x="12724982"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grpSp>
        <p:nvGrpSpPr>
          <p:cNvPr id="3" name="Group 3"/>
          <p:cNvGrpSpPr/>
          <p:nvPr/>
        </p:nvGrpSpPr>
        <p:grpSpPr>
          <a:xfrm>
            <a:off x="7279224" y="3860540"/>
            <a:ext cx="2894965" cy="941546"/>
            <a:chOff x="0" y="0"/>
            <a:chExt cx="762460" cy="247979"/>
          </a:xfrm>
        </p:grpSpPr>
        <p:sp>
          <p:nvSpPr>
            <p:cNvPr id="4" name="Freeform 4"/>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5" name="TextBox 5"/>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6" name="Group 6"/>
          <p:cNvGrpSpPr/>
          <p:nvPr/>
        </p:nvGrpSpPr>
        <p:grpSpPr>
          <a:xfrm>
            <a:off x="896226" y="4802086"/>
            <a:ext cx="16495548" cy="4547013"/>
            <a:chOff x="0" y="0"/>
            <a:chExt cx="4344507" cy="1197567"/>
          </a:xfrm>
        </p:grpSpPr>
        <p:sp>
          <p:nvSpPr>
            <p:cNvPr id="7" name="Freeform 7"/>
            <p:cNvSpPr/>
            <p:nvPr/>
          </p:nvSpPr>
          <p:spPr>
            <a:xfrm>
              <a:off x="0" y="0"/>
              <a:ext cx="4344507" cy="1197567"/>
            </a:xfrm>
            <a:custGeom>
              <a:avLst/>
              <a:gdLst/>
              <a:ahLst/>
              <a:cxnLst/>
              <a:rect l="l" t="t" r="r" b="b"/>
              <a:pathLst>
                <a:path w="4344507" h="1197567">
                  <a:moveTo>
                    <a:pt x="30976" y="0"/>
                  </a:moveTo>
                  <a:lnTo>
                    <a:pt x="4313531" y="0"/>
                  </a:lnTo>
                  <a:cubicBezTo>
                    <a:pt x="4321746" y="0"/>
                    <a:pt x="4329625" y="3264"/>
                    <a:pt x="4335434" y="9073"/>
                  </a:cubicBezTo>
                  <a:cubicBezTo>
                    <a:pt x="4341243" y="14882"/>
                    <a:pt x="4344507" y="22761"/>
                    <a:pt x="4344507" y="30976"/>
                  </a:cubicBezTo>
                  <a:lnTo>
                    <a:pt x="4344507" y="1166591"/>
                  </a:lnTo>
                  <a:cubicBezTo>
                    <a:pt x="4344507" y="1174807"/>
                    <a:pt x="4341243" y="1182685"/>
                    <a:pt x="4335434" y="1188495"/>
                  </a:cubicBezTo>
                  <a:cubicBezTo>
                    <a:pt x="4329625" y="1194304"/>
                    <a:pt x="4321746" y="1197567"/>
                    <a:pt x="4313531" y="1197567"/>
                  </a:cubicBezTo>
                  <a:lnTo>
                    <a:pt x="30976" y="1197567"/>
                  </a:lnTo>
                  <a:cubicBezTo>
                    <a:pt x="22761" y="1197567"/>
                    <a:pt x="14882" y="1194304"/>
                    <a:pt x="9073" y="1188495"/>
                  </a:cubicBezTo>
                  <a:cubicBezTo>
                    <a:pt x="3264" y="1182685"/>
                    <a:pt x="0" y="1174807"/>
                    <a:pt x="0" y="1166591"/>
                  </a:cubicBezTo>
                  <a:lnTo>
                    <a:pt x="0" y="30976"/>
                  </a:lnTo>
                  <a:cubicBezTo>
                    <a:pt x="0" y="22761"/>
                    <a:pt x="3264" y="14882"/>
                    <a:pt x="9073" y="9073"/>
                  </a:cubicBezTo>
                  <a:cubicBezTo>
                    <a:pt x="14882" y="3264"/>
                    <a:pt x="22761" y="0"/>
                    <a:pt x="30976" y="0"/>
                  </a:cubicBezTo>
                  <a:close/>
                </a:path>
              </a:pathLst>
            </a:custGeom>
            <a:solidFill>
              <a:srgbClr val="D0D7DD"/>
            </a:solidFill>
            <a:ln w="19050" cap="rnd">
              <a:solidFill>
                <a:srgbClr val="424242"/>
              </a:solidFill>
              <a:prstDash val="solid"/>
              <a:round/>
            </a:ln>
          </p:spPr>
          <p:txBody>
            <a:bodyPr/>
            <a:lstStyle/>
            <a:p>
              <a:endParaRPr lang="en-US"/>
            </a:p>
          </p:txBody>
        </p:sp>
        <p:sp>
          <p:nvSpPr>
            <p:cNvPr id="8" name="TextBox 8"/>
            <p:cNvSpPr txBox="1"/>
            <p:nvPr/>
          </p:nvSpPr>
          <p:spPr>
            <a:xfrm>
              <a:off x="0" y="-28575"/>
              <a:ext cx="4344507" cy="1226142"/>
            </a:xfrm>
            <a:prstGeom prst="rect">
              <a:avLst/>
            </a:prstGeom>
          </p:spPr>
          <p:txBody>
            <a:bodyPr lIns="50800" tIns="50800" rIns="50800" bIns="50800" rtlCol="0" anchor="ctr"/>
            <a:lstStyle/>
            <a:p>
              <a:pPr marL="0" lvl="0" indent="0" algn="ctr">
                <a:lnSpc>
                  <a:spcPts val="2015"/>
                </a:lnSpc>
                <a:spcBef>
                  <a:spcPct val="0"/>
                </a:spcBef>
              </a:pPr>
              <a:endParaRPr/>
            </a:p>
          </p:txBody>
        </p:sp>
      </p:grpSp>
      <p:sp>
        <p:nvSpPr>
          <p:cNvPr id="9" name="TextBox 9"/>
          <p:cNvSpPr txBox="1"/>
          <p:nvPr/>
        </p:nvSpPr>
        <p:spPr>
          <a:xfrm>
            <a:off x="7279224" y="4105167"/>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02</a:t>
            </a:r>
          </a:p>
        </p:txBody>
      </p:sp>
      <p:sp>
        <p:nvSpPr>
          <p:cNvPr id="10" name="TextBox 10"/>
          <p:cNvSpPr txBox="1"/>
          <p:nvPr/>
        </p:nvSpPr>
        <p:spPr>
          <a:xfrm>
            <a:off x="1028700" y="998160"/>
            <a:ext cx="15460534" cy="3654424"/>
          </a:xfrm>
          <a:prstGeom prst="rect">
            <a:avLst/>
          </a:prstGeom>
        </p:spPr>
        <p:txBody>
          <a:bodyPr lIns="0" tIns="0" rIns="0" bIns="0" rtlCol="0" anchor="t">
            <a:spAutoFit/>
          </a:bodyPr>
          <a:lstStyle/>
          <a:p>
            <a:pPr algn="l">
              <a:lnSpc>
                <a:spcPts val="9399"/>
              </a:lnSpc>
            </a:pPr>
            <a:r>
              <a:rPr lang="en-US" sz="9999" b="1" spc="-469">
                <a:solidFill>
                  <a:srgbClr val="000000"/>
                </a:solidFill>
                <a:latin typeface="Open Sauce Heavy"/>
                <a:ea typeface="Open Sauce Heavy"/>
                <a:cs typeface="Open Sauce Heavy"/>
                <a:sym typeface="Open Sauce Heavy"/>
              </a:rPr>
              <a:t>Security Risks and Prison Violence</a:t>
            </a:r>
          </a:p>
          <a:p>
            <a:pPr algn="l">
              <a:lnSpc>
                <a:spcPts val="9399"/>
              </a:lnSpc>
            </a:pPr>
            <a:endParaRPr lang="en-US" sz="9999" b="1" spc="-469">
              <a:solidFill>
                <a:srgbClr val="000000"/>
              </a:solidFill>
              <a:latin typeface="Open Sauce Heavy"/>
              <a:ea typeface="Open Sauce Heavy"/>
              <a:cs typeface="Open Sauce Heavy"/>
              <a:sym typeface="Open Sauce Heavy"/>
            </a:endParaRPr>
          </a:p>
        </p:txBody>
      </p:sp>
      <p:sp>
        <p:nvSpPr>
          <p:cNvPr id="11" name="TextBox 11"/>
          <p:cNvSpPr txBox="1"/>
          <p:nvPr/>
        </p:nvSpPr>
        <p:spPr>
          <a:xfrm>
            <a:off x="1592499" y="5623762"/>
            <a:ext cx="3138649" cy="16630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Presence of gangs and organized inmate groups within facilities.</a:t>
            </a:r>
          </a:p>
        </p:txBody>
      </p:sp>
      <p:sp>
        <p:nvSpPr>
          <p:cNvPr id="12" name="TextBox 12"/>
          <p:cNvSpPr txBox="1"/>
          <p:nvPr/>
        </p:nvSpPr>
        <p:spPr>
          <a:xfrm>
            <a:off x="5297662" y="5623762"/>
            <a:ext cx="2743245" cy="20821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Smuggling of contraband such as illegal drugs and weapons.</a:t>
            </a:r>
          </a:p>
        </p:txBody>
      </p:sp>
      <p:sp>
        <p:nvSpPr>
          <p:cNvPr id="13" name="TextBox 13"/>
          <p:cNvSpPr txBox="1"/>
          <p:nvPr/>
        </p:nvSpPr>
        <p:spPr>
          <a:xfrm>
            <a:off x="9288682" y="5623762"/>
            <a:ext cx="2743245" cy="20821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Potential for inmate violence, riots, and security breaches.</a:t>
            </a:r>
          </a:p>
        </p:txBody>
      </p:sp>
      <p:sp>
        <p:nvSpPr>
          <p:cNvPr id="14" name="TextBox 14"/>
          <p:cNvSpPr txBox="1"/>
          <p:nvPr/>
        </p:nvSpPr>
        <p:spPr>
          <a:xfrm>
            <a:off x="13286957" y="5623762"/>
            <a:ext cx="2743245" cy="29203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Threats can endanger inmates, correctional officers, and facility operations.</a:t>
            </a:r>
          </a:p>
        </p:txBody>
      </p:sp>
      <p:sp>
        <p:nvSpPr>
          <p:cNvPr id="15" name="AutoShape 15"/>
          <p:cNvSpPr/>
          <p:nvPr/>
        </p:nvSpPr>
        <p:spPr>
          <a:xfrm flipH="1">
            <a:off x="872670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16" name="AutoShape 16"/>
          <p:cNvSpPr/>
          <p:nvPr/>
        </p:nvSpPr>
        <p:spPr>
          <a:xfrm flipH="1">
            <a:off x="473114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17" name="AutoShape 17"/>
          <p:cNvSpPr/>
          <p:nvPr/>
        </p:nvSpPr>
        <p:spPr>
          <a:xfrm>
            <a:off x="12724982"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grpSp>
        <p:nvGrpSpPr>
          <p:cNvPr id="3" name="Group 3"/>
          <p:cNvGrpSpPr/>
          <p:nvPr/>
        </p:nvGrpSpPr>
        <p:grpSpPr>
          <a:xfrm>
            <a:off x="7279224" y="3860540"/>
            <a:ext cx="2894965" cy="941546"/>
            <a:chOff x="0" y="0"/>
            <a:chExt cx="762460" cy="247979"/>
          </a:xfrm>
        </p:grpSpPr>
        <p:sp>
          <p:nvSpPr>
            <p:cNvPr id="4" name="Freeform 4"/>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5" name="TextBox 5"/>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6" name="Group 6"/>
          <p:cNvGrpSpPr/>
          <p:nvPr/>
        </p:nvGrpSpPr>
        <p:grpSpPr>
          <a:xfrm>
            <a:off x="896226" y="4802086"/>
            <a:ext cx="16495548" cy="4547013"/>
            <a:chOff x="0" y="0"/>
            <a:chExt cx="4344507" cy="1197567"/>
          </a:xfrm>
        </p:grpSpPr>
        <p:sp>
          <p:nvSpPr>
            <p:cNvPr id="7" name="Freeform 7"/>
            <p:cNvSpPr/>
            <p:nvPr/>
          </p:nvSpPr>
          <p:spPr>
            <a:xfrm>
              <a:off x="0" y="0"/>
              <a:ext cx="4344507" cy="1197567"/>
            </a:xfrm>
            <a:custGeom>
              <a:avLst/>
              <a:gdLst/>
              <a:ahLst/>
              <a:cxnLst/>
              <a:rect l="l" t="t" r="r" b="b"/>
              <a:pathLst>
                <a:path w="4344507" h="1197567">
                  <a:moveTo>
                    <a:pt x="30976" y="0"/>
                  </a:moveTo>
                  <a:lnTo>
                    <a:pt x="4313531" y="0"/>
                  </a:lnTo>
                  <a:cubicBezTo>
                    <a:pt x="4321746" y="0"/>
                    <a:pt x="4329625" y="3264"/>
                    <a:pt x="4335434" y="9073"/>
                  </a:cubicBezTo>
                  <a:cubicBezTo>
                    <a:pt x="4341243" y="14882"/>
                    <a:pt x="4344507" y="22761"/>
                    <a:pt x="4344507" y="30976"/>
                  </a:cubicBezTo>
                  <a:lnTo>
                    <a:pt x="4344507" y="1166591"/>
                  </a:lnTo>
                  <a:cubicBezTo>
                    <a:pt x="4344507" y="1174807"/>
                    <a:pt x="4341243" y="1182685"/>
                    <a:pt x="4335434" y="1188495"/>
                  </a:cubicBezTo>
                  <a:cubicBezTo>
                    <a:pt x="4329625" y="1194304"/>
                    <a:pt x="4321746" y="1197567"/>
                    <a:pt x="4313531" y="1197567"/>
                  </a:cubicBezTo>
                  <a:lnTo>
                    <a:pt x="30976" y="1197567"/>
                  </a:lnTo>
                  <a:cubicBezTo>
                    <a:pt x="22761" y="1197567"/>
                    <a:pt x="14882" y="1194304"/>
                    <a:pt x="9073" y="1188495"/>
                  </a:cubicBezTo>
                  <a:cubicBezTo>
                    <a:pt x="3264" y="1182685"/>
                    <a:pt x="0" y="1174807"/>
                    <a:pt x="0" y="1166591"/>
                  </a:cubicBezTo>
                  <a:lnTo>
                    <a:pt x="0" y="30976"/>
                  </a:lnTo>
                  <a:cubicBezTo>
                    <a:pt x="0" y="22761"/>
                    <a:pt x="3264" y="14882"/>
                    <a:pt x="9073" y="9073"/>
                  </a:cubicBezTo>
                  <a:cubicBezTo>
                    <a:pt x="14882" y="3264"/>
                    <a:pt x="22761" y="0"/>
                    <a:pt x="30976" y="0"/>
                  </a:cubicBezTo>
                  <a:close/>
                </a:path>
              </a:pathLst>
            </a:custGeom>
            <a:solidFill>
              <a:srgbClr val="D0D7DD"/>
            </a:solidFill>
            <a:ln w="19050" cap="rnd">
              <a:solidFill>
                <a:srgbClr val="424242"/>
              </a:solidFill>
              <a:prstDash val="solid"/>
              <a:round/>
            </a:ln>
          </p:spPr>
          <p:txBody>
            <a:bodyPr/>
            <a:lstStyle/>
            <a:p>
              <a:endParaRPr lang="en-US"/>
            </a:p>
          </p:txBody>
        </p:sp>
        <p:sp>
          <p:nvSpPr>
            <p:cNvPr id="8" name="TextBox 8"/>
            <p:cNvSpPr txBox="1"/>
            <p:nvPr/>
          </p:nvSpPr>
          <p:spPr>
            <a:xfrm>
              <a:off x="0" y="-28575"/>
              <a:ext cx="4344507" cy="1226142"/>
            </a:xfrm>
            <a:prstGeom prst="rect">
              <a:avLst/>
            </a:prstGeom>
          </p:spPr>
          <p:txBody>
            <a:bodyPr lIns="50800" tIns="50800" rIns="50800" bIns="50800" rtlCol="0" anchor="ctr"/>
            <a:lstStyle/>
            <a:p>
              <a:pPr marL="0" lvl="0" indent="0" algn="ctr">
                <a:lnSpc>
                  <a:spcPts val="2015"/>
                </a:lnSpc>
                <a:spcBef>
                  <a:spcPct val="0"/>
                </a:spcBef>
              </a:pPr>
              <a:endParaRPr/>
            </a:p>
          </p:txBody>
        </p:sp>
      </p:grpSp>
      <p:sp>
        <p:nvSpPr>
          <p:cNvPr id="9" name="TextBox 9"/>
          <p:cNvSpPr txBox="1"/>
          <p:nvPr/>
        </p:nvSpPr>
        <p:spPr>
          <a:xfrm>
            <a:off x="7279224" y="4105167"/>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03</a:t>
            </a:r>
          </a:p>
        </p:txBody>
      </p:sp>
      <p:sp>
        <p:nvSpPr>
          <p:cNvPr id="10" name="TextBox 10"/>
          <p:cNvSpPr txBox="1"/>
          <p:nvPr/>
        </p:nvSpPr>
        <p:spPr>
          <a:xfrm>
            <a:off x="1028700" y="998160"/>
            <a:ext cx="15973911" cy="3654424"/>
          </a:xfrm>
          <a:prstGeom prst="rect">
            <a:avLst/>
          </a:prstGeom>
        </p:spPr>
        <p:txBody>
          <a:bodyPr lIns="0" tIns="0" rIns="0" bIns="0" rtlCol="0" anchor="t">
            <a:spAutoFit/>
          </a:bodyPr>
          <a:lstStyle/>
          <a:p>
            <a:pPr algn="l">
              <a:lnSpc>
                <a:spcPts val="9399"/>
              </a:lnSpc>
            </a:pPr>
            <a:r>
              <a:rPr lang="en-US" sz="9999" b="1" spc="-469">
                <a:solidFill>
                  <a:srgbClr val="000000"/>
                </a:solidFill>
                <a:latin typeface="Open Sauce Heavy"/>
                <a:ea typeface="Open Sauce Heavy"/>
                <a:cs typeface="Open Sauce Heavy"/>
                <a:sym typeface="Open Sauce Heavy"/>
              </a:rPr>
              <a:t>Social Stigma and Reintegration Barriers</a:t>
            </a:r>
          </a:p>
          <a:p>
            <a:pPr algn="l">
              <a:lnSpc>
                <a:spcPts val="9399"/>
              </a:lnSpc>
            </a:pPr>
            <a:endParaRPr lang="en-US" sz="9999" b="1" spc="-469">
              <a:solidFill>
                <a:srgbClr val="000000"/>
              </a:solidFill>
              <a:latin typeface="Open Sauce Heavy"/>
              <a:ea typeface="Open Sauce Heavy"/>
              <a:cs typeface="Open Sauce Heavy"/>
              <a:sym typeface="Open Sauce Heavy"/>
            </a:endParaRPr>
          </a:p>
        </p:txBody>
      </p:sp>
      <p:sp>
        <p:nvSpPr>
          <p:cNvPr id="11" name="TextBox 11"/>
          <p:cNvSpPr txBox="1"/>
          <p:nvPr/>
        </p:nvSpPr>
        <p:spPr>
          <a:xfrm>
            <a:off x="1592499" y="5623762"/>
            <a:ext cx="3138649" cy="25012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Former inmates often face discrimination in employment and social acceptance.</a:t>
            </a:r>
          </a:p>
        </p:txBody>
      </p:sp>
      <p:sp>
        <p:nvSpPr>
          <p:cNvPr id="12" name="TextBox 12"/>
          <p:cNvSpPr txBox="1"/>
          <p:nvPr/>
        </p:nvSpPr>
        <p:spPr>
          <a:xfrm>
            <a:off x="5297662" y="5623762"/>
            <a:ext cx="2743245" cy="20821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Limited job opportunities may make reintegration difficult.</a:t>
            </a:r>
          </a:p>
        </p:txBody>
      </p:sp>
      <p:sp>
        <p:nvSpPr>
          <p:cNvPr id="13" name="TextBox 13"/>
          <p:cNvSpPr txBox="1"/>
          <p:nvPr/>
        </p:nvSpPr>
        <p:spPr>
          <a:xfrm>
            <a:off x="9288682" y="5623762"/>
            <a:ext cx="2743245" cy="25012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Lack of community support can affect successful rehabilitation.</a:t>
            </a:r>
          </a:p>
        </p:txBody>
      </p:sp>
      <p:sp>
        <p:nvSpPr>
          <p:cNvPr id="14" name="TextBox 14"/>
          <p:cNvSpPr txBox="1"/>
          <p:nvPr/>
        </p:nvSpPr>
        <p:spPr>
          <a:xfrm>
            <a:off x="13286957" y="5623762"/>
            <a:ext cx="2743245" cy="2501265"/>
          </a:xfrm>
          <a:prstGeom prst="rect">
            <a:avLst/>
          </a:prstGeom>
        </p:spPr>
        <p:txBody>
          <a:bodyPr lIns="0" tIns="0" rIns="0" bIns="0" rtlCol="0" anchor="t">
            <a:spAutoFit/>
          </a:bodyPr>
          <a:lstStyle/>
          <a:p>
            <a:pPr marL="518160" lvl="1" indent="-259080" algn="l">
              <a:lnSpc>
                <a:spcPts val="3359"/>
              </a:lnSpc>
              <a:buFont typeface="Arial"/>
              <a:buChar char="•"/>
            </a:pPr>
            <a:r>
              <a:rPr lang="en-US" sz="2400" b="1" spc="-112">
                <a:solidFill>
                  <a:srgbClr val="000000"/>
                </a:solidFill>
                <a:latin typeface="Open Sauce Bold"/>
                <a:ea typeface="Open Sauce Bold"/>
                <a:cs typeface="Open Sauce Bold"/>
                <a:sym typeface="Open Sauce Bold"/>
              </a:rPr>
              <a:t>These challenges may increase the risk of recidivism or reoffending.</a:t>
            </a:r>
          </a:p>
        </p:txBody>
      </p:sp>
      <p:sp>
        <p:nvSpPr>
          <p:cNvPr id="15" name="AutoShape 15"/>
          <p:cNvSpPr/>
          <p:nvPr/>
        </p:nvSpPr>
        <p:spPr>
          <a:xfrm flipH="1">
            <a:off x="872670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16" name="AutoShape 16"/>
          <p:cNvSpPr/>
          <p:nvPr/>
        </p:nvSpPr>
        <p:spPr>
          <a:xfrm flipH="1">
            <a:off x="473114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17" name="AutoShape 17"/>
          <p:cNvSpPr/>
          <p:nvPr/>
        </p:nvSpPr>
        <p:spPr>
          <a:xfrm>
            <a:off x="12724982"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sp>
        <p:nvSpPr>
          <p:cNvPr id="3" name="Freeform 3"/>
          <p:cNvSpPr/>
          <p:nvPr/>
        </p:nvSpPr>
        <p:spPr>
          <a:xfrm>
            <a:off x="9897082" y="2601155"/>
            <a:ext cx="7018326" cy="7018326"/>
          </a:xfrm>
          <a:custGeom>
            <a:avLst/>
            <a:gdLst/>
            <a:ahLst/>
            <a:cxnLst/>
            <a:rect l="l" t="t" r="r" b="b"/>
            <a:pathLst>
              <a:path w="7018326" h="7018326">
                <a:moveTo>
                  <a:pt x="0" y="0"/>
                </a:moveTo>
                <a:lnTo>
                  <a:pt x="7018326" y="0"/>
                </a:lnTo>
                <a:lnTo>
                  <a:pt x="7018326" y="7018326"/>
                </a:lnTo>
                <a:lnTo>
                  <a:pt x="0" y="701832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1045785"/>
            <a:ext cx="16230600" cy="1555370"/>
          </a:xfrm>
          <a:prstGeom prst="rect">
            <a:avLst/>
          </a:prstGeom>
        </p:spPr>
        <p:txBody>
          <a:bodyPr lIns="0" tIns="0" rIns="0" bIns="0" rtlCol="0" anchor="t">
            <a:spAutoFit/>
          </a:bodyPr>
          <a:lstStyle/>
          <a:p>
            <a:pPr algn="ctr">
              <a:lnSpc>
                <a:spcPts val="11468"/>
              </a:lnSpc>
            </a:pPr>
            <a:r>
              <a:rPr lang="en-US" sz="12200" b="1" spc="-573">
                <a:solidFill>
                  <a:srgbClr val="FFFFFF"/>
                </a:solidFill>
                <a:latin typeface="Open Sauce Heavy"/>
                <a:ea typeface="Open Sauce Heavy"/>
                <a:cs typeface="Open Sauce Heavy"/>
                <a:sym typeface="Open Sauce Heavy"/>
              </a:rPr>
              <a:t>Conclusion</a:t>
            </a:r>
          </a:p>
        </p:txBody>
      </p:sp>
      <p:sp>
        <p:nvSpPr>
          <p:cNvPr id="5" name="TextBox 5"/>
          <p:cNvSpPr txBox="1"/>
          <p:nvPr/>
        </p:nvSpPr>
        <p:spPr>
          <a:xfrm>
            <a:off x="1028700" y="3619438"/>
            <a:ext cx="8115300" cy="4968782"/>
          </a:xfrm>
          <a:prstGeom prst="rect">
            <a:avLst/>
          </a:prstGeom>
        </p:spPr>
        <p:txBody>
          <a:bodyPr lIns="0" tIns="0" rIns="0" bIns="0" rtlCol="0" anchor="t">
            <a:spAutoFit/>
          </a:bodyPr>
          <a:lstStyle/>
          <a:p>
            <a:pPr algn="l">
              <a:lnSpc>
                <a:spcPts val="3621"/>
              </a:lnSpc>
            </a:pPr>
            <a:r>
              <a:rPr lang="en-US" sz="2586" spc="-121">
                <a:solidFill>
                  <a:srgbClr val="FFFFFF"/>
                </a:solidFill>
                <a:latin typeface="Open Sauce Light"/>
                <a:ea typeface="Open Sauce Light"/>
                <a:cs typeface="Open Sauce Light"/>
                <a:sym typeface="Open Sauce Light"/>
              </a:rPr>
              <a:t>The Philippine Institution-Based Correctional System remains an essential part of the criminal justice system. While it faces challenges such as overcrowding and limited resources, it continues to provide opportunities for offender rehabilitation and reform. Through continuous improvement, effective programs, and community support, the correctional system can better fulfill its mission of transforming lives, reducing recidivism, and promoting public safety.</a:t>
            </a:r>
          </a:p>
          <a:p>
            <a:pPr algn="l">
              <a:lnSpc>
                <a:spcPts val="3621"/>
              </a:lnSpc>
            </a:pPr>
            <a:endParaRPr lang="en-US" sz="2586" spc="-121">
              <a:solidFill>
                <a:srgbClr val="FFFFFF"/>
              </a:solidFill>
              <a:latin typeface="Open Sauce Light"/>
              <a:ea typeface="Open Sauce Light"/>
              <a:cs typeface="Open Sauce Light"/>
              <a:sym typeface="Open Sauce Light"/>
            </a:endParaRPr>
          </a:p>
          <a:p>
            <a:pPr algn="l">
              <a:lnSpc>
                <a:spcPts val="3621"/>
              </a:lnSpc>
            </a:pPr>
            <a:endParaRPr lang="en-US" sz="2586" spc="-121">
              <a:solidFill>
                <a:srgbClr val="FFFFFF"/>
              </a:solidFill>
              <a:latin typeface="Open Sauce Light"/>
              <a:ea typeface="Open Sauce Light"/>
              <a:cs typeface="Open Sauce Light"/>
              <a:sym typeface="Open Sauce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1" cy="1"/>
          <a:chOff x="0" y="0"/>
          <a:chExt cx="1" cy="1"/>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sp>
        <p:nvSpPr>
          <p:cNvPr id="3" name="AutoShape 3"/>
          <p:cNvSpPr/>
          <p:nvPr/>
        </p:nvSpPr>
        <p:spPr>
          <a:xfrm>
            <a:off x="2118663" y="4029905"/>
            <a:ext cx="17683768" cy="1"/>
          </a:xfrm>
          <a:prstGeom prst="line">
            <a:avLst/>
          </a:prstGeom>
          <a:ln w="57150" cap="flat">
            <a:solidFill>
              <a:srgbClr val="D0D7DD"/>
            </a:solidFill>
            <a:prstDash val="sysDash"/>
            <a:headEnd type="none" w="sm" len="sm"/>
            <a:tailEnd type="none" w="sm" len="sm"/>
          </a:ln>
        </p:spPr>
        <p:txBody>
          <a:bodyPr/>
          <a:lstStyle/>
          <a:p>
            <a:endParaRPr lang="en-US"/>
          </a:p>
        </p:txBody>
      </p:sp>
      <p:grpSp>
        <p:nvGrpSpPr>
          <p:cNvPr id="4" name="Group 4"/>
          <p:cNvGrpSpPr/>
          <p:nvPr/>
        </p:nvGrpSpPr>
        <p:grpSpPr>
          <a:xfrm>
            <a:off x="981077" y="3578182"/>
            <a:ext cx="2894965" cy="941546"/>
            <a:chOff x="0" y="0"/>
            <a:chExt cx="762460" cy="247979"/>
          </a:xfrm>
        </p:grpSpPr>
        <p:sp>
          <p:nvSpPr>
            <p:cNvPr id="5" name="Freeform 5"/>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6" name="TextBox 6"/>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7" name="Group 7"/>
          <p:cNvGrpSpPr/>
          <p:nvPr/>
        </p:nvGrpSpPr>
        <p:grpSpPr>
          <a:xfrm>
            <a:off x="5025140" y="3578182"/>
            <a:ext cx="2894965" cy="941546"/>
            <a:chOff x="0" y="0"/>
            <a:chExt cx="762460" cy="247979"/>
          </a:xfrm>
        </p:grpSpPr>
        <p:sp>
          <p:nvSpPr>
            <p:cNvPr id="8" name="Freeform 8"/>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9" name="TextBox 9"/>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0" name="Group 10"/>
          <p:cNvGrpSpPr/>
          <p:nvPr/>
        </p:nvGrpSpPr>
        <p:grpSpPr>
          <a:xfrm>
            <a:off x="9069203" y="3578182"/>
            <a:ext cx="2894965" cy="941546"/>
            <a:chOff x="0" y="0"/>
            <a:chExt cx="762460" cy="247979"/>
          </a:xfrm>
        </p:grpSpPr>
        <p:sp>
          <p:nvSpPr>
            <p:cNvPr id="11" name="Freeform 11"/>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12" name="TextBox 12"/>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3" name="Group 13"/>
          <p:cNvGrpSpPr/>
          <p:nvPr/>
        </p:nvGrpSpPr>
        <p:grpSpPr>
          <a:xfrm>
            <a:off x="13113265" y="3578182"/>
            <a:ext cx="2894965" cy="941546"/>
            <a:chOff x="0" y="0"/>
            <a:chExt cx="762460" cy="247979"/>
          </a:xfrm>
        </p:grpSpPr>
        <p:sp>
          <p:nvSpPr>
            <p:cNvPr id="14" name="Freeform 14"/>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15" name="TextBox 15"/>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6" name="Group 16"/>
          <p:cNvGrpSpPr/>
          <p:nvPr/>
        </p:nvGrpSpPr>
        <p:grpSpPr>
          <a:xfrm>
            <a:off x="896226" y="4711287"/>
            <a:ext cx="16495548" cy="4547013"/>
            <a:chOff x="0" y="0"/>
            <a:chExt cx="4344507" cy="1197567"/>
          </a:xfrm>
        </p:grpSpPr>
        <p:sp>
          <p:nvSpPr>
            <p:cNvPr id="17" name="Freeform 17"/>
            <p:cNvSpPr/>
            <p:nvPr/>
          </p:nvSpPr>
          <p:spPr>
            <a:xfrm>
              <a:off x="0" y="0"/>
              <a:ext cx="4344507" cy="1197567"/>
            </a:xfrm>
            <a:custGeom>
              <a:avLst/>
              <a:gdLst/>
              <a:ahLst/>
              <a:cxnLst/>
              <a:rect l="l" t="t" r="r" b="b"/>
              <a:pathLst>
                <a:path w="4344507" h="1197567">
                  <a:moveTo>
                    <a:pt x="37547" y="0"/>
                  </a:moveTo>
                  <a:lnTo>
                    <a:pt x="4306960" y="0"/>
                  </a:lnTo>
                  <a:cubicBezTo>
                    <a:pt x="4316918" y="0"/>
                    <a:pt x="4326468" y="3956"/>
                    <a:pt x="4333510" y="10997"/>
                  </a:cubicBezTo>
                  <a:cubicBezTo>
                    <a:pt x="4340551" y="18039"/>
                    <a:pt x="4344507" y="27589"/>
                    <a:pt x="4344507" y="37547"/>
                  </a:cubicBezTo>
                  <a:lnTo>
                    <a:pt x="4344507" y="1160021"/>
                  </a:lnTo>
                  <a:cubicBezTo>
                    <a:pt x="4344507" y="1169979"/>
                    <a:pt x="4340551" y="1179529"/>
                    <a:pt x="4333510" y="1186570"/>
                  </a:cubicBezTo>
                  <a:cubicBezTo>
                    <a:pt x="4326468" y="1193612"/>
                    <a:pt x="4316918" y="1197567"/>
                    <a:pt x="4306960" y="1197567"/>
                  </a:cubicBezTo>
                  <a:lnTo>
                    <a:pt x="37547" y="1197567"/>
                  </a:lnTo>
                  <a:cubicBezTo>
                    <a:pt x="27589" y="1197567"/>
                    <a:pt x="18039" y="1193612"/>
                    <a:pt x="10997" y="1186570"/>
                  </a:cubicBezTo>
                  <a:cubicBezTo>
                    <a:pt x="3956" y="1179529"/>
                    <a:pt x="0" y="1169979"/>
                    <a:pt x="0" y="1160021"/>
                  </a:cubicBezTo>
                  <a:lnTo>
                    <a:pt x="0" y="37547"/>
                  </a:lnTo>
                  <a:cubicBezTo>
                    <a:pt x="0" y="27589"/>
                    <a:pt x="3956" y="18039"/>
                    <a:pt x="10997" y="10997"/>
                  </a:cubicBezTo>
                  <a:cubicBezTo>
                    <a:pt x="18039" y="3956"/>
                    <a:pt x="27589" y="0"/>
                    <a:pt x="37547" y="0"/>
                  </a:cubicBezTo>
                  <a:close/>
                </a:path>
              </a:pathLst>
            </a:custGeom>
            <a:solidFill>
              <a:srgbClr val="424242"/>
            </a:solidFill>
            <a:ln w="19050" cap="rnd">
              <a:solidFill>
                <a:srgbClr val="D0D7DD"/>
              </a:solidFill>
              <a:prstDash val="solid"/>
              <a:round/>
            </a:ln>
          </p:spPr>
          <p:txBody>
            <a:bodyPr/>
            <a:lstStyle/>
            <a:p>
              <a:endParaRPr lang="en-US"/>
            </a:p>
          </p:txBody>
        </p:sp>
        <p:sp>
          <p:nvSpPr>
            <p:cNvPr id="18" name="TextBox 18"/>
            <p:cNvSpPr txBox="1"/>
            <p:nvPr/>
          </p:nvSpPr>
          <p:spPr>
            <a:xfrm>
              <a:off x="0" y="-28575"/>
              <a:ext cx="4344507" cy="1226142"/>
            </a:xfrm>
            <a:prstGeom prst="rect">
              <a:avLst/>
            </a:prstGeom>
          </p:spPr>
          <p:txBody>
            <a:bodyPr lIns="50800" tIns="50800" rIns="50800" bIns="50800" rtlCol="0" anchor="ctr"/>
            <a:lstStyle/>
            <a:p>
              <a:pPr algn="ctr">
                <a:lnSpc>
                  <a:spcPts val="2015"/>
                </a:lnSpc>
              </a:pPr>
              <a:endParaRPr/>
            </a:p>
          </p:txBody>
        </p:sp>
      </p:grpSp>
      <p:sp>
        <p:nvSpPr>
          <p:cNvPr id="19" name="TextBox 19"/>
          <p:cNvSpPr txBox="1"/>
          <p:nvPr/>
        </p:nvSpPr>
        <p:spPr>
          <a:xfrm>
            <a:off x="984504" y="3822810"/>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1</a:t>
            </a:r>
          </a:p>
        </p:txBody>
      </p:sp>
      <p:sp>
        <p:nvSpPr>
          <p:cNvPr id="20" name="TextBox 20"/>
          <p:cNvSpPr txBox="1"/>
          <p:nvPr/>
        </p:nvSpPr>
        <p:spPr>
          <a:xfrm>
            <a:off x="5025140" y="3822810"/>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2</a:t>
            </a:r>
          </a:p>
        </p:txBody>
      </p:sp>
      <p:sp>
        <p:nvSpPr>
          <p:cNvPr id="21" name="TextBox 21"/>
          <p:cNvSpPr txBox="1"/>
          <p:nvPr/>
        </p:nvSpPr>
        <p:spPr>
          <a:xfrm>
            <a:off x="9065776" y="3822810"/>
            <a:ext cx="2888111" cy="557066"/>
          </a:xfrm>
          <a:prstGeom prst="rect">
            <a:avLst/>
          </a:prstGeom>
        </p:spPr>
        <p:txBody>
          <a:bodyPr lIns="0" tIns="0" rIns="0" bIns="0" rtlCol="0" anchor="t">
            <a:spAutoFit/>
          </a:bodyPr>
          <a:lstStyle/>
          <a:p>
            <a:pPr algn="ctr">
              <a:lnSpc>
                <a:spcPts val="4102"/>
              </a:lnSpc>
            </a:pPr>
            <a:r>
              <a:rPr lang="en-US" sz="4364" b="1" spc="-205">
                <a:solidFill>
                  <a:srgbClr val="424242"/>
                </a:solidFill>
                <a:latin typeface="Open Sauce Heavy"/>
                <a:ea typeface="Open Sauce Heavy"/>
                <a:cs typeface="Open Sauce Heavy"/>
                <a:sym typeface="Open Sauce Heavy"/>
              </a:rPr>
              <a:t>3</a:t>
            </a:r>
          </a:p>
        </p:txBody>
      </p:sp>
      <p:sp>
        <p:nvSpPr>
          <p:cNvPr id="22" name="TextBox 22"/>
          <p:cNvSpPr txBox="1"/>
          <p:nvPr/>
        </p:nvSpPr>
        <p:spPr>
          <a:xfrm>
            <a:off x="13106412" y="3840040"/>
            <a:ext cx="2888111" cy="513080"/>
          </a:xfrm>
          <a:prstGeom prst="rect">
            <a:avLst/>
          </a:prstGeom>
        </p:spPr>
        <p:txBody>
          <a:bodyPr lIns="0" tIns="0" rIns="0" bIns="0" rtlCol="0" anchor="t">
            <a:spAutoFit/>
          </a:bodyPr>
          <a:lstStyle/>
          <a:p>
            <a:pPr algn="ctr">
              <a:lnSpc>
                <a:spcPts val="3759"/>
              </a:lnSpc>
            </a:pPr>
            <a:r>
              <a:rPr lang="en-US" sz="3999" b="1" spc="-187">
                <a:solidFill>
                  <a:srgbClr val="424242"/>
                </a:solidFill>
                <a:latin typeface="Open Sauce Heavy"/>
                <a:ea typeface="Open Sauce Heavy"/>
                <a:cs typeface="Open Sauce Heavy"/>
                <a:sym typeface="Open Sauce Heavy"/>
              </a:rPr>
              <a:t>4</a:t>
            </a:r>
          </a:p>
        </p:txBody>
      </p:sp>
      <p:sp>
        <p:nvSpPr>
          <p:cNvPr id="23" name="TextBox 23"/>
          <p:cNvSpPr txBox="1"/>
          <p:nvPr/>
        </p:nvSpPr>
        <p:spPr>
          <a:xfrm>
            <a:off x="1028700" y="1017210"/>
            <a:ext cx="16230600" cy="1436623"/>
          </a:xfrm>
          <a:prstGeom prst="rect">
            <a:avLst/>
          </a:prstGeom>
        </p:spPr>
        <p:txBody>
          <a:bodyPr lIns="0" tIns="0" rIns="0" bIns="0" rtlCol="0" anchor="t">
            <a:spAutoFit/>
          </a:bodyPr>
          <a:lstStyle/>
          <a:p>
            <a:pPr algn="l">
              <a:lnSpc>
                <a:spcPts val="10527"/>
              </a:lnSpc>
            </a:pPr>
            <a:r>
              <a:rPr lang="en-US" sz="11199" b="1" spc="-526">
                <a:solidFill>
                  <a:srgbClr val="FFFFFF"/>
                </a:solidFill>
                <a:latin typeface="Open Sauce Heavy"/>
                <a:ea typeface="Open Sauce Heavy"/>
                <a:cs typeface="Open Sauce Heavy"/>
                <a:sym typeface="Open Sauce Heavy"/>
              </a:rPr>
              <a:t>Recommendations</a:t>
            </a:r>
          </a:p>
        </p:txBody>
      </p:sp>
      <p:sp>
        <p:nvSpPr>
          <p:cNvPr id="24" name="TextBox 24"/>
          <p:cNvSpPr txBox="1"/>
          <p:nvPr/>
        </p:nvSpPr>
        <p:spPr>
          <a:xfrm>
            <a:off x="1555066" y="6249237"/>
            <a:ext cx="2317549" cy="1298575"/>
          </a:xfrm>
          <a:prstGeom prst="rect">
            <a:avLst/>
          </a:prstGeom>
        </p:spPr>
        <p:txBody>
          <a:bodyPr lIns="0" tIns="0" rIns="0" bIns="0" rtlCol="0" anchor="t">
            <a:spAutoFit/>
          </a:bodyPr>
          <a:lstStyle/>
          <a:p>
            <a:pPr algn="l">
              <a:lnSpc>
                <a:spcPts val="3500"/>
              </a:lnSpc>
            </a:pPr>
            <a:r>
              <a:rPr lang="en-US" sz="2500" spc="-117">
                <a:solidFill>
                  <a:srgbClr val="FFFFFF"/>
                </a:solidFill>
                <a:latin typeface="Open Sauce Light"/>
                <a:ea typeface="Open Sauce Light"/>
                <a:cs typeface="Open Sauce Light"/>
                <a:sym typeface="Open Sauce Light"/>
              </a:rPr>
              <a:t>Address Prison Overcrowding</a:t>
            </a:r>
          </a:p>
          <a:p>
            <a:pPr algn="l">
              <a:lnSpc>
                <a:spcPts val="3500"/>
              </a:lnSpc>
            </a:pPr>
            <a:endParaRPr lang="en-US" sz="2500" spc="-117">
              <a:solidFill>
                <a:srgbClr val="FFFFFF"/>
              </a:solidFill>
              <a:latin typeface="Open Sauce Light"/>
              <a:ea typeface="Open Sauce Light"/>
              <a:cs typeface="Open Sauce Light"/>
              <a:sym typeface="Open Sauce Light"/>
            </a:endParaRPr>
          </a:p>
        </p:txBody>
      </p:sp>
      <p:sp>
        <p:nvSpPr>
          <p:cNvPr id="25" name="TextBox 25"/>
          <p:cNvSpPr txBox="1"/>
          <p:nvPr/>
        </p:nvSpPr>
        <p:spPr>
          <a:xfrm>
            <a:off x="5556663" y="6092618"/>
            <a:ext cx="2743245" cy="1736725"/>
          </a:xfrm>
          <a:prstGeom prst="rect">
            <a:avLst/>
          </a:prstGeom>
        </p:spPr>
        <p:txBody>
          <a:bodyPr lIns="0" tIns="0" rIns="0" bIns="0" rtlCol="0" anchor="t">
            <a:spAutoFit/>
          </a:bodyPr>
          <a:lstStyle/>
          <a:p>
            <a:pPr algn="l">
              <a:lnSpc>
                <a:spcPts val="3499"/>
              </a:lnSpc>
            </a:pPr>
            <a:r>
              <a:rPr lang="en-US" sz="2499" spc="-117">
                <a:solidFill>
                  <a:srgbClr val="FFFFFF"/>
                </a:solidFill>
                <a:latin typeface="Open Sauce Light"/>
                <a:ea typeface="Open Sauce Light"/>
                <a:cs typeface="Open Sauce Light"/>
                <a:sym typeface="Open Sauce Light"/>
              </a:rPr>
              <a:t>Enhance Rehabilitation Programs</a:t>
            </a:r>
          </a:p>
          <a:p>
            <a:pPr algn="l">
              <a:lnSpc>
                <a:spcPts val="3499"/>
              </a:lnSpc>
            </a:pPr>
            <a:endParaRPr lang="en-US" sz="2499" spc="-117">
              <a:solidFill>
                <a:srgbClr val="FFFFFF"/>
              </a:solidFill>
              <a:latin typeface="Open Sauce Light"/>
              <a:ea typeface="Open Sauce Light"/>
              <a:cs typeface="Open Sauce Light"/>
              <a:sym typeface="Open Sauce Light"/>
            </a:endParaRPr>
          </a:p>
        </p:txBody>
      </p:sp>
      <p:sp>
        <p:nvSpPr>
          <p:cNvPr id="26" name="TextBox 26"/>
          <p:cNvSpPr txBox="1"/>
          <p:nvPr/>
        </p:nvSpPr>
        <p:spPr>
          <a:xfrm>
            <a:off x="9354222" y="6249237"/>
            <a:ext cx="2743245" cy="1298575"/>
          </a:xfrm>
          <a:prstGeom prst="rect">
            <a:avLst/>
          </a:prstGeom>
        </p:spPr>
        <p:txBody>
          <a:bodyPr lIns="0" tIns="0" rIns="0" bIns="0" rtlCol="0" anchor="t">
            <a:spAutoFit/>
          </a:bodyPr>
          <a:lstStyle/>
          <a:p>
            <a:pPr algn="l">
              <a:lnSpc>
                <a:spcPts val="3499"/>
              </a:lnSpc>
            </a:pPr>
            <a:r>
              <a:rPr lang="en-US" sz="2499" spc="-117">
                <a:solidFill>
                  <a:srgbClr val="FFFFFF"/>
                </a:solidFill>
                <a:latin typeface="Open Sauce Light"/>
                <a:ea typeface="Open Sauce Light"/>
                <a:cs typeface="Open Sauce Light"/>
                <a:sym typeface="Open Sauce Light"/>
              </a:rPr>
              <a:t>Modernize Correctional Facilities</a:t>
            </a:r>
          </a:p>
        </p:txBody>
      </p:sp>
      <p:sp>
        <p:nvSpPr>
          <p:cNvPr id="27" name="TextBox 27"/>
          <p:cNvSpPr txBox="1"/>
          <p:nvPr/>
        </p:nvSpPr>
        <p:spPr>
          <a:xfrm>
            <a:off x="13582232" y="6468312"/>
            <a:ext cx="2743245" cy="860425"/>
          </a:xfrm>
          <a:prstGeom prst="rect">
            <a:avLst/>
          </a:prstGeom>
        </p:spPr>
        <p:txBody>
          <a:bodyPr lIns="0" tIns="0" rIns="0" bIns="0" rtlCol="0" anchor="t">
            <a:spAutoFit/>
          </a:bodyPr>
          <a:lstStyle/>
          <a:p>
            <a:pPr algn="l">
              <a:lnSpc>
                <a:spcPts val="3499"/>
              </a:lnSpc>
            </a:pPr>
            <a:r>
              <a:rPr lang="en-US" sz="2499" spc="-117">
                <a:solidFill>
                  <a:srgbClr val="FFFFFF"/>
                </a:solidFill>
                <a:latin typeface="Open Sauce Light"/>
                <a:ea typeface="Open Sauce Light"/>
                <a:cs typeface="Open Sauce Light"/>
                <a:sym typeface="Open Sauce Light"/>
              </a:rPr>
              <a:t>Strengthen Reintegration Efforts</a:t>
            </a:r>
          </a:p>
        </p:txBody>
      </p:sp>
      <p:sp>
        <p:nvSpPr>
          <p:cNvPr id="28" name="AutoShape 28"/>
          <p:cNvSpPr/>
          <p:nvPr/>
        </p:nvSpPr>
        <p:spPr>
          <a:xfrm flipH="1">
            <a:off x="8726707"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29" name="AutoShape 29"/>
          <p:cNvSpPr/>
          <p:nvPr/>
        </p:nvSpPr>
        <p:spPr>
          <a:xfrm flipH="1">
            <a:off x="4731147" y="5490280"/>
            <a:ext cx="1" cy="3433637"/>
          </a:xfrm>
          <a:prstGeom prst="line">
            <a:avLst/>
          </a:prstGeom>
          <a:ln w="19050" cap="flat">
            <a:solidFill>
              <a:srgbClr val="D0D7DD"/>
            </a:solidFill>
            <a:prstDash val="solid"/>
            <a:headEnd type="none" w="sm" len="sm"/>
            <a:tailEnd type="none" w="sm" len="sm"/>
          </a:ln>
        </p:spPr>
        <p:txBody>
          <a:bodyPr/>
          <a:lstStyle/>
          <a:p>
            <a:endParaRPr lang="en-US"/>
          </a:p>
        </p:txBody>
      </p:sp>
      <p:sp>
        <p:nvSpPr>
          <p:cNvPr id="30" name="AutoShape 30"/>
          <p:cNvSpPr/>
          <p:nvPr/>
        </p:nvSpPr>
        <p:spPr>
          <a:xfrm>
            <a:off x="12724982" y="5490280"/>
            <a:ext cx="1" cy="3462212"/>
          </a:xfrm>
          <a:prstGeom prst="line">
            <a:avLst/>
          </a:prstGeom>
          <a:ln w="19050" cap="flat">
            <a:solidFill>
              <a:srgbClr val="D0D7DD"/>
            </a:solidFill>
            <a:prstDash val="solid"/>
            <a:headEnd type="none" w="sm" len="sm"/>
            <a:tailEnd type="none" w="sm" len="sm"/>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1977201">
            <a:off x="8302125" y="-801031"/>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28000"/>
            </a:blip>
            <a:stretch>
              <a:fillRect/>
            </a:stretch>
          </a:blipFill>
        </p:spPr>
        <p:txBody>
          <a:bodyPr/>
          <a:lstStyle/>
          <a:p>
            <a:endParaRPr lang="en-US"/>
          </a:p>
        </p:txBody>
      </p:sp>
      <p:sp>
        <p:nvSpPr>
          <p:cNvPr id="3" name="TextBox 3"/>
          <p:cNvSpPr txBox="1"/>
          <p:nvPr/>
        </p:nvSpPr>
        <p:spPr>
          <a:xfrm>
            <a:off x="1028700" y="1098290"/>
            <a:ext cx="12945139" cy="1555370"/>
          </a:xfrm>
          <a:prstGeom prst="rect">
            <a:avLst/>
          </a:prstGeom>
        </p:spPr>
        <p:txBody>
          <a:bodyPr lIns="0" tIns="0" rIns="0" bIns="0" rtlCol="0" anchor="t">
            <a:spAutoFit/>
          </a:bodyPr>
          <a:lstStyle/>
          <a:p>
            <a:pPr algn="l">
              <a:lnSpc>
                <a:spcPts val="11468"/>
              </a:lnSpc>
            </a:pPr>
            <a:r>
              <a:rPr lang="en-US" sz="12200" b="1" spc="-573">
                <a:solidFill>
                  <a:srgbClr val="424242"/>
                </a:solidFill>
                <a:latin typeface="Open Sauce Heavy"/>
                <a:ea typeface="Open Sauce Heavy"/>
                <a:cs typeface="Open Sauce Heavy"/>
                <a:sym typeface="Open Sauce Heavy"/>
              </a:rPr>
              <a:t>References</a:t>
            </a:r>
          </a:p>
        </p:txBody>
      </p:sp>
      <p:grpSp>
        <p:nvGrpSpPr>
          <p:cNvPr id="4" name="Group 4"/>
          <p:cNvGrpSpPr/>
          <p:nvPr/>
        </p:nvGrpSpPr>
        <p:grpSpPr>
          <a:xfrm>
            <a:off x="890261" y="3432056"/>
            <a:ext cx="13807515" cy="750614"/>
            <a:chOff x="0" y="0"/>
            <a:chExt cx="3636547" cy="197693"/>
          </a:xfrm>
        </p:grpSpPr>
        <p:sp>
          <p:nvSpPr>
            <p:cNvPr id="5" name="Freeform 5"/>
            <p:cNvSpPr/>
            <p:nvPr/>
          </p:nvSpPr>
          <p:spPr>
            <a:xfrm>
              <a:off x="0" y="0"/>
              <a:ext cx="3636547" cy="197693"/>
            </a:xfrm>
            <a:custGeom>
              <a:avLst/>
              <a:gdLst/>
              <a:ahLst/>
              <a:cxnLst/>
              <a:rect l="l" t="t" r="r" b="b"/>
              <a:pathLst>
                <a:path w="3636547" h="197693">
                  <a:moveTo>
                    <a:pt x="37006" y="0"/>
                  </a:moveTo>
                  <a:lnTo>
                    <a:pt x="3599541" y="0"/>
                  </a:lnTo>
                  <a:cubicBezTo>
                    <a:pt x="3609355" y="0"/>
                    <a:pt x="3618768" y="3899"/>
                    <a:pt x="3625708" y="10839"/>
                  </a:cubicBezTo>
                  <a:cubicBezTo>
                    <a:pt x="3632648" y="17779"/>
                    <a:pt x="3636547" y="27192"/>
                    <a:pt x="3636547" y="37006"/>
                  </a:cubicBezTo>
                  <a:lnTo>
                    <a:pt x="3636547" y="160686"/>
                  </a:lnTo>
                  <a:cubicBezTo>
                    <a:pt x="3636547" y="170501"/>
                    <a:pt x="3632648" y="179914"/>
                    <a:pt x="3625708" y="186854"/>
                  </a:cubicBezTo>
                  <a:cubicBezTo>
                    <a:pt x="3618768" y="193794"/>
                    <a:pt x="3609355" y="197693"/>
                    <a:pt x="3599541" y="197693"/>
                  </a:cubicBezTo>
                  <a:lnTo>
                    <a:pt x="37006" y="197693"/>
                  </a:lnTo>
                  <a:cubicBezTo>
                    <a:pt x="27192" y="197693"/>
                    <a:pt x="17779" y="193794"/>
                    <a:pt x="10839" y="186854"/>
                  </a:cubicBezTo>
                  <a:cubicBezTo>
                    <a:pt x="3899" y="179914"/>
                    <a:pt x="0" y="170501"/>
                    <a:pt x="0" y="160686"/>
                  </a:cubicBezTo>
                  <a:lnTo>
                    <a:pt x="0" y="37006"/>
                  </a:lnTo>
                  <a:cubicBezTo>
                    <a:pt x="0" y="27192"/>
                    <a:pt x="3899" y="17779"/>
                    <a:pt x="10839" y="10839"/>
                  </a:cubicBezTo>
                  <a:cubicBezTo>
                    <a:pt x="17779" y="3899"/>
                    <a:pt x="27192" y="0"/>
                    <a:pt x="37006"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6" name="TextBox 6"/>
            <p:cNvSpPr txBox="1"/>
            <p:nvPr/>
          </p:nvSpPr>
          <p:spPr>
            <a:xfrm>
              <a:off x="0" y="-28575"/>
              <a:ext cx="3636547" cy="226268"/>
            </a:xfrm>
            <a:prstGeom prst="rect">
              <a:avLst/>
            </a:prstGeom>
          </p:spPr>
          <p:txBody>
            <a:bodyPr lIns="50800" tIns="50800" rIns="50800" bIns="50800" rtlCol="0" anchor="ctr"/>
            <a:lstStyle/>
            <a:p>
              <a:pPr marL="0" lvl="0" indent="0" algn="ctr">
                <a:lnSpc>
                  <a:spcPts val="2015"/>
                </a:lnSpc>
                <a:spcBef>
                  <a:spcPct val="0"/>
                </a:spcBef>
              </a:pPr>
              <a:endParaRPr/>
            </a:p>
          </p:txBody>
        </p:sp>
      </p:grpSp>
      <p:grpSp>
        <p:nvGrpSpPr>
          <p:cNvPr id="7" name="Group 7"/>
          <p:cNvGrpSpPr/>
          <p:nvPr/>
        </p:nvGrpSpPr>
        <p:grpSpPr>
          <a:xfrm>
            <a:off x="890261" y="4687495"/>
            <a:ext cx="13807515" cy="750614"/>
            <a:chOff x="0" y="0"/>
            <a:chExt cx="3636547" cy="197693"/>
          </a:xfrm>
        </p:grpSpPr>
        <p:sp>
          <p:nvSpPr>
            <p:cNvPr id="8" name="Freeform 8"/>
            <p:cNvSpPr/>
            <p:nvPr/>
          </p:nvSpPr>
          <p:spPr>
            <a:xfrm>
              <a:off x="0" y="0"/>
              <a:ext cx="3636547" cy="197693"/>
            </a:xfrm>
            <a:custGeom>
              <a:avLst/>
              <a:gdLst/>
              <a:ahLst/>
              <a:cxnLst/>
              <a:rect l="l" t="t" r="r" b="b"/>
              <a:pathLst>
                <a:path w="3636547" h="197693">
                  <a:moveTo>
                    <a:pt x="37006" y="0"/>
                  </a:moveTo>
                  <a:lnTo>
                    <a:pt x="3599541" y="0"/>
                  </a:lnTo>
                  <a:cubicBezTo>
                    <a:pt x="3609355" y="0"/>
                    <a:pt x="3618768" y="3899"/>
                    <a:pt x="3625708" y="10839"/>
                  </a:cubicBezTo>
                  <a:cubicBezTo>
                    <a:pt x="3632648" y="17779"/>
                    <a:pt x="3636547" y="27192"/>
                    <a:pt x="3636547" y="37006"/>
                  </a:cubicBezTo>
                  <a:lnTo>
                    <a:pt x="3636547" y="160686"/>
                  </a:lnTo>
                  <a:cubicBezTo>
                    <a:pt x="3636547" y="170501"/>
                    <a:pt x="3632648" y="179914"/>
                    <a:pt x="3625708" y="186854"/>
                  </a:cubicBezTo>
                  <a:cubicBezTo>
                    <a:pt x="3618768" y="193794"/>
                    <a:pt x="3609355" y="197693"/>
                    <a:pt x="3599541" y="197693"/>
                  </a:cubicBezTo>
                  <a:lnTo>
                    <a:pt x="37006" y="197693"/>
                  </a:lnTo>
                  <a:cubicBezTo>
                    <a:pt x="27192" y="197693"/>
                    <a:pt x="17779" y="193794"/>
                    <a:pt x="10839" y="186854"/>
                  </a:cubicBezTo>
                  <a:cubicBezTo>
                    <a:pt x="3899" y="179914"/>
                    <a:pt x="0" y="170501"/>
                    <a:pt x="0" y="160686"/>
                  </a:cubicBezTo>
                  <a:lnTo>
                    <a:pt x="0" y="37006"/>
                  </a:lnTo>
                  <a:cubicBezTo>
                    <a:pt x="0" y="27192"/>
                    <a:pt x="3899" y="17779"/>
                    <a:pt x="10839" y="10839"/>
                  </a:cubicBezTo>
                  <a:cubicBezTo>
                    <a:pt x="17779" y="3899"/>
                    <a:pt x="27192" y="0"/>
                    <a:pt x="37006" y="0"/>
                  </a:cubicBezTo>
                  <a:close/>
                </a:path>
              </a:pathLst>
            </a:custGeom>
            <a:solidFill>
              <a:srgbClr val="D0D7DD"/>
            </a:solidFill>
            <a:ln w="19050" cap="rnd">
              <a:solidFill>
                <a:srgbClr val="424242"/>
              </a:solidFill>
              <a:prstDash val="solid"/>
              <a:round/>
            </a:ln>
          </p:spPr>
          <p:txBody>
            <a:bodyPr/>
            <a:lstStyle/>
            <a:p>
              <a:endParaRPr lang="en-US"/>
            </a:p>
          </p:txBody>
        </p:sp>
        <p:sp>
          <p:nvSpPr>
            <p:cNvPr id="9" name="TextBox 9"/>
            <p:cNvSpPr txBox="1"/>
            <p:nvPr/>
          </p:nvSpPr>
          <p:spPr>
            <a:xfrm>
              <a:off x="0" y="-28575"/>
              <a:ext cx="3636547" cy="226268"/>
            </a:xfrm>
            <a:prstGeom prst="rect">
              <a:avLst/>
            </a:prstGeom>
          </p:spPr>
          <p:txBody>
            <a:bodyPr lIns="50800" tIns="50800" rIns="50800" bIns="50800" rtlCol="0" anchor="ctr"/>
            <a:lstStyle/>
            <a:p>
              <a:pPr marL="0" lvl="0" indent="0" algn="ctr">
                <a:lnSpc>
                  <a:spcPts val="2015"/>
                </a:lnSpc>
                <a:spcBef>
                  <a:spcPct val="0"/>
                </a:spcBef>
              </a:pPr>
              <a:endParaRPr/>
            </a:p>
          </p:txBody>
        </p:sp>
      </p:grpSp>
      <p:sp>
        <p:nvSpPr>
          <p:cNvPr id="10" name="TextBox 10"/>
          <p:cNvSpPr txBox="1"/>
          <p:nvPr/>
        </p:nvSpPr>
        <p:spPr>
          <a:xfrm>
            <a:off x="890261" y="3552750"/>
            <a:ext cx="12524969" cy="763270"/>
          </a:xfrm>
          <a:prstGeom prst="rect">
            <a:avLst/>
          </a:prstGeom>
        </p:spPr>
        <p:txBody>
          <a:bodyPr lIns="0" tIns="0" rIns="0" bIns="0" rtlCol="0" anchor="t">
            <a:spAutoFit/>
          </a:bodyPr>
          <a:lstStyle/>
          <a:p>
            <a:pPr algn="ctr">
              <a:lnSpc>
                <a:spcPts val="3079"/>
              </a:lnSpc>
            </a:pPr>
            <a:r>
              <a:rPr lang="en-US" sz="2199" b="1" spc="-103">
                <a:solidFill>
                  <a:srgbClr val="424242"/>
                </a:solidFill>
                <a:latin typeface="Open Sauce Semi-Bold"/>
                <a:ea typeface="Open Sauce Semi-Bold"/>
                <a:cs typeface="Open Sauce Semi-Bold"/>
                <a:sym typeface="Open Sauce Semi-Bold"/>
              </a:rPr>
              <a:t>Bureau of Corrections. (n.d.). Mandates and Functions. https://bucor.gov.ph/?page_id=2304</a:t>
            </a:r>
          </a:p>
          <a:p>
            <a:pPr algn="ctr">
              <a:lnSpc>
                <a:spcPts val="3079"/>
              </a:lnSpc>
            </a:pPr>
            <a:endParaRPr lang="en-US" sz="2199" b="1" spc="-103">
              <a:solidFill>
                <a:srgbClr val="424242"/>
              </a:solidFill>
              <a:latin typeface="Open Sauce Semi-Bold"/>
              <a:ea typeface="Open Sauce Semi-Bold"/>
              <a:cs typeface="Open Sauce Semi-Bold"/>
              <a:sym typeface="Open Sauce Semi-Bold"/>
            </a:endParaRPr>
          </a:p>
        </p:txBody>
      </p:sp>
      <p:sp>
        <p:nvSpPr>
          <p:cNvPr id="11" name="TextBox 11"/>
          <p:cNvSpPr txBox="1"/>
          <p:nvPr/>
        </p:nvSpPr>
        <p:spPr>
          <a:xfrm>
            <a:off x="898380" y="4809120"/>
            <a:ext cx="11729234" cy="763270"/>
          </a:xfrm>
          <a:prstGeom prst="rect">
            <a:avLst/>
          </a:prstGeom>
        </p:spPr>
        <p:txBody>
          <a:bodyPr lIns="0" tIns="0" rIns="0" bIns="0" rtlCol="0" anchor="t">
            <a:spAutoFit/>
          </a:bodyPr>
          <a:lstStyle/>
          <a:p>
            <a:pPr algn="ctr">
              <a:lnSpc>
                <a:spcPts val="3079"/>
              </a:lnSpc>
            </a:pPr>
            <a:r>
              <a:rPr lang="en-US" sz="2199" b="1" spc="-103">
                <a:solidFill>
                  <a:srgbClr val="424242"/>
                </a:solidFill>
                <a:latin typeface="Open Sauce Semi-Bold"/>
                <a:ea typeface="Open Sauce Semi-Bold"/>
                <a:cs typeface="Open Sauce Semi-Bold"/>
                <a:sym typeface="Open Sauce Semi-Bold"/>
              </a:rPr>
              <a:t>Bureau of Corrections. (n.d.). Mission and Vision. https://bucor.gov.ph/?page_id=2305</a:t>
            </a:r>
          </a:p>
          <a:p>
            <a:pPr algn="ctr">
              <a:lnSpc>
                <a:spcPts val="3079"/>
              </a:lnSpc>
            </a:pPr>
            <a:endParaRPr lang="en-US" sz="2199" b="1" spc="-103">
              <a:solidFill>
                <a:srgbClr val="424242"/>
              </a:solidFill>
              <a:latin typeface="Open Sauce Semi-Bold"/>
              <a:ea typeface="Open Sauce Semi-Bold"/>
              <a:cs typeface="Open Sauce Semi-Bold"/>
              <a:sym typeface="Open Sauce Semi-Bold"/>
            </a:endParaRPr>
          </a:p>
        </p:txBody>
      </p:sp>
      <p:grpSp>
        <p:nvGrpSpPr>
          <p:cNvPr id="12" name="Group 12"/>
          <p:cNvGrpSpPr/>
          <p:nvPr/>
        </p:nvGrpSpPr>
        <p:grpSpPr>
          <a:xfrm>
            <a:off x="890261" y="5943865"/>
            <a:ext cx="13807515" cy="750614"/>
            <a:chOff x="0" y="0"/>
            <a:chExt cx="3636547" cy="197693"/>
          </a:xfrm>
        </p:grpSpPr>
        <p:sp>
          <p:nvSpPr>
            <p:cNvPr id="13" name="Freeform 13"/>
            <p:cNvSpPr/>
            <p:nvPr/>
          </p:nvSpPr>
          <p:spPr>
            <a:xfrm>
              <a:off x="0" y="0"/>
              <a:ext cx="3636547" cy="197693"/>
            </a:xfrm>
            <a:custGeom>
              <a:avLst/>
              <a:gdLst/>
              <a:ahLst/>
              <a:cxnLst/>
              <a:rect l="l" t="t" r="r" b="b"/>
              <a:pathLst>
                <a:path w="3636547" h="197693">
                  <a:moveTo>
                    <a:pt x="37006" y="0"/>
                  </a:moveTo>
                  <a:lnTo>
                    <a:pt x="3599541" y="0"/>
                  </a:lnTo>
                  <a:cubicBezTo>
                    <a:pt x="3609355" y="0"/>
                    <a:pt x="3618768" y="3899"/>
                    <a:pt x="3625708" y="10839"/>
                  </a:cubicBezTo>
                  <a:cubicBezTo>
                    <a:pt x="3632648" y="17779"/>
                    <a:pt x="3636547" y="27192"/>
                    <a:pt x="3636547" y="37006"/>
                  </a:cubicBezTo>
                  <a:lnTo>
                    <a:pt x="3636547" y="160686"/>
                  </a:lnTo>
                  <a:cubicBezTo>
                    <a:pt x="3636547" y="170501"/>
                    <a:pt x="3632648" y="179914"/>
                    <a:pt x="3625708" y="186854"/>
                  </a:cubicBezTo>
                  <a:cubicBezTo>
                    <a:pt x="3618768" y="193794"/>
                    <a:pt x="3609355" y="197693"/>
                    <a:pt x="3599541" y="197693"/>
                  </a:cubicBezTo>
                  <a:lnTo>
                    <a:pt x="37006" y="197693"/>
                  </a:lnTo>
                  <a:cubicBezTo>
                    <a:pt x="27192" y="197693"/>
                    <a:pt x="17779" y="193794"/>
                    <a:pt x="10839" y="186854"/>
                  </a:cubicBezTo>
                  <a:cubicBezTo>
                    <a:pt x="3899" y="179914"/>
                    <a:pt x="0" y="170501"/>
                    <a:pt x="0" y="160686"/>
                  </a:cubicBezTo>
                  <a:lnTo>
                    <a:pt x="0" y="37006"/>
                  </a:lnTo>
                  <a:cubicBezTo>
                    <a:pt x="0" y="27192"/>
                    <a:pt x="3899" y="17779"/>
                    <a:pt x="10839" y="10839"/>
                  </a:cubicBezTo>
                  <a:cubicBezTo>
                    <a:pt x="17779" y="3899"/>
                    <a:pt x="27192" y="0"/>
                    <a:pt x="37006"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txBody>
            <a:bodyPr/>
            <a:lstStyle/>
            <a:p>
              <a:endParaRPr lang="en-US"/>
            </a:p>
          </p:txBody>
        </p:sp>
        <p:sp>
          <p:nvSpPr>
            <p:cNvPr id="14" name="TextBox 14"/>
            <p:cNvSpPr txBox="1"/>
            <p:nvPr/>
          </p:nvSpPr>
          <p:spPr>
            <a:xfrm>
              <a:off x="0" y="-28575"/>
              <a:ext cx="3636547" cy="226268"/>
            </a:xfrm>
            <a:prstGeom prst="rect">
              <a:avLst/>
            </a:prstGeom>
          </p:spPr>
          <p:txBody>
            <a:bodyPr lIns="50800" tIns="50800" rIns="50800" bIns="50800" rtlCol="0" anchor="ctr"/>
            <a:lstStyle/>
            <a:p>
              <a:pPr marL="0" lvl="0" indent="0" algn="ctr">
                <a:lnSpc>
                  <a:spcPts val="2015"/>
                </a:lnSpc>
                <a:spcBef>
                  <a:spcPct val="0"/>
                </a:spcBef>
              </a:pPr>
              <a:endParaRPr/>
            </a:p>
          </p:txBody>
        </p:sp>
      </p:grpSp>
      <p:sp>
        <p:nvSpPr>
          <p:cNvPr id="15" name="TextBox 15"/>
          <p:cNvSpPr txBox="1"/>
          <p:nvPr/>
        </p:nvSpPr>
        <p:spPr>
          <a:xfrm>
            <a:off x="1402741" y="6068060"/>
            <a:ext cx="12987009" cy="763270"/>
          </a:xfrm>
          <a:prstGeom prst="rect">
            <a:avLst/>
          </a:prstGeom>
        </p:spPr>
        <p:txBody>
          <a:bodyPr lIns="0" tIns="0" rIns="0" bIns="0" rtlCol="0" anchor="t">
            <a:spAutoFit/>
          </a:bodyPr>
          <a:lstStyle/>
          <a:p>
            <a:pPr algn="ctr">
              <a:lnSpc>
                <a:spcPts val="3079"/>
              </a:lnSpc>
            </a:pPr>
            <a:r>
              <a:rPr lang="en-US" sz="2199" b="1" spc="-103">
                <a:solidFill>
                  <a:srgbClr val="424242"/>
                </a:solidFill>
                <a:latin typeface="Open Sauce Semi-Bold"/>
                <a:ea typeface="Open Sauce Semi-Bold"/>
                <a:cs typeface="Open Sauce Semi-Bold"/>
                <a:sym typeface="Open Sauce Semi-Bold"/>
              </a:rPr>
              <a:t>Department of Justice. (n.d.). Bureau of Corrections. https://www.doj.gov.ph/agencies.html </a:t>
            </a:r>
            <a:r>
              <a:rPr lang="en-US" sz="2199" b="1" u="sng" spc="-103">
                <a:solidFill>
                  <a:srgbClr val="424242"/>
                </a:solidFill>
                <a:latin typeface="Open Sauce Semi-Bold"/>
                <a:ea typeface="Open Sauce Semi-Bold"/>
                <a:cs typeface="Open Sauce Semi-Bold"/>
                <a:sym typeface="Open Sauce Semi-Bold"/>
                <a:hlinkClick r:id="rId3" tooltip="https://www.doj.gov.ph/agencies.html"/>
              </a:rPr>
              <a:t>[doj.gov.ph]</a:t>
            </a:r>
          </a:p>
          <a:p>
            <a:pPr algn="ctr">
              <a:lnSpc>
                <a:spcPts val="3079"/>
              </a:lnSpc>
            </a:pPr>
            <a:endParaRPr lang="en-US" sz="2199" b="1" u="sng" spc="-103">
              <a:solidFill>
                <a:srgbClr val="424242"/>
              </a:solidFill>
              <a:latin typeface="Open Sauce Semi-Bold"/>
              <a:ea typeface="Open Sauce Semi-Bold"/>
              <a:cs typeface="Open Sauce Semi-Bold"/>
              <a:sym typeface="Open Sauce Semi-Bold"/>
              <a:hlinkClick r:id="rId3" tooltip="https://www.doj.gov.ph/agencies.html"/>
            </a:endParaRPr>
          </a:p>
        </p:txBody>
      </p:sp>
      <p:grpSp>
        <p:nvGrpSpPr>
          <p:cNvPr id="16" name="Group 16"/>
          <p:cNvGrpSpPr/>
          <p:nvPr/>
        </p:nvGrpSpPr>
        <p:grpSpPr>
          <a:xfrm>
            <a:off x="890261" y="7199304"/>
            <a:ext cx="13627833" cy="1212654"/>
            <a:chOff x="0" y="0"/>
            <a:chExt cx="3589223" cy="319382"/>
          </a:xfrm>
        </p:grpSpPr>
        <p:sp>
          <p:nvSpPr>
            <p:cNvPr id="17" name="Freeform 17"/>
            <p:cNvSpPr/>
            <p:nvPr/>
          </p:nvSpPr>
          <p:spPr>
            <a:xfrm>
              <a:off x="0" y="0"/>
              <a:ext cx="3589224" cy="319382"/>
            </a:xfrm>
            <a:custGeom>
              <a:avLst/>
              <a:gdLst/>
              <a:ahLst/>
              <a:cxnLst/>
              <a:rect l="l" t="t" r="r" b="b"/>
              <a:pathLst>
                <a:path w="3589224" h="319382">
                  <a:moveTo>
                    <a:pt x="37494" y="0"/>
                  </a:moveTo>
                  <a:lnTo>
                    <a:pt x="3551729" y="0"/>
                  </a:lnTo>
                  <a:cubicBezTo>
                    <a:pt x="3572437" y="0"/>
                    <a:pt x="3589224" y="16787"/>
                    <a:pt x="3589224" y="37494"/>
                  </a:cubicBezTo>
                  <a:lnTo>
                    <a:pt x="3589224" y="281888"/>
                  </a:lnTo>
                  <a:cubicBezTo>
                    <a:pt x="3589224" y="291832"/>
                    <a:pt x="3585273" y="301369"/>
                    <a:pt x="3578242" y="308400"/>
                  </a:cubicBezTo>
                  <a:cubicBezTo>
                    <a:pt x="3571210" y="315432"/>
                    <a:pt x="3561673" y="319382"/>
                    <a:pt x="3551729" y="319382"/>
                  </a:cubicBezTo>
                  <a:lnTo>
                    <a:pt x="37494" y="319382"/>
                  </a:lnTo>
                  <a:cubicBezTo>
                    <a:pt x="16787" y="319382"/>
                    <a:pt x="0" y="302595"/>
                    <a:pt x="0" y="281888"/>
                  </a:cubicBezTo>
                  <a:lnTo>
                    <a:pt x="0" y="37494"/>
                  </a:lnTo>
                  <a:cubicBezTo>
                    <a:pt x="0" y="16787"/>
                    <a:pt x="16787" y="0"/>
                    <a:pt x="37494" y="0"/>
                  </a:cubicBezTo>
                  <a:close/>
                </a:path>
              </a:pathLst>
            </a:custGeom>
            <a:solidFill>
              <a:srgbClr val="D0D7DD"/>
            </a:solidFill>
            <a:ln w="19050" cap="rnd">
              <a:solidFill>
                <a:srgbClr val="424242"/>
              </a:solidFill>
              <a:prstDash val="solid"/>
              <a:round/>
            </a:ln>
          </p:spPr>
          <p:txBody>
            <a:bodyPr/>
            <a:lstStyle/>
            <a:p>
              <a:endParaRPr lang="en-US"/>
            </a:p>
          </p:txBody>
        </p:sp>
        <p:sp>
          <p:nvSpPr>
            <p:cNvPr id="18" name="TextBox 18"/>
            <p:cNvSpPr txBox="1"/>
            <p:nvPr/>
          </p:nvSpPr>
          <p:spPr>
            <a:xfrm>
              <a:off x="0" y="-28575"/>
              <a:ext cx="3589223" cy="347957"/>
            </a:xfrm>
            <a:prstGeom prst="rect">
              <a:avLst/>
            </a:prstGeom>
          </p:spPr>
          <p:txBody>
            <a:bodyPr lIns="50800" tIns="50800" rIns="50800" bIns="50800" rtlCol="0" anchor="ctr"/>
            <a:lstStyle/>
            <a:p>
              <a:pPr algn="ctr">
                <a:lnSpc>
                  <a:spcPts val="2015"/>
                </a:lnSpc>
              </a:pPr>
              <a:endParaRPr/>
            </a:p>
          </p:txBody>
        </p:sp>
      </p:grpSp>
      <p:sp>
        <p:nvSpPr>
          <p:cNvPr id="19" name="TextBox 19"/>
          <p:cNvSpPr txBox="1"/>
          <p:nvPr/>
        </p:nvSpPr>
        <p:spPr>
          <a:xfrm>
            <a:off x="1402741" y="7459980"/>
            <a:ext cx="11857579" cy="763270"/>
          </a:xfrm>
          <a:prstGeom prst="rect">
            <a:avLst/>
          </a:prstGeom>
        </p:spPr>
        <p:txBody>
          <a:bodyPr lIns="0" tIns="0" rIns="0" bIns="0" rtlCol="0" anchor="t">
            <a:spAutoFit/>
          </a:bodyPr>
          <a:lstStyle/>
          <a:p>
            <a:pPr algn="ctr">
              <a:lnSpc>
                <a:spcPts val="3079"/>
              </a:lnSpc>
            </a:pPr>
            <a:r>
              <a:rPr lang="en-US" sz="2199" b="1" spc="-103">
                <a:solidFill>
                  <a:srgbClr val="424242"/>
                </a:solidFill>
                <a:latin typeface="Open Sauce Semi-Bold"/>
                <a:ea typeface="Open Sauce Semi-Bold"/>
                <a:cs typeface="Open Sauce Semi-Bold"/>
                <a:sym typeface="Open Sauce Semi-Bold"/>
              </a:rPr>
              <a:t>Republic Act No. 10575. (2013). Bureau of Corrections Act of 2013.</a:t>
            </a:r>
          </a:p>
          <a:p>
            <a:pPr algn="ctr">
              <a:lnSpc>
                <a:spcPts val="3079"/>
              </a:lnSpc>
            </a:pPr>
            <a:r>
              <a:rPr lang="en-US" sz="2199" b="1" spc="-103">
                <a:solidFill>
                  <a:srgbClr val="424242"/>
                </a:solidFill>
                <a:latin typeface="Open Sauce Semi-Bold"/>
                <a:ea typeface="Open Sauce Semi-Bold"/>
                <a:cs typeface="Open Sauce Semi-Bold"/>
                <a:sym typeface="Open Sauce Semi-Bold"/>
              </a:rPr>
              <a:t>https://lawphil.net/statutes/repacts/ra2013/ra_10575_2013.html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1" cy="1"/>
          <a:chOff x="0" y="0"/>
          <a:chExt cx="1" cy="1"/>
        </a:xfrm>
      </p:grpSpPr>
      <p:sp>
        <p:nvSpPr>
          <p:cNvPr id="2" name="Freeform 2"/>
          <p:cNvSpPr/>
          <p:nvPr/>
        </p:nvSpPr>
        <p:spPr>
          <a:xfrm rot="19622799">
            <a:off x="7046236" y="426637"/>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42000"/>
            </a:blip>
            <a:stretch>
              <a:fillRect/>
            </a:stretch>
          </a:blipFill>
        </p:spPr>
        <p:txBody>
          <a:bodyPr/>
          <a:lstStyle/>
          <a:p>
            <a:endParaRPr lang="en-US"/>
          </a:p>
        </p:txBody>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txBody>
          <a:bodyPr/>
          <a:lstStyle/>
          <a:p>
            <a:endParaRPr lang="en-US"/>
          </a:p>
        </p:txBody>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028700" y="3692569"/>
            <a:ext cx="9672886" cy="6055133"/>
          </a:xfrm>
          <a:prstGeom prst="rect">
            <a:avLst/>
          </a:prstGeom>
        </p:spPr>
        <p:txBody>
          <a:bodyPr lIns="0" tIns="0" rIns="0" bIns="0" rtlCol="0" anchor="t">
            <a:spAutoFit/>
          </a:bodyPr>
          <a:lstStyle/>
          <a:p>
            <a:pPr algn="l">
              <a:lnSpc>
                <a:spcPts val="23095"/>
              </a:lnSpc>
            </a:pPr>
            <a:r>
              <a:rPr lang="en-US" sz="24569" b="1" spc="-1154">
                <a:solidFill>
                  <a:srgbClr val="424242"/>
                </a:solidFill>
                <a:latin typeface="Open Sauce Heavy"/>
                <a:ea typeface="Open Sauce Heavy"/>
                <a:cs typeface="Open Sauce Heavy"/>
                <a:sym typeface="Open Sauce Heavy"/>
              </a:rPr>
              <a:t>Thank You</a:t>
            </a:r>
          </a:p>
        </p:txBody>
      </p:sp>
      <p:sp>
        <p:nvSpPr>
          <p:cNvPr id="6" name="AutoShape 6"/>
          <p:cNvSpPr/>
          <p:nvPr/>
        </p:nvSpPr>
        <p:spPr>
          <a:xfrm>
            <a:off x="1045163" y="1480091"/>
            <a:ext cx="16214137" cy="1"/>
          </a:xfrm>
          <a:prstGeom prst="line">
            <a:avLst/>
          </a:prstGeom>
          <a:ln w="19050" cap="flat">
            <a:solidFill>
              <a:srgbClr val="424242"/>
            </a:solidFill>
            <a:prstDash val="solid"/>
            <a:headEnd type="none" w="sm" len="sm"/>
            <a:tailEnd type="none" w="sm" len="sm"/>
          </a:ln>
        </p:spPr>
        <p:txBody>
          <a:bodyPr/>
          <a:lstStyle/>
          <a:p>
            <a:endParaRPr lang="en-US"/>
          </a:p>
        </p:txBody>
      </p:sp>
      <p:sp>
        <p:nvSpPr>
          <p:cNvPr id="7" name="Freeform 7"/>
          <p:cNvSpPr/>
          <p:nvPr/>
        </p:nvSpPr>
        <p:spPr>
          <a:xfrm>
            <a:off x="12873562" y="5967836"/>
            <a:ext cx="355174" cy="355174"/>
          </a:xfrm>
          <a:custGeom>
            <a:avLst/>
            <a:gdLst/>
            <a:ahLst/>
            <a:cxnLst/>
            <a:rect l="l" t="t" r="r" b="b"/>
            <a:pathLst>
              <a:path w="355174" h="355174">
                <a:moveTo>
                  <a:pt x="0" y="0"/>
                </a:moveTo>
                <a:lnTo>
                  <a:pt x="355174" y="0"/>
                </a:lnTo>
                <a:lnTo>
                  <a:pt x="355174" y="355174"/>
                </a:lnTo>
                <a:lnTo>
                  <a:pt x="0" y="3551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2870692" y="6848200"/>
            <a:ext cx="358045" cy="358045"/>
          </a:xfrm>
          <a:custGeom>
            <a:avLst/>
            <a:gdLst/>
            <a:ahLst/>
            <a:cxnLst/>
            <a:rect l="l" t="t" r="r" b="b"/>
            <a:pathLst>
              <a:path w="358045" h="358045">
                <a:moveTo>
                  <a:pt x="0" y="0"/>
                </a:moveTo>
                <a:lnTo>
                  <a:pt x="358044" y="0"/>
                </a:lnTo>
                <a:lnTo>
                  <a:pt x="358044" y="358045"/>
                </a:lnTo>
                <a:lnTo>
                  <a:pt x="0" y="358045"/>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9" name="Freeform 9"/>
          <p:cNvSpPr/>
          <p:nvPr/>
        </p:nvSpPr>
        <p:spPr>
          <a:xfrm>
            <a:off x="12870141" y="7730120"/>
            <a:ext cx="359146" cy="359146"/>
          </a:xfrm>
          <a:custGeom>
            <a:avLst/>
            <a:gdLst/>
            <a:ahLst/>
            <a:cxnLst/>
            <a:rect l="l" t="t" r="r" b="b"/>
            <a:pathLst>
              <a:path w="359146" h="359146">
                <a:moveTo>
                  <a:pt x="0" y="0"/>
                </a:moveTo>
                <a:lnTo>
                  <a:pt x="359146" y="0"/>
                </a:lnTo>
                <a:lnTo>
                  <a:pt x="359146" y="359146"/>
                </a:lnTo>
                <a:lnTo>
                  <a:pt x="0" y="359146"/>
                </a:lnTo>
                <a:lnTo>
                  <a:pt x="0" y="0"/>
                </a:lnTo>
                <a:close/>
              </a:path>
            </a:pathLst>
          </a:custGeom>
          <a:blipFill>
            <a:blip>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0" name="Freeform 10"/>
          <p:cNvSpPr/>
          <p:nvPr/>
        </p:nvSpPr>
        <p:spPr>
          <a:xfrm>
            <a:off x="12873011" y="8582534"/>
            <a:ext cx="356276" cy="356276"/>
          </a:xfrm>
          <a:custGeom>
            <a:avLst/>
            <a:gdLst/>
            <a:ahLst/>
            <a:cxnLst/>
            <a:rect l="l" t="t" r="r" b="b"/>
            <a:pathLst>
              <a:path w="356276" h="356276">
                <a:moveTo>
                  <a:pt x="0" y="0"/>
                </a:moveTo>
                <a:lnTo>
                  <a:pt x="356276" y="0"/>
                </a:lnTo>
                <a:lnTo>
                  <a:pt x="356276" y="356275"/>
                </a:lnTo>
                <a:lnTo>
                  <a:pt x="0" y="356275"/>
                </a:lnTo>
                <a:lnTo>
                  <a:pt x="0" y="0"/>
                </a:lnTo>
                <a:close/>
              </a:path>
            </a:pathLst>
          </a:custGeom>
          <a:blipFill>
            <a:blip>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11" name="TextBox 11"/>
          <p:cNvSpPr txBox="1"/>
          <p:nvPr/>
        </p:nvSpPr>
        <p:spPr>
          <a:xfrm>
            <a:off x="1045163" y="701385"/>
            <a:ext cx="3985713" cy="587954"/>
          </a:xfrm>
          <a:prstGeom prst="rect">
            <a:avLst/>
          </a:prstGeom>
        </p:spPr>
        <p:txBody>
          <a:bodyPr lIns="0" tIns="0" rIns="0" bIns="0" rtlCol="0" anchor="t">
            <a:spAutoFit/>
          </a:bodyPr>
          <a:lstStyle/>
          <a:p>
            <a:pPr algn="l">
              <a:lnSpc>
                <a:spcPts val="4868"/>
              </a:lnSpc>
            </a:pPr>
            <a:r>
              <a:rPr lang="en-US" sz="3477" b="1" spc="-163">
                <a:solidFill>
                  <a:srgbClr val="424242"/>
                </a:solidFill>
                <a:latin typeface="Open Sauce Heavy"/>
                <a:ea typeface="Open Sauce Heavy"/>
                <a:cs typeface="Open Sauce Heavy"/>
                <a:sym typeface="Open Sauce Heavy"/>
              </a:rPr>
              <a:t>Modern Penology</a:t>
            </a:r>
          </a:p>
        </p:txBody>
      </p:sp>
      <p:sp>
        <p:nvSpPr>
          <p:cNvPr id="12" name="TextBox 12"/>
          <p:cNvSpPr txBox="1"/>
          <p:nvPr/>
        </p:nvSpPr>
        <p:spPr>
          <a:xfrm>
            <a:off x="7201262" y="7848014"/>
            <a:ext cx="3500324" cy="1239369"/>
          </a:xfrm>
          <a:prstGeom prst="rect">
            <a:avLst/>
          </a:prstGeom>
        </p:spPr>
        <p:txBody>
          <a:bodyPr lIns="0" tIns="0" rIns="0" bIns="0" rtlCol="0" anchor="t">
            <a:spAutoFit/>
          </a:bodyPr>
          <a:lstStyle/>
          <a:p>
            <a:pPr algn="l">
              <a:lnSpc>
                <a:spcPts val="4941"/>
              </a:lnSpc>
            </a:pPr>
            <a:r>
              <a:rPr lang="en-US" sz="3921" spc="-219">
                <a:solidFill>
                  <a:srgbClr val="424242"/>
                </a:solidFill>
                <a:latin typeface="Open Sauce Light"/>
                <a:ea typeface="Open Sauce Light"/>
                <a:cs typeface="Open Sauce Light"/>
                <a:sym typeface="Open Sauce Light"/>
              </a:rPr>
              <a:t>for your time and attention</a:t>
            </a:r>
          </a:p>
        </p:txBody>
      </p:sp>
      <p:sp>
        <p:nvSpPr>
          <p:cNvPr id="13" name="TextBox 13"/>
          <p:cNvSpPr txBox="1"/>
          <p:nvPr/>
        </p:nvSpPr>
        <p:spPr>
          <a:xfrm>
            <a:off x="13444633" y="5973020"/>
            <a:ext cx="4023696" cy="306705"/>
          </a:xfrm>
          <a:prstGeom prst="rect">
            <a:avLst/>
          </a:prstGeom>
        </p:spPr>
        <p:txBody>
          <a:bodyPr lIns="0" tIns="0" rIns="0" bIns="0" rtlCol="0" anchor="t">
            <a:spAutoFit/>
          </a:bodyPr>
          <a:lstStyle/>
          <a:p>
            <a:pPr algn="just">
              <a:lnSpc>
                <a:spcPts val="2520"/>
              </a:lnSpc>
            </a:pPr>
            <a:r>
              <a:rPr lang="en-US" sz="1800" spc="-72">
                <a:solidFill>
                  <a:srgbClr val="393939"/>
                </a:solidFill>
                <a:latin typeface="Open Sauce"/>
                <a:ea typeface="Open Sauce"/>
                <a:cs typeface="Open Sauce"/>
                <a:sym typeface="Open Sauce"/>
              </a:rPr>
              <a:t>945-283-4808</a:t>
            </a:r>
          </a:p>
        </p:txBody>
      </p:sp>
      <p:sp>
        <p:nvSpPr>
          <p:cNvPr id="14" name="TextBox 14"/>
          <p:cNvSpPr txBox="1"/>
          <p:nvPr/>
        </p:nvSpPr>
        <p:spPr>
          <a:xfrm>
            <a:off x="13444633" y="6854641"/>
            <a:ext cx="4023696" cy="306705"/>
          </a:xfrm>
          <a:prstGeom prst="rect">
            <a:avLst/>
          </a:prstGeom>
        </p:spPr>
        <p:txBody>
          <a:bodyPr lIns="0" tIns="0" rIns="0" bIns="0" rtlCol="0" anchor="t">
            <a:spAutoFit/>
          </a:bodyPr>
          <a:lstStyle/>
          <a:p>
            <a:pPr algn="just">
              <a:lnSpc>
                <a:spcPts val="2520"/>
              </a:lnSpc>
            </a:pPr>
            <a:r>
              <a:rPr lang="en-US" sz="1800" spc="-72">
                <a:solidFill>
                  <a:srgbClr val="393939"/>
                </a:solidFill>
                <a:latin typeface="Open Sauce"/>
                <a:ea typeface="Open Sauce"/>
                <a:cs typeface="Open Sauce"/>
                <a:sym typeface="Open Sauce"/>
              </a:rPr>
              <a:t>EL LEe Sacurom</a:t>
            </a:r>
          </a:p>
        </p:txBody>
      </p:sp>
      <p:sp>
        <p:nvSpPr>
          <p:cNvPr id="15" name="TextBox 15"/>
          <p:cNvSpPr txBox="1"/>
          <p:nvPr/>
        </p:nvSpPr>
        <p:spPr>
          <a:xfrm>
            <a:off x="13444633" y="7737291"/>
            <a:ext cx="4023696" cy="306705"/>
          </a:xfrm>
          <a:prstGeom prst="rect">
            <a:avLst/>
          </a:prstGeom>
        </p:spPr>
        <p:txBody>
          <a:bodyPr lIns="0" tIns="0" rIns="0" bIns="0" rtlCol="0" anchor="t">
            <a:spAutoFit/>
          </a:bodyPr>
          <a:lstStyle/>
          <a:p>
            <a:pPr algn="just">
              <a:lnSpc>
                <a:spcPts val="2520"/>
              </a:lnSpc>
            </a:pPr>
            <a:r>
              <a:rPr lang="en-US" sz="1800" spc="-72">
                <a:solidFill>
                  <a:srgbClr val="393939"/>
                </a:solidFill>
                <a:latin typeface="Open Sauce"/>
                <a:ea typeface="Open Sauce"/>
                <a:cs typeface="Open Sauce"/>
                <a:sym typeface="Open Sauce"/>
              </a:rPr>
              <a:t>leesacurom03@gmail.com</a:t>
            </a:r>
          </a:p>
        </p:txBody>
      </p:sp>
      <p:sp>
        <p:nvSpPr>
          <p:cNvPr id="16" name="TextBox 16"/>
          <p:cNvSpPr txBox="1"/>
          <p:nvPr/>
        </p:nvSpPr>
        <p:spPr>
          <a:xfrm>
            <a:off x="13444633" y="8615043"/>
            <a:ext cx="4023696" cy="306705"/>
          </a:xfrm>
          <a:prstGeom prst="rect">
            <a:avLst/>
          </a:prstGeom>
        </p:spPr>
        <p:txBody>
          <a:bodyPr lIns="0" tIns="0" rIns="0" bIns="0" rtlCol="0" anchor="t">
            <a:spAutoFit/>
          </a:bodyPr>
          <a:lstStyle/>
          <a:p>
            <a:pPr algn="just">
              <a:lnSpc>
                <a:spcPts val="2520"/>
              </a:lnSpc>
            </a:pPr>
            <a:r>
              <a:rPr lang="en-US" sz="1800" spc="-72">
                <a:solidFill>
                  <a:srgbClr val="393939"/>
                </a:solidFill>
                <a:latin typeface="Open Sauce"/>
                <a:ea typeface="Open Sauce"/>
                <a:cs typeface="Open Sauce"/>
                <a:sym typeface="Open Sauce"/>
              </a:rPr>
              <a:t>Banilad, Cebu City</a:t>
            </a:r>
          </a:p>
        </p:txBody>
      </p:sp>
      <p:sp>
        <p:nvSpPr>
          <p:cNvPr id="17" name="AutoShape 17"/>
          <p:cNvSpPr/>
          <p:nvPr/>
        </p:nvSpPr>
        <p:spPr>
          <a:xfrm>
            <a:off x="6038991" y="6653389"/>
            <a:ext cx="6492240" cy="1"/>
          </a:xfrm>
          <a:prstGeom prst="line">
            <a:avLst/>
          </a:prstGeom>
          <a:ln w="38100" cap="flat">
            <a:solidFill>
              <a:srgbClr val="424242"/>
            </a:solidFill>
            <a:prstDash val="solid"/>
            <a:headEnd type="none" w="sm" len="sm"/>
            <a:tailEnd type="none" w="sm" len="sm"/>
          </a:ln>
        </p:spPr>
        <p:txBody>
          <a:bodyPr/>
          <a:lstStyle/>
          <a:p>
            <a:endParaRPr lang="en-US"/>
          </a:p>
        </p:txBody>
      </p:sp>
      <p:sp>
        <p:nvSpPr>
          <p:cNvPr id="18" name="AutoShape 18"/>
          <p:cNvSpPr/>
          <p:nvPr/>
        </p:nvSpPr>
        <p:spPr>
          <a:xfrm>
            <a:off x="546947" y="6650567"/>
            <a:ext cx="6492240" cy="1"/>
          </a:xfrm>
          <a:prstGeom prst="line">
            <a:avLst/>
          </a:prstGeom>
          <a:ln w="38100" cap="flat">
            <a:solidFill>
              <a:srgbClr val="424242"/>
            </a:solidFill>
            <a:prstDash val="solid"/>
            <a:headEnd type="none" w="sm" len="sm"/>
            <a:tailEnd type="none" w="sm" len="sm"/>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1108</Words>
  <Application>Microsoft Office PowerPoint</Application>
  <PresentationFormat>Custom</PresentationFormat>
  <Paragraphs>213</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of Cebu Lapu-lapu and Mandaue Graduate School</dc:title>
  <dc:creator>Comendador, Leou</dc:creator>
  <cp:lastModifiedBy>Comendador, Leou</cp:lastModifiedBy>
  <cp:revision>10</cp:revision>
  <dcterms:created xsi:type="dcterms:W3CDTF">2026-09-26T04:18:33Z</dcterms:created>
  <dcterms:modified xsi:type="dcterms:W3CDTF">2026-09-26T04:28:18Z</dcterms:modified>
  <dc:identifier>DAHWJj9Ibbg</dc:identifier>
</cp:coreProperties>
</file>